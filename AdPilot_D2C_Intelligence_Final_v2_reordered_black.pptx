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7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949A"/>
    <a:srgbClr val="99B36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5" d="100"/>
          <a:sy n="75" d="100"/>
        </p:scale>
        <p:origin x="946" y="1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8226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deck documents the system as an engineering case study rather than a business pitch. AdPilot combines a Python FastAPI service, pandas-based data processing, an Exasol/CSV source boundary, deterministic KPI calculations, rule-based recommendations, SQLite decision state, a Next.js interface, and optional Gemini summaries. The repository link is included for source inspection. The architecture and implementation statements should be interpreted alongside the explicit limitations and deployment assumptions later in the deck.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AdPilot targets a common analytics gap: campaign data is easy to export but difficult to interpret consistently across segments. The implementation therefore treats data loading, validation, metric definitions, recommendation rules and decision state as separate concerns. The deck does not claim that attribution is solved; attributed revenue is treated as an input field with its own limitations. The goal is a transparent local analytics and decision-support system without requiring a full enterprise data platform.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browser talks to a Next.js frontend. The frontend requests dashboard data and sends user actions to a FastAPI backend. The backend is the central coordination layer: it obtains data from Exasol or CSV, normalizes records with pandas, computes metrics and recommendations, persists review/scenario state in SQLite, and optionally calls Gemini for summaries. The diagram is a logical architecture, not a claim that every component runs as a separate process. In the current project, the Python service and frontend are application components, while Exasol and SQLite have distinct persistence roles.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source boundary is expressed through load_frame(), with fetch_exasol_frame() handling the live Exasol path and validate_csv() checking the local CSV. The table name is configured as DQPS.RAW_D2C_DATA. ADPILOT_DEMO_MODE is used to choose demo behavior; live mode prioritizes Exasol and can fall back to CSV when that source is unavailable, according to the implementation context supplied for this project. ADPILOT_DATA_CACHE_TTL_SECONDS controls how long loaded data can be reused in memory. The cache reduces repeated source reads, but also means the visible data can lag the source until expiry or refresh. Exact exception behavior should be verified against the repository before deployment.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Validation is placed upstream of KPI computation. The project context names CSV_COLUMNS and NUMERIC_COLUMNS as schema controls, alongside CSV parsing, numeric coercion, identifier/date checks, duplicate detection and quality warnings. These checks help avoid obvious sources of bad aggregation. A technical evaluator should distinguish validation from complete data governance: schema validation cannot establish that a business-reported revenue value is correctly attributed, that a row is economically meaningful, or that two systems share identical semantics. Duplicate criteria should be documented and tested against the real dataset.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metric layer defines CTR, CPC, CPM, CVR, CPA and ROAS using sums across the selected records. This avoids the statistical error of taking an unweighted mean of row-level rates when groups have different sizes. The backend helpers aggregate() and ratio() centralize this behavior and guard against zero denominators. Values are deterministic for a fixed input frame and implementation. The formulas do not resolve attribution quality, data latency, or the business definition of conversion. Where clicks are estimated, the label must preserve that qualification. Currency is not inferred if the dataset does not include a currency field.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rule engine groups data by campaign_id, ad_platform, channel and sku_id. It filters out groups with fewer than five records, then creates candidates for groups whose return-adjusted net profit is negative. Candidate records include dataset identity and rule metadata, plus an evidence payload intended to explain why the rule fired. This makes the recommendation explainable and repeatable for a fixed dataset. The engine is not a causal model and does not establish that pausing or reducing spend will improve future results. It is a review queue that makes a potential issue easier to inspect.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decision center uses SQLite for local persistence of review and scenario data. The project context identifies decisions, decision_events, rollback_audit and budget_scenarios as storage surfaces. Review actions include approve, reject, simulate and rollback, with states such as proposed, approved, rejected, simulated and rolled_back. The important architectural boundary is that these are records inside AdPilot; they are not API calls to an advertising platform. A production deployment should verify transaction boundaries, idempotency, event ordering and concurrency behavior against the implementation.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summary path is user-triggered. The backend can batch records, send aggregate context to the Google Generative AI OpenAI-compatible endpoint through summarize_with_gemini(), and combine the resulting text. When GEMINI_API_KEY is not configured, the system can produce a deterministic descriptive summary. This design keeps the model away from primary KPI computation and decision-state transitions. The credential belongs in backend environment configuration, never in client-side code. Summaries should not be interpreted as causal inference, predictions, or proof that a particular change will improve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frontend is a Next.js application under frontend/app. The overview page provides KPI cards, trends and navigation. The campaign browsing surface supports filters, search and pagination; budget optimization uses a dedicated interface; settings manage frontend configuration. The listed API paths are the capability map supplied for this project and should be checked against route decorators before using them as external API documentation. The main design principle is that the frontend renders and collects user intent, while the backend remains responsible for calculations and persistence. The wireframe is illustrative rather than a screenshot of the running app.</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includes backend and frontend .env.example files. Relevant settings include EXASOL_DSN, EXASOL_USER, EXASOL_PASSWORD, GEMINI_API_KEY, ADPILOT_DEMO_MODE, ADPILOT_CORS_ORIGINS and HELPER_TOKEN. Provider credentials belong on the backend. CORS is a browser-origin policy, not authentication. A helper token can protect the helper workflow only if every relevant route validates it correctly and tokens are managed securely. The repository context describes a public one-click database-start flow, so its exact exposure and access controls deserve explicit review before any internet-facing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includes helper automation to start Exasol from a local machine and synchronize the resulting DSN into a hosted Render environment through ngrok. The local helper is identified as tools/db_helper/helper.py, with supporting scripts under tools/ngrok_render_sync. The UI/backend path requests the operation, tracks job state, and polls for progress or a report. This is technically interesting because a hosted app coordinates an external, long-running dependency. It is also operationally sensitive: the tunnel URL can change, credentials must not leak into logs, helper endpoints require authorization, and the system needs timeouts, retries, and failure reporting. The diagram is a logical flow, not a guarantee of production-grade orchestration.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system uses a configurable in-memory data cache controlled by ADPILOT_DATA_CACHE_TTL_SECONDS, with a default described in project context as 300 seconds. This is a pragmatic local-first choice: it reduces repeated database reads and keeps the implementation simple. The tradeoff is freshness and process-local state; a multi-instance deployment would have separate caches unless a shared cache is introduced. Future performance work should include query pushdown into Exasol where appropriate, selective columns, pagination, explicit invalidation, latency instrumentation, load tests and concurrency tests. Do not claim benchmarked performance without measured results.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proposes an evaluation matrix, not a claim that every test has already been run. Metric tests should use hand-calculated totals and include zero denominators. Validation tests should exercise malformed and incomplete input. Source tests should verify demo mode and live-source failure behavior. Recommendation tests should check threshold boundaries, rule metadata and evidence snapshots. Decision tests should verify persistence and event ordering. AI tests should cover missing credentials, provider errors and batching. A final submission is stronger when paired with actual test output or screenshots from the repository rather than generic claims of reliability.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system's current design is optimized for a hackathon-scale, local-first environment: a Python service, in-memory dataset cache, SQLite decision state, optional Gemini summaries, and an Exasol integration with CSV fallback. Those are sensible scope choices, but they create boundaries around multi-user concurrency, tenant isolation, authentication, data freshness and operations. The roadmap intentionally prioritizes reliability and governance before advanced AI. Forecasting, anomaly detection and multivariate optimization should be introduced only with validated labels, evaluation datasets and clearly stated uncertainty.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8"/>
        </a:solidFill>
        <a:effectLst/>
      </p:bgPr>
    </p:bg>
    <p:spTree>
      <p:nvGrpSpPr>
        <p:cNvPr id="1" name=""/>
        <p:cNvGrpSpPr/>
        <p:nvPr/>
      </p:nvGrpSpPr>
      <p:grpSpPr>
        <a:xfrm>
          <a:off x="0" y="0"/>
          <a:ext cx="0" cy="0"/>
          <a:chOff x="0" y="0"/>
          <a:chExt cx="0" cy="0"/>
        </a:xfrm>
      </p:grpSpPr>
      <p:cxnSp>
        <p:nvCxnSpPr>
          <p:cNvPr id="2" name="Connector 1"/>
          <p:cNvCxnSpPr/>
          <p:nvPr/>
        </p:nvCxnSpPr>
        <p:spPr>
          <a:xfrm>
            <a:off x="0" y="0"/>
            <a:ext cx="0" cy="685800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685800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685800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685800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685800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685800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685800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685800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685800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685800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685800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685800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685800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685800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0" y="0"/>
            <a:ext cx="12191695" cy="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0" y="914400"/>
            <a:ext cx="12191695" cy="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0" y="1828800"/>
            <a:ext cx="12191695" cy="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2743200"/>
            <a:ext cx="12191695" cy="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3657600"/>
            <a:ext cx="12191695" cy="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4572000"/>
            <a:ext cx="12191695" cy="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5486400"/>
            <a:ext cx="12191695" cy="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6400800"/>
            <a:ext cx="12191695" cy="0"/>
          </a:xfrm>
          <a:prstGeom prst="line">
            <a:avLst/>
          </a:prstGeom>
          <a:ln w="5715">
            <a:solidFill>
              <a:srgbClr val="111A26"/>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58368" y="585216"/>
            <a:ext cx="1691640" cy="310896"/>
          </a:xfrm>
          <a:prstGeom prst="roundRect">
            <a:avLst>
              <a:gd name="adj" fmla="val 12000"/>
            </a:avLst>
          </a:prstGeom>
          <a:solidFill>
            <a:srgbClr val="172331"/>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8952" y="640080"/>
            <a:ext cx="1481328" cy="164592"/>
          </a:xfrm>
          <a:prstGeom prst="rect">
            <a:avLst/>
          </a:prstGeom>
          <a:noFill/>
        </p:spPr>
        <p:txBody>
          <a:bodyPr wrap="square" lIns="36576" tIns="36576" rIns="36576" bIns="36576" anchor="t">
            <a:spAutoFit/>
          </a:bodyPr>
          <a:lstStyle/>
          <a:p>
            <a:pPr algn="ctr">
              <a:spcBef>
                <a:spcPts val="0"/>
              </a:spcBef>
              <a:spcAft>
                <a:spcPts val="0"/>
              </a:spcAft>
            </a:pPr>
            <a:r>
              <a:rPr sz="800" b="1" i="0">
                <a:solidFill>
                  <a:srgbClr val="BEF264"/>
                </a:solidFill>
                <a:latin typeface="Cascadia Code"/>
              </a:rPr>
              <a:t>ENGINEERING CASE STUDY</a:t>
            </a:r>
          </a:p>
        </p:txBody>
      </p:sp>
      <p:sp>
        <p:nvSpPr>
          <p:cNvPr id="26" name="TextBox 25"/>
          <p:cNvSpPr txBox="1"/>
          <p:nvPr/>
        </p:nvSpPr>
        <p:spPr>
          <a:xfrm>
            <a:off x="713232" y="1298448"/>
            <a:ext cx="6675120" cy="1097280"/>
          </a:xfrm>
          <a:prstGeom prst="rect">
            <a:avLst/>
          </a:prstGeom>
          <a:noFill/>
        </p:spPr>
        <p:txBody>
          <a:bodyPr wrap="square" lIns="36576" tIns="36576" rIns="36576" bIns="36576" anchor="t">
            <a:spAutoFit/>
          </a:bodyPr>
          <a:lstStyle/>
          <a:p>
            <a:pPr algn="l">
              <a:spcBef>
                <a:spcPts val="0"/>
              </a:spcBef>
              <a:spcAft>
                <a:spcPts val="0"/>
              </a:spcAft>
            </a:pPr>
            <a:r>
              <a:rPr sz="3400" b="1" i="0">
                <a:solidFill>
                  <a:srgbClr val="EEF4F7"/>
                </a:solidFill>
                <a:latin typeface="Aptos"/>
              </a:rPr>
              <a:t>AdPilot D2C
Intelligence</a:t>
            </a:r>
          </a:p>
        </p:txBody>
      </p:sp>
      <p:sp>
        <p:nvSpPr>
          <p:cNvPr id="27" name="TextBox 26"/>
          <p:cNvSpPr txBox="1"/>
          <p:nvPr/>
        </p:nvSpPr>
        <p:spPr>
          <a:xfrm>
            <a:off x="749808" y="2788920"/>
            <a:ext cx="6400800" cy="566928"/>
          </a:xfrm>
          <a:prstGeom prst="rect">
            <a:avLst/>
          </a:prstGeom>
          <a:noFill/>
        </p:spPr>
        <p:txBody>
          <a:bodyPr wrap="square" lIns="36576" tIns="36576" rIns="36576" bIns="36576" anchor="t">
            <a:spAutoFit/>
          </a:bodyPr>
          <a:lstStyle/>
          <a:p>
            <a:pPr algn="l">
              <a:spcBef>
                <a:spcPts val="0"/>
              </a:spcBef>
              <a:spcAft>
                <a:spcPts val="0"/>
              </a:spcAft>
            </a:pPr>
            <a:r>
              <a:rPr sz="1700" b="1" i="0">
                <a:solidFill>
                  <a:srgbClr val="4BDCBE"/>
                </a:solidFill>
                <a:latin typeface="Aptos"/>
              </a:rPr>
              <a:t>Technical architecture for D2C advertising intelligence and decision support</a:t>
            </a:r>
          </a:p>
        </p:txBody>
      </p:sp>
      <p:sp>
        <p:nvSpPr>
          <p:cNvPr id="28" name="TextBox 27"/>
          <p:cNvSpPr txBox="1"/>
          <p:nvPr/>
        </p:nvSpPr>
        <p:spPr>
          <a:xfrm>
            <a:off x="768096" y="3547872"/>
            <a:ext cx="6217920" cy="786384"/>
          </a:xfrm>
          <a:prstGeom prst="rect">
            <a:avLst/>
          </a:prstGeom>
          <a:noFill/>
        </p:spPr>
        <p:txBody>
          <a:bodyPr wrap="square" lIns="36576" tIns="36576" rIns="36576" bIns="36576" anchor="t">
            <a:spAutoFit/>
          </a:bodyPr>
          <a:lstStyle/>
          <a:p>
            <a:pPr algn="l">
              <a:spcBef>
                <a:spcPts val="0"/>
              </a:spcBef>
              <a:spcAft>
                <a:spcPts val="0"/>
              </a:spcAft>
            </a:pPr>
            <a:r>
              <a:rPr sz="1600" b="0" i="0">
                <a:solidFill>
                  <a:srgbClr val="EEF4F7"/>
                </a:solidFill>
                <a:latin typeface="Aptos"/>
              </a:rPr>
              <a:t>A deterministic, AI-assisted analytics system for D2C campaign performance intelligence.</a:t>
            </a:r>
          </a:p>
        </p:txBody>
      </p:sp>
      <p:sp>
        <p:nvSpPr>
          <p:cNvPr id="29" name="TextBox 28"/>
          <p:cNvSpPr txBox="1"/>
          <p:nvPr/>
        </p:nvSpPr>
        <p:spPr>
          <a:xfrm>
            <a:off x="768096" y="4736592"/>
            <a:ext cx="6126480" cy="822960"/>
          </a:xfrm>
          <a:prstGeom prst="rect">
            <a:avLst/>
          </a:prstGeom>
          <a:noFill/>
        </p:spPr>
        <p:txBody>
          <a:bodyPr wrap="square" lIns="36576" tIns="36576" rIns="36576" bIns="36576" anchor="t">
            <a:spAutoFit/>
          </a:bodyPr>
          <a:lstStyle/>
          <a:p>
            <a:pPr algn="l">
              <a:spcBef>
                <a:spcPts val="0"/>
              </a:spcBef>
              <a:spcAft>
                <a:spcPts val="0"/>
              </a:spcAft>
            </a:pPr>
            <a:r>
              <a:rPr sz="1000" b="0" i="0">
                <a:solidFill>
                  <a:srgbClr val="A4B4C1"/>
                </a:solidFill>
                <a:latin typeface="Cascadia Code"/>
              </a:rPr>
              <a:t>Python + FastAPI  /  pandas  /  Exasol + CSV  /  SQLite  /  Next.js + React  /  Gemini summaries</a:t>
            </a:r>
          </a:p>
        </p:txBody>
      </p:sp>
      <p:sp>
        <p:nvSpPr>
          <p:cNvPr id="30" name="TextBox 29"/>
          <p:cNvSpPr txBox="1"/>
          <p:nvPr/>
        </p:nvSpPr>
        <p:spPr>
          <a:xfrm>
            <a:off x="768096" y="5623560"/>
            <a:ext cx="7772400" cy="256032"/>
          </a:xfrm>
          <a:prstGeom prst="rect">
            <a:avLst/>
          </a:prstGeom>
          <a:noFill/>
        </p:spPr>
        <p:txBody>
          <a:bodyPr wrap="square" lIns="36576" tIns="36576" rIns="36576" bIns="36576" anchor="t">
            <a:spAutoFit/>
          </a:bodyPr>
          <a:lstStyle/>
          <a:p>
            <a:pPr algn="l">
              <a:spcBef>
                <a:spcPts val="0"/>
              </a:spcBef>
              <a:spcAft>
                <a:spcPts val="0"/>
              </a:spcAft>
              <a:defRPr sz="1000"/>
            </a:pPr>
            <a:r>
              <a:rPr sz="900" b="0" i="0">
                <a:solidFill>
                  <a:srgbClr val="6AAAFF"/>
                </a:solidFill>
                <a:latin typeface="Cascadia Code"/>
              </a:rPr>
              <a:t>Repository  ·  github.com/Aadavamoorthy-Tech/D2C-Advertising-Project</a:t>
            </a:r>
          </a:p>
        </p:txBody>
      </p:sp>
      <p:sp>
        <p:nvSpPr>
          <p:cNvPr id="31" name="Rounded Rectangle 30"/>
          <p:cNvSpPr/>
          <p:nvPr/>
        </p:nvSpPr>
        <p:spPr>
          <a:xfrm>
            <a:off x="8092440" y="1280160"/>
            <a:ext cx="3154680" cy="777240"/>
          </a:xfrm>
          <a:prstGeom prst="roundRect">
            <a:avLst>
              <a:gd name="adj" fmla="val 12000"/>
            </a:avLst>
          </a:prstGeom>
          <a:solidFill>
            <a:srgbClr val="121B28"/>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092440" y="1280160"/>
            <a:ext cx="64008" cy="777240"/>
          </a:xfrm>
          <a:prstGeom prst="rect">
            <a:avLst/>
          </a:prstGeom>
          <a:solidFill>
            <a:srgbClr val="4BDCBE"/>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57031" y="1371600"/>
            <a:ext cx="2898648" cy="256032"/>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EEF4F7"/>
                </a:solidFill>
                <a:latin typeface="Aptos"/>
              </a:rPr>
              <a:t>DATA SOURCES</a:t>
            </a:r>
          </a:p>
        </p:txBody>
      </p:sp>
      <p:sp>
        <p:nvSpPr>
          <p:cNvPr id="34" name="TextBox 33"/>
          <p:cNvSpPr txBox="1"/>
          <p:nvPr/>
        </p:nvSpPr>
        <p:spPr>
          <a:xfrm>
            <a:off x="8257031" y="1664207"/>
            <a:ext cx="2898648" cy="338328"/>
          </a:xfrm>
          <a:prstGeom prst="rect">
            <a:avLst/>
          </a:prstGeom>
          <a:noFill/>
        </p:spPr>
        <p:txBody>
          <a:bodyPr wrap="square" lIns="36576" tIns="36576" rIns="36576" bIns="36576" anchor="t">
            <a:spAutoFit/>
          </a:bodyPr>
          <a:lstStyle/>
          <a:p>
            <a:pPr algn="l">
              <a:spcBef>
                <a:spcPts val="0"/>
              </a:spcBef>
              <a:spcAft>
                <a:spcPts val="0"/>
              </a:spcAft>
            </a:pPr>
            <a:r>
              <a:rPr sz="900" b="0" i="0">
                <a:solidFill>
                  <a:srgbClr val="A4B4C1"/>
                </a:solidFill>
                <a:latin typeface="Aptos"/>
              </a:rPr>
              <a:t>Exasol live source  •  bundled CSV fallback</a:t>
            </a:r>
          </a:p>
        </p:txBody>
      </p:sp>
      <p:sp>
        <p:nvSpPr>
          <p:cNvPr id="35" name="Rounded Rectangle 34"/>
          <p:cNvSpPr/>
          <p:nvPr/>
        </p:nvSpPr>
        <p:spPr>
          <a:xfrm>
            <a:off x="8092440" y="2423160"/>
            <a:ext cx="3154680" cy="777240"/>
          </a:xfrm>
          <a:prstGeom prst="roundRect">
            <a:avLst>
              <a:gd name="adj" fmla="val 12000"/>
            </a:avLst>
          </a:prstGeom>
          <a:solidFill>
            <a:srgbClr val="121B28"/>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092440" y="2423160"/>
            <a:ext cx="64008" cy="777240"/>
          </a:xfrm>
          <a:prstGeom prst="rect">
            <a:avLst/>
          </a:prstGeom>
          <a:solidFill>
            <a:srgbClr val="BEF264"/>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57031" y="2514600"/>
            <a:ext cx="2898648" cy="256032"/>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EEF4F7"/>
                </a:solidFill>
                <a:latin typeface="Aptos"/>
              </a:rPr>
              <a:t>ANALYTICS CORE</a:t>
            </a:r>
          </a:p>
        </p:txBody>
      </p:sp>
      <p:sp>
        <p:nvSpPr>
          <p:cNvPr id="38" name="TextBox 37"/>
          <p:cNvSpPr txBox="1"/>
          <p:nvPr/>
        </p:nvSpPr>
        <p:spPr>
          <a:xfrm>
            <a:off x="8257031" y="2807208"/>
            <a:ext cx="2898648" cy="338328"/>
          </a:xfrm>
          <a:prstGeom prst="rect">
            <a:avLst/>
          </a:prstGeom>
          <a:noFill/>
        </p:spPr>
        <p:txBody>
          <a:bodyPr wrap="square" lIns="36576" tIns="36576" rIns="36576" bIns="36576" anchor="t">
            <a:spAutoFit/>
          </a:bodyPr>
          <a:lstStyle/>
          <a:p>
            <a:pPr algn="l">
              <a:spcBef>
                <a:spcPts val="0"/>
              </a:spcBef>
              <a:spcAft>
                <a:spcPts val="0"/>
              </a:spcAft>
            </a:pPr>
            <a:r>
              <a:rPr sz="900" b="0" i="0">
                <a:solidFill>
                  <a:srgbClr val="A4B4C1"/>
                </a:solidFill>
                <a:latin typeface="Aptos"/>
              </a:rPr>
              <a:t>Validation  →  aggregation  →  deterministic KPIs</a:t>
            </a:r>
          </a:p>
        </p:txBody>
      </p:sp>
      <p:sp>
        <p:nvSpPr>
          <p:cNvPr id="39" name="Rounded Rectangle 38"/>
          <p:cNvSpPr/>
          <p:nvPr/>
        </p:nvSpPr>
        <p:spPr>
          <a:xfrm>
            <a:off x="8092440" y="3566160"/>
            <a:ext cx="3154680" cy="777240"/>
          </a:xfrm>
          <a:prstGeom prst="roundRect">
            <a:avLst>
              <a:gd name="adj" fmla="val 12000"/>
            </a:avLst>
          </a:prstGeom>
          <a:solidFill>
            <a:srgbClr val="121B28"/>
          </a:solidFill>
          <a:ln w="10160">
            <a:solidFill>
              <a:srgbClr val="6A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092440" y="3566160"/>
            <a:ext cx="64008" cy="777240"/>
          </a:xfrm>
          <a:prstGeom prst="rect">
            <a:avLst/>
          </a:prstGeom>
          <a:solidFill>
            <a:srgbClr val="6AAAFF"/>
          </a:solidFill>
          <a:ln w="10160">
            <a:solidFill>
              <a:srgbClr val="6A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57031" y="3657600"/>
            <a:ext cx="2898648" cy="256032"/>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EEF4F7"/>
                </a:solidFill>
                <a:latin typeface="Aptos"/>
              </a:rPr>
              <a:t>DECISION SUPPORT</a:t>
            </a:r>
          </a:p>
        </p:txBody>
      </p:sp>
      <p:sp>
        <p:nvSpPr>
          <p:cNvPr id="42" name="TextBox 41"/>
          <p:cNvSpPr txBox="1"/>
          <p:nvPr/>
        </p:nvSpPr>
        <p:spPr>
          <a:xfrm>
            <a:off x="8257031" y="3950208"/>
            <a:ext cx="2898648" cy="338328"/>
          </a:xfrm>
          <a:prstGeom prst="rect">
            <a:avLst/>
          </a:prstGeom>
          <a:noFill/>
        </p:spPr>
        <p:txBody>
          <a:bodyPr wrap="square" lIns="36576" tIns="36576" rIns="36576" bIns="36576" anchor="t">
            <a:spAutoFit/>
          </a:bodyPr>
          <a:lstStyle/>
          <a:p>
            <a:pPr algn="l">
              <a:spcBef>
                <a:spcPts val="0"/>
              </a:spcBef>
              <a:spcAft>
                <a:spcPts val="0"/>
              </a:spcAft>
            </a:pPr>
            <a:r>
              <a:rPr sz="900" b="0" i="0">
                <a:solidFill>
                  <a:srgbClr val="A4B4C1"/>
                </a:solidFill>
                <a:latin typeface="Aptos"/>
              </a:rPr>
              <a:t>Rules  •  scenario simulation  •  SQLite history</a:t>
            </a:r>
          </a:p>
        </p:txBody>
      </p:sp>
      <p:sp>
        <p:nvSpPr>
          <p:cNvPr id="43" name="Rounded Rectangle 42"/>
          <p:cNvSpPr/>
          <p:nvPr/>
        </p:nvSpPr>
        <p:spPr>
          <a:xfrm>
            <a:off x="8092440" y="4709160"/>
            <a:ext cx="3154680" cy="777240"/>
          </a:xfrm>
          <a:prstGeom prst="roundRect">
            <a:avLst>
              <a:gd name="adj" fmla="val 12000"/>
            </a:avLst>
          </a:prstGeom>
          <a:solidFill>
            <a:srgbClr val="121B28"/>
          </a:solidFill>
          <a:ln w="10160">
            <a:solidFill>
              <a:srgbClr val="BE9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092440" y="4709160"/>
            <a:ext cx="64008" cy="777240"/>
          </a:xfrm>
          <a:prstGeom prst="rect">
            <a:avLst/>
          </a:prstGeom>
          <a:solidFill>
            <a:srgbClr val="BE9BFF"/>
          </a:solidFill>
          <a:ln w="10160">
            <a:solidFill>
              <a:srgbClr val="BE9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257031" y="4800600"/>
            <a:ext cx="2898648" cy="256032"/>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EEF4F7"/>
                </a:solidFill>
                <a:latin typeface="Aptos"/>
              </a:rPr>
              <a:t>PRESENTATION + AI</a:t>
            </a:r>
          </a:p>
        </p:txBody>
      </p:sp>
      <p:sp>
        <p:nvSpPr>
          <p:cNvPr id="46" name="TextBox 45"/>
          <p:cNvSpPr txBox="1"/>
          <p:nvPr/>
        </p:nvSpPr>
        <p:spPr>
          <a:xfrm>
            <a:off x="8257031" y="5093208"/>
            <a:ext cx="2898648" cy="338328"/>
          </a:xfrm>
          <a:prstGeom prst="rect">
            <a:avLst/>
          </a:prstGeom>
          <a:noFill/>
        </p:spPr>
        <p:txBody>
          <a:bodyPr wrap="square" lIns="36576" tIns="36576" rIns="36576" bIns="36576" anchor="t">
            <a:spAutoFit/>
          </a:bodyPr>
          <a:lstStyle/>
          <a:p>
            <a:pPr algn="l">
              <a:spcBef>
                <a:spcPts val="0"/>
              </a:spcBef>
              <a:spcAft>
                <a:spcPts val="0"/>
              </a:spcAft>
            </a:pPr>
            <a:r>
              <a:rPr sz="900" b="0" i="0">
                <a:solidFill>
                  <a:srgbClr val="A4B4C1"/>
                </a:solidFill>
                <a:latin typeface="Aptos"/>
              </a:rPr>
              <a:t>Next.js dashboard  •  optional Gemini summaries</a:t>
            </a:r>
          </a:p>
        </p:txBody>
      </p:sp>
      <p:cxnSp>
        <p:nvCxnSpPr>
          <p:cNvPr id="47" name="Connector 46"/>
          <p:cNvCxnSpPr/>
          <p:nvPr/>
        </p:nvCxnSpPr>
        <p:spPr>
          <a:xfrm>
            <a:off x="9665208" y="2057400"/>
            <a:ext cx="0" cy="365760"/>
          </a:xfrm>
          <a:prstGeom prst="line">
            <a:avLst/>
          </a:prstGeom>
          <a:ln w="20320">
            <a:solidFill>
              <a:srgbClr val="BEF264"/>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665208" y="3200400"/>
            <a:ext cx="0" cy="365760"/>
          </a:xfrm>
          <a:prstGeom prst="line">
            <a:avLst/>
          </a:prstGeom>
          <a:ln w="20320">
            <a:solidFill>
              <a:srgbClr val="BEF264"/>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665208" y="4343400"/>
            <a:ext cx="0" cy="365760"/>
          </a:xfrm>
          <a:prstGeom prst="line">
            <a:avLst/>
          </a:prstGeom>
          <a:ln w="20320">
            <a:solidFill>
              <a:srgbClr val="BEF264"/>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768096" y="6007608"/>
            <a:ext cx="7498079" cy="292608"/>
          </a:xfrm>
          <a:prstGeom prst="rect">
            <a:avLst/>
          </a:prstGeom>
          <a:noFill/>
        </p:spPr>
        <p:txBody>
          <a:bodyPr wrap="none">
            <a:spAutoFit/>
          </a:bodyPr>
          <a:lstStyle/>
          <a:p>
            <a:pPr algn="l">
              <a:defRPr sz="1200" b="1">
                <a:solidFill>
                  <a:srgbClr val="CDDAE8"/>
                </a:solidFill>
                <a:latin typeface="Aptos"/>
              </a:defRPr>
            </a:pPr>
            <a:r>
              <a:t>Authors: Aadavamoorthy BA  •  Niteesh S  •  Rahulshankar 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F18"/>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8961120" cy="219456"/>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BEF264"/>
                </a:solidFill>
                <a:latin typeface="Cascadia Code"/>
              </a:rPr>
              <a:t>01 / MOTIVATION</a:t>
            </a:r>
          </a:p>
        </p:txBody>
      </p:sp>
      <p:sp>
        <p:nvSpPr>
          <p:cNvPr id="3" name="TextBox 2"/>
          <p:cNvSpPr txBox="1"/>
          <p:nvPr/>
        </p:nvSpPr>
        <p:spPr>
          <a:xfrm>
            <a:off x="502920" y="557784"/>
            <a:ext cx="11155680" cy="475488"/>
          </a:xfrm>
          <a:prstGeom prst="rect">
            <a:avLst/>
          </a:prstGeom>
          <a:noFill/>
        </p:spPr>
        <p:txBody>
          <a:bodyPr wrap="square" lIns="36576" tIns="36576" rIns="36576" bIns="36576" anchor="t">
            <a:spAutoFit/>
          </a:bodyPr>
          <a:lstStyle/>
          <a:p>
            <a:pPr algn="l">
              <a:spcBef>
                <a:spcPts val="0"/>
              </a:spcBef>
              <a:spcAft>
                <a:spcPts val="0"/>
              </a:spcAft>
            </a:pPr>
            <a:r>
              <a:rPr sz="2500" b="1" i="0">
                <a:solidFill>
                  <a:srgbClr val="EEF4F7"/>
                </a:solidFill>
                <a:latin typeface="Aptos"/>
              </a:rPr>
              <a:t>The engineering problem: turn campaign rows into explainable decisions</a:t>
            </a:r>
          </a:p>
        </p:txBody>
      </p:sp>
      <p:sp>
        <p:nvSpPr>
          <p:cNvPr id="4" name="TextBox 3"/>
          <p:cNvSpPr txBox="1"/>
          <p:nvPr/>
        </p:nvSpPr>
        <p:spPr>
          <a:xfrm>
            <a:off x="530352" y="1078992"/>
            <a:ext cx="10972800" cy="38404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A4B4C1"/>
                </a:solidFill>
                <a:latin typeface="Aptos"/>
              </a:rPr>
              <a:t>The hard part is not rendering charts; it is producing consistent, inspectable outputs from imperfect operational data.</a:t>
            </a:r>
          </a:p>
        </p:txBody>
      </p:sp>
      <p:cxnSp>
        <p:nvCxnSpPr>
          <p:cNvPr id="5" name="Connector 4"/>
          <p:cNvCxnSpPr/>
          <p:nvPr/>
        </p:nvCxnSpPr>
        <p:spPr>
          <a:xfrm>
            <a:off x="502920" y="1517904"/>
            <a:ext cx="11183112" cy="0"/>
          </a:xfrm>
          <a:prstGeom prst="line">
            <a:avLst/>
          </a:prstGeom>
          <a:ln w="10160">
            <a:solidFill>
              <a:srgbClr val="2B3A4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292840" y="283464"/>
            <a:ext cx="384048" cy="201168"/>
          </a:xfrm>
          <a:prstGeom prst="rect">
            <a:avLst/>
          </a:prstGeom>
          <a:noFill/>
        </p:spPr>
        <p:txBody>
          <a:bodyPr wrap="square" lIns="36576" tIns="36576" rIns="36576" bIns="36576" anchor="t">
            <a:spAutoFit/>
          </a:bodyPr>
          <a:lstStyle/>
          <a:p>
            <a:pPr algn="r">
              <a:spcBef>
                <a:spcPts val="0"/>
              </a:spcBef>
              <a:spcAft>
                <a:spcPts val="0"/>
              </a:spcAft>
            </a:pPr>
            <a:r>
              <a:rPr sz="900" b="1" i="0">
                <a:solidFill>
                  <a:srgbClr val="A4B4C1"/>
                </a:solidFill>
                <a:latin typeface="Cascadia Code"/>
              </a:rPr>
              <a:t>02</a:t>
            </a:r>
          </a:p>
        </p:txBody>
      </p:sp>
      <p:cxnSp>
        <p:nvCxnSpPr>
          <p:cNvPr id="7" name="Connector 6"/>
          <p:cNvCxnSpPr/>
          <p:nvPr/>
        </p:nvCxnSpPr>
        <p:spPr>
          <a:xfrm>
            <a:off x="502920" y="6510528"/>
            <a:ext cx="11183112" cy="0"/>
          </a:xfrm>
          <a:prstGeom prst="line">
            <a:avLst/>
          </a:prstGeom>
          <a:ln w="7620">
            <a:solidFill>
              <a:srgbClr val="2B3A4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56248"/>
            <a:ext cx="6858000" cy="146304"/>
          </a:xfrm>
          <a:prstGeom prst="rect">
            <a:avLst/>
          </a:prstGeom>
          <a:noFill/>
        </p:spPr>
        <p:txBody>
          <a:bodyPr wrap="square" lIns="36576" tIns="36576" rIns="36576" bIns="36576" anchor="t">
            <a:spAutoFit/>
          </a:bodyPr>
          <a:lstStyle/>
          <a:p>
            <a:pPr algn="l">
              <a:spcBef>
                <a:spcPts val="0"/>
              </a:spcBef>
              <a:spcAft>
                <a:spcPts val="0"/>
              </a:spcAft>
            </a:pPr>
            <a:r>
              <a:rPr sz="700" b="0" i="0">
                <a:solidFill>
                  <a:srgbClr val="A4B4C1"/>
                </a:solidFill>
                <a:latin typeface="Cascadia Code"/>
              </a:rPr>
              <a:t>ADPILOT D2C INTELLIGENCE  /  TECHNICAL ARCHITECTURE</a:t>
            </a:r>
          </a:p>
        </p:txBody>
      </p:sp>
      <p:sp>
        <p:nvSpPr>
          <p:cNvPr id="9" name="TextBox 8"/>
          <p:cNvSpPr txBox="1"/>
          <p:nvPr/>
        </p:nvSpPr>
        <p:spPr>
          <a:xfrm>
            <a:off x="11064240" y="6547104"/>
            <a:ext cx="594360" cy="181588"/>
          </a:xfrm>
          <a:prstGeom prst="rect">
            <a:avLst/>
          </a:prstGeom>
          <a:noFill/>
        </p:spPr>
        <p:txBody>
          <a:bodyPr wrap="square" lIns="36576" tIns="36576" rIns="36576" bIns="36576" anchor="t">
            <a:spAutoFit/>
          </a:bodyPr>
          <a:lstStyle/>
          <a:p>
            <a:pPr algn="r">
              <a:spcBef>
                <a:spcPts val="0"/>
              </a:spcBef>
              <a:spcAft>
                <a:spcPts val="0"/>
              </a:spcAft>
            </a:pPr>
            <a:r>
              <a:rPr sz="700" b="0" i="0" dirty="0">
                <a:solidFill>
                  <a:srgbClr val="A4B4C1"/>
                </a:solidFill>
                <a:latin typeface="Cascadia Code"/>
              </a:rPr>
              <a:t>02 / </a:t>
            </a:r>
            <a:r>
              <a:rPr lang="en-IN" sz="700" b="0" i="0" dirty="0">
                <a:solidFill>
                  <a:srgbClr val="A4B4C1"/>
                </a:solidFill>
                <a:latin typeface="Cascadia Code"/>
              </a:rPr>
              <a:t>16</a:t>
            </a:r>
            <a:endParaRPr sz="700" b="0" i="0" dirty="0">
              <a:solidFill>
                <a:srgbClr val="A4B4C1"/>
              </a:solidFill>
              <a:latin typeface="Cascadia Code"/>
            </a:endParaRPr>
          </a:p>
        </p:txBody>
      </p:sp>
      <p:sp>
        <p:nvSpPr>
          <p:cNvPr id="10" name="Rounded Rectangle 9"/>
          <p:cNvSpPr/>
          <p:nvPr/>
        </p:nvSpPr>
        <p:spPr>
          <a:xfrm>
            <a:off x="594360" y="1783080"/>
            <a:ext cx="5349240" cy="1572768"/>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1929384"/>
            <a:ext cx="4892040" cy="256032"/>
          </a:xfrm>
          <a:prstGeom prst="rect">
            <a:avLst/>
          </a:prstGeom>
          <a:noFill/>
        </p:spPr>
        <p:txBody>
          <a:bodyPr wrap="square" lIns="36576" tIns="36576" rIns="36576" bIns="36576" anchor="t">
            <a:spAutoFit/>
          </a:bodyPr>
          <a:lstStyle/>
          <a:p>
            <a:pPr algn="l">
              <a:spcBef>
                <a:spcPts val="0"/>
              </a:spcBef>
              <a:spcAft>
                <a:spcPts val="0"/>
              </a:spcAft>
            </a:pPr>
            <a:r>
              <a:rPr sz="1100" b="1" i="0">
                <a:solidFill>
                  <a:srgbClr val="4BDCBE"/>
                </a:solidFill>
                <a:latin typeface="Cascadia Code"/>
              </a:rPr>
              <a:t>DATA FRAGMENTATION</a:t>
            </a:r>
          </a:p>
        </p:txBody>
      </p:sp>
      <p:sp>
        <p:nvSpPr>
          <p:cNvPr id="12" name="TextBox 11"/>
          <p:cNvSpPr txBox="1"/>
          <p:nvPr/>
        </p:nvSpPr>
        <p:spPr>
          <a:xfrm>
            <a:off x="777240" y="2276856"/>
            <a:ext cx="4892040" cy="841248"/>
          </a:xfrm>
          <a:prstGeom prst="rect">
            <a:avLst/>
          </a:prstGeom>
          <a:noFill/>
        </p:spPr>
        <p:txBody>
          <a:bodyPr wrap="square" lIns="36576" tIns="36576" rIns="36576" bIns="36576" anchor="t">
            <a:spAutoFit/>
          </a:bodyPr>
          <a:lstStyle/>
          <a:p>
            <a:pPr algn="l">
              <a:spcBef>
                <a:spcPts val="0"/>
              </a:spcBef>
              <a:spcAft>
                <a:spcPts val="0"/>
              </a:spcAft>
            </a:pPr>
            <a:r>
              <a:rPr sz="1200" b="0" i="0">
                <a:solidFill>
                  <a:srgbClr val="EEF4F7"/>
                </a:solidFill>
                <a:latin typeface="Aptos"/>
              </a:rPr>
              <a:t>Campaign, channel, SKU and platform fields create many possible slices. The same KPI can be misleading if calculated from averaged row-level ratios.</a:t>
            </a:r>
          </a:p>
        </p:txBody>
      </p:sp>
      <p:sp>
        <p:nvSpPr>
          <p:cNvPr id="13" name="Rounded Rectangle 12"/>
          <p:cNvSpPr/>
          <p:nvPr/>
        </p:nvSpPr>
        <p:spPr>
          <a:xfrm>
            <a:off x="6217920" y="1783080"/>
            <a:ext cx="5349240" cy="1572768"/>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929384"/>
            <a:ext cx="4892040" cy="256032"/>
          </a:xfrm>
          <a:prstGeom prst="rect">
            <a:avLst/>
          </a:prstGeom>
          <a:noFill/>
        </p:spPr>
        <p:txBody>
          <a:bodyPr wrap="square" lIns="36576" tIns="36576" rIns="36576" bIns="36576" anchor="t">
            <a:spAutoFit/>
          </a:bodyPr>
          <a:lstStyle/>
          <a:p>
            <a:pPr algn="l">
              <a:spcBef>
                <a:spcPts val="0"/>
              </a:spcBef>
              <a:spcAft>
                <a:spcPts val="0"/>
              </a:spcAft>
            </a:pPr>
            <a:r>
              <a:rPr sz="1100" b="1" i="0">
                <a:solidFill>
                  <a:srgbClr val="FFC45C"/>
                </a:solidFill>
                <a:latin typeface="Cascadia Code"/>
              </a:rPr>
              <a:t>QUALITY VARIANCE</a:t>
            </a:r>
          </a:p>
        </p:txBody>
      </p:sp>
      <p:sp>
        <p:nvSpPr>
          <p:cNvPr id="15" name="TextBox 14"/>
          <p:cNvSpPr txBox="1"/>
          <p:nvPr/>
        </p:nvSpPr>
        <p:spPr>
          <a:xfrm>
            <a:off x="6400800" y="2276856"/>
            <a:ext cx="4892040" cy="841248"/>
          </a:xfrm>
          <a:prstGeom prst="rect">
            <a:avLst/>
          </a:prstGeom>
          <a:noFill/>
        </p:spPr>
        <p:txBody>
          <a:bodyPr wrap="square" lIns="36576" tIns="36576" rIns="36576" bIns="36576" anchor="t">
            <a:spAutoFit/>
          </a:bodyPr>
          <a:lstStyle/>
          <a:p>
            <a:pPr algn="l">
              <a:spcBef>
                <a:spcPts val="0"/>
              </a:spcBef>
              <a:spcAft>
                <a:spcPts val="0"/>
              </a:spcAft>
            </a:pPr>
            <a:r>
              <a:rPr sz="1200" b="0" i="0">
                <a:solidFill>
                  <a:srgbClr val="EEF4F7"/>
                </a:solidFill>
                <a:latin typeface="Aptos"/>
              </a:rPr>
              <a:t>CSV exports and live tables can differ in types, missing values, identifiers and date formats. Silent coercion can create plausible but incorrect totals.</a:t>
            </a:r>
          </a:p>
        </p:txBody>
      </p:sp>
      <p:sp>
        <p:nvSpPr>
          <p:cNvPr id="16" name="Rounded Rectangle 15"/>
          <p:cNvSpPr/>
          <p:nvPr/>
        </p:nvSpPr>
        <p:spPr>
          <a:xfrm>
            <a:off x="594360" y="3657600"/>
            <a:ext cx="5349240" cy="1572768"/>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3803904"/>
            <a:ext cx="4892040" cy="256032"/>
          </a:xfrm>
          <a:prstGeom prst="rect">
            <a:avLst/>
          </a:prstGeom>
          <a:noFill/>
        </p:spPr>
        <p:txBody>
          <a:bodyPr wrap="square" lIns="36576" tIns="36576" rIns="36576" bIns="36576" anchor="t">
            <a:spAutoFit/>
          </a:bodyPr>
          <a:lstStyle/>
          <a:p>
            <a:pPr algn="l">
              <a:spcBef>
                <a:spcPts val="0"/>
              </a:spcBef>
              <a:spcAft>
                <a:spcPts val="0"/>
              </a:spcAft>
            </a:pPr>
            <a:r>
              <a:rPr sz="1100" b="1" i="0">
                <a:solidFill>
                  <a:srgbClr val="6AAAFF"/>
                </a:solidFill>
                <a:latin typeface="Cascadia Code"/>
              </a:rPr>
              <a:t>METRIC AMBIGUITY</a:t>
            </a:r>
          </a:p>
        </p:txBody>
      </p:sp>
      <p:sp>
        <p:nvSpPr>
          <p:cNvPr id="18" name="TextBox 17"/>
          <p:cNvSpPr txBox="1"/>
          <p:nvPr/>
        </p:nvSpPr>
        <p:spPr>
          <a:xfrm>
            <a:off x="777240" y="4151376"/>
            <a:ext cx="4892040" cy="841248"/>
          </a:xfrm>
          <a:prstGeom prst="rect">
            <a:avLst/>
          </a:prstGeom>
          <a:noFill/>
        </p:spPr>
        <p:txBody>
          <a:bodyPr wrap="square" lIns="36576" tIns="36576" rIns="36576" bIns="36576" anchor="t">
            <a:spAutoFit/>
          </a:bodyPr>
          <a:lstStyle/>
          <a:p>
            <a:pPr algn="l">
              <a:spcBef>
                <a:spcPts val="0"/>
              </a:spcBef>
              <a:spcAft>
                <a:spcPts val="0"/>
              </a:spcAft>
            </a:pPr>
            <a:r>
              <a:rPr sz="1200" b="0" i="0">
                <a:solidFill>
                  <a:srgbClr val="EEF4F7"/>
                </a:solidFill>
                <a:latin typeface="Aptos"/>
              </a:rPr>
              <a:t>Spend, clicks, conversions, attributed revenue and return-adjusted profit answer different questions. Definitions must be explicit and consistent.</a:t>
            </a:r>
          </a:p>
        </p:txBody>
      </p:sp>
      <p:sp>
        <p:nvSpPr>
          <p:cNvPr id="19" name="Rounded Rectangle 18"/>
          <p:cNvSpPr/>
          <p:nvPr/>
        </p:nvSpPr>
        <p:spPr>
          <a:xfrm>
            <a:off x="6217920" y="3657600"/>
            <a:ext cx="5349240" cy="1572768"/>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3803904"/>
            <a:ext cx="4892040" cy="256032"/>
          </a:xfrm>
          <a:prstGeom prst="rect">
            <a:avLst/>
          </a:prstGeom>
          <a:noFill/>
        </p:spPr>
        <p:txBody>
          <a:bodyPr wrap="square" lIns="36576" tIns="36576" rIns="36576" bIns="36576" anchor="t">
            <a:spAutoFit/>
          </a:bodyPr>
          <a:lstStyle/>
          <a:p>
            <a:pPr algn="l">
              <a:spcBef>
                <a:spcPts val="0"/>
              </a:spcBef>
              <a:spcAft>
                <a:spcPts val="0"/>
              </a:spcAft>
            </a:pPr>
            <a:r>
              <a:rPr sz="1100" b="1" i="0">
                <a:solidFill>
                  <a:srgbClr val="BE9BFF"/>
                </a:solidFill>
                <a:latin typeface="Cascadia Code"/>
              </a:rPr>
              <a:t>DECISION TRACEABILITY</a:t>
            </a:r>
          </a:p>
        </p:txBody>
      </p:sp>
      <p:sp>
        <p:nvSpPr>
          <p:cNvPr id="21" name="TextBox 20"/>
          <p:cNvSpPr txBox="1"/>
          <p:nvPr/>
        </p:nvSpPr>
        <p:spPr>
          <a:xfrm>
            <a:off x="6400800" y="4151376"/>
            <a:ext cx="4892040" cy="841248"/>
          </a:xfrm>
          <a:prstGeom prst="rect">
            <a:avLst/>
          </a:prstGeom>
          <a:noFill/>
        </p:spPr>
        <p:txBody>
          <a:bodyPr wrap="square" lIns="36576" tIns="36576" rIns="36576" bIns="36576" anchor="t">
            <a:spAutoFit/>
          </a:bodyPr>
          <a:lstStyle/>
          <a:p>
            <a:pPr algn="l">
              <a:spcBef>
                <a:spcPts val="0"/>
              </a:spcBef>
              <a:spcAft>
                <a:spcPts val="0"/>
              </a:spcAft>
            </a:pPr>
            <a:r>
              <a:rPr sz="1200" b="0" i="0">
                <a:solidFill>
                  <a:srgbClr val="EEF4F7"/>
                </a:solidFill>
                <a:latin typeface="Aptos"/>
              </a:rPr>
              <a:t>A recommendation should expose its rule, group, evidence and state. A chart alone does not record why an action was accepted or rejected.</a:t>
            </a:r>
          </a:p>
        </p:txBody>
      </p:sp>
      <p:sp>
        <p:nvSpPr>
          <p:cNvPr id="22" name="Rounded Rectangle 21"/>
          <p:cNvSpPr/>
          <p:nvPr/>
        </p:nvSpPr>
        <p:spPr>
          <a:xfrm>
            <a:off x="621792" y="5577840"/>
            <a:ext cx="10927080" cy="566928"/>
          </a:xfrm>
          <a:prstGeom prst="roundRect">
            <a:avLst>
              <a:gd name="adj" fmla="val 12000"/>
            </a:avLst>
          </a:prstGeom>
          <a:solidFill>
            <a:srgbClr val="172331"/>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672" y="5705856"/>
            <a:ext cx="10561320" cy="274320"/>
          </a:xfrm>
          <a:prstGeom prst="rect">
            <a:avLst/>
          </a:prstGeom>
          <a:noFill/>
        </p:spPr>
        <p:txBody>
          <a:bodyPr wrap="square" lIns="36576" tIns="36576" rIns="36576" bIns="36576" anchor="t">
            <a:spAutoFit/>
          </a:bodyPr>
          <a:lstStyle/>
          <a:p>
            <a:pPr algn="l">
              <a:spcBef>
                <a:spcPts val="0"/>
              </a:spcBef>
              <a:spcAft>
                <a:spcPts val="0"/>
              </a:spcAft>
            </a:pPr>
            <a:r>
              <a:rPr sz="1100" b="1" i="0">
                <a:solidFill>
                  <a:srgbClr val="BEF264"/>
                </a:solidFill>
                <a:latin typeface="Aptos"/>
              </a:rPr>
              <a:t>DESIGN TARGET  →  deterministic metrics + visible assumptions + explicit review states + optional language-model summaries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F18"/>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8961120" cy="219456"/>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BEF264"/>
                </a:solidFill>
                <a:latin typeface="Cascadia Code"/>
              </a:rPr>
              <a:t>02 / ARCHITECTURE</a:t>
            </a:r>
          </a:p>
        </p:txBody>
      </p:sp>
      <p:sp>
        <p:nvSpPr>
          <p:cNvPr id="3" name="TextBox 2"/>
          <p:cNvSpPr txBox="1"/>
          <p:nvPr/>
        </p:nvSpPr>
        <p:spPr>
          <a:xfrm>
            <a:off x="502920" y="557784"/>
            <a:ext cx="11155680" cy="475488"/>
          </a:xfrm>
          <a:prstGeom prst="rect">
            <a:avLst/>
          </a:prstGeom>
          <a:noFill/>
        </p:spPr>
        <p:txBody>
          <a:bodyPr wrap="square" lIns="36576" tIns="36576" rIns="36576" bIns="36576" anchor="t">
            <a:spAutoFit/>
          </a:bodyPr>
          <a:lstStyle/>
          <a:p>
            <a:pPr algn="l">
              <a:spcBef>
                <a:spcPts val="0"/>
              </a:spcBef>
              <a:spcAft>
                <a:spcPts val="0"/>
              </a:spcAft>
            </a:pPr>
            <a:r>
              <a:rPr sz="2500" b="1" i="0">
                <a:solidFill>
                  <a:srgbClr val="EEF4F7"/>
                </a:solidFill>
                <a:latin typeface="Aptos"/>
              </a:rPr>
              <a:t>System architecture and module boundaries</a:t>
            </a:r>
          </a:p>
        </p:txBody>
      </p:sp>
      <p:sp>
        <p:nvSpPr>
          <p:cNvPr id="4" name="TextBox 3"/>
          <p:cNvSpPr txBox="1"/>
          <p:nvPr/>
        </p:nvSpPr>
        <p:spPr>
          <a:xfrm>
            <a:off x="530352" y="1078992"/>
            <a:ext cx="10972800" cy="38404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A4B4C1"/>
                </a:solidFill>
                <a:latin typeface="Aptos"/>
              </a:rPr>
              <a:t>A request-oriented web application with a clear separation between source access, analytics, persisted decisions and presentation.</a:t>
            </a:r>
          </a:p>
        </p:txBody>
      </p:sp>
      <p:cxnSp>
        <p:nvCxnSpPr>
          <p:cNvPr id="5" name="Connector 4"/>
          <p:cNvCxnSpPr/>
          <p:nvPr/>
        </p:nvCxnSpPr>
        <p:spPr>
          <a:xfrm>
            <a:off x="502920" y="1517904"/>
            <a:ext cx="11183112" cy="0"/>
          </a:xfrm>
          <a:prstGeom prst="line">
            <a:avLst/>
          </a:prstGeom>
          <a:ln w="10160">
            <a:solidFill>
              <a:srgbClr val="2B3A4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292840" y="283464"/>
            <a:ext cx="384048" cy="201168"/>
          </a:xfrm>
          <a:prstGeom prst="rect">
            <a:avLst/>
          </a:prstGeom>
          <a:noFill/>
        </p:spPr>
        <p:txBody>
          <a:bodyPr wrap="square" lIns="36576" tIns="36576" rIns="36576" bIns="36576" anchor="t">
            <a:spAutoFit/>
          </a:bodyPr>
          <a:lstStyle/>
          <a:p>
            <a:pPr algn="r">
              <a:spcBef>
                <a:spcPts val="0"/>
              </a:spcBef>
              <a:spcAft>
                <a:spcPts val="0"/>
              </a:spcAft>
            </a:pPr>
            <a:r>
              <a:rPr sz="900" b="1" i="0">
                <a:solidFill>
                  <a:srgbClr val="A4B4C1"/>
                </a:solidFill>
                <a:latin typeface="Cascadia Code"/>
              </a:rPr>
              <a:t>03</a:t>
            </a:r>
          </a:p>
        </p:txBody>
      </p:sp>
      <p:cxnSp>
        <p:nvCxnSpPr>
          <p:cNvPr id="7" name="Connector 6"/>
          <p:cNvCxnSpPr/>
          <p:nvPr/>
        </p:nvCxnSpPr>
        <p:spPr>
          <a:xfrm>
            <a:off x="502920" y="6510528"/>
            <a:ext cx="11183112" cy="0"/>
          </a:xfrm>
          <a:prstGeom prst="line">
            <a:avLst/>
          </a:prstGeom>
          <a:ln w="7620">
            <a:solidFill>
              <a:srgbClr val="2B3A4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56248"/>
            <a:ext cx="6858000" cy="146304"/>
          </a:xfrm>
          <a:prstGeom prst="rect">
            <a:avLst/>
          </a:prstGeom>
          <a:noFill/>
        </p:spPr>
        <p:txBody>
          <a:bodyPr wrap="square" lIns="36576" tIns="36576" rIns="36576" bIns="36576" anchor="t">
            <a:spAutoFit/>
          </a:bodyPr>
          <a:lstStyle/>
          <a:p>
            <a:pPr algn="l">
              <a:spcBef>
                <a:spcPts val="0"/>
              </a:spcBef>
              <a:spcAft>
                <a:spcPts val="0"/>
              </a:spcAft>
            </a:pPr>
            <a:r>
              <a:rPr sz="700" b="0" i="0">
                <a:solidFill>
                  <a:srgbClr val="A4B4C1"/>
                </a:solidFill>
                <a:latin typeface="Cascadia Code"/>
              </a:rPr>
              <a:t>ADPILOT D2C INTELLIGENCE  /  TECHNICAL ARCHITECTURE</a:t>
            </a:r>
          </a:p>
        </p:txBody>
      </p:sp>
      <p:sp>
        <p:nvSpPr>
          <p:cNvPr id="9" name="TextBox 8"/>
          <p:cNvSpPr txBox="1"/>
          <p:nvPr/>
        </p:nvSpPr>
        <p:spPr>
          <a:xfrm>
            <a:off x="11064240" y="6547104"/>
            <a:ext cx="594360" cy="181588"/>
          </a:xfrm>
          <a:prstGeom prst="rect">
            <a:avLst/>
          </a:prstGeom>
          <a:noFill/>
        </p:spPr>
        <p:txBody>
          <a:bodyPr wrap="square" lIns="36576" tIns="36576" rIns="36576" bIns="36576" anchor="t">
            <a:spAutoFit/>
          </a:bodyPr>
          <a:lstStyle/>
          <a:p>
            <a:pPr algn="r">
              <a:spcBef>
                <a:spcPts val="0"/>
              </a:spcBef>
              <a:spcAft>
                <a:spcPts val="0"/>
              </a:spcAft>
            </a:pPr>
            <a:r>
              <a:rPr sz="700" b="0" i="0" dirty="0">
                <a:solidFill>
                  <a:srgbClr val="A4B4C1"/>
                </a:solidFill>
                <a:latin typeface="Cascadia Code"/>
              </a:rPr>
              <a:t>03 / </a:t>
            </a:r>
            <a:r>
              <a:rPr lang="en-IN" sz="700" b="0" i="0" dirty="0">
                <a:solidFill>
                  <a:srgbClr val="A4B4C1"/>
                </a:solidFill>
                <a:latin typeface="Cascadia Code"/>
              </a:rPr>
              <a:t>16</a:t>
            </a:r>
            <a:endParaRPr sz="700" b="0" i="0" dirty="0">
              <a:solidFill>
                <a:srgbClr val="A4B4C1"/>
              </a:solidFill>
              <a:latin typeface="Cascadia Code"/>
            </a:endParaRPr>
          </a:p>
        </p:txBody>
      </p:sp>
      <p:sp>
        <p:nvSpPr>
          <p:cNvPr id="10" name="Rounded Rectangle 9"/>
          <p:cNvSpPr/>
          <p:nvPr/>
        </p:nvSpPr>
        <p:spPr>
          <a:xfrm>
            <a:off x="658368" y="1856231"/>
            <a:ext cx="2011680" cy="877824"/>
          </a:xfrm>
          <a:prstGeom prst="roundRect">
            <a:avLst>
              <a:gd name="adj" fmla="val 12000"/>
            </a:avLst>
          </a:prstGeom>
          <a:solidFill>
            <a:srgbClr val="121B28"/>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8368" y="1856231"/>
            <a:ext cx="64008" cy="877824"/>
          </a:xfrm>
          <a:prstGeom prst="rect">
            <a:avLst/>
          </a:prstGeom>
          <a:solidFill>
            <a:srgbClr val="4BDCBE"/>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59" y="1947672"/>
            <a:ext cx="1719072"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USER / BROWSER</a:t>
            </a:r>
          </a:p>
        </p:txBody>
      </p:sp>
      <p:sp>
        <p:nvSpPr>
          <p:cNvPr id="13" name="TextBox 12"/>
          <p:cNvSpPr txBox="1"/>
          <p:nvPr/>
        </p:nvSpPr>
        <p:spPr>
          <a:xfrm>
            <a:off x="822959" y="2240279"/>
            <a:ext cx="1719072" cy="42976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Filters, drill-down, review actions</a:t>
            </a:r>
          </a:p>
        </p:txBody>
      </p:sp>
      <p:sp>
        <p:nvSpPr>
          <p:cNvPr id="14" name="Rounded Rectangle 13"/>
          <p:cNvSpPr/>
          <p:nvPr/>
        </p:nvSpPr>
        <p:spPr>
          <a:xfrm>
            <a:off x="3063240" y="1856231"/>
            <a:ext cx="2148840" cy="877824"/>
          </a:xfrm>
          <a:prstGeom prst="roundRect">
            <a:avLst>
              <a:gd name="adj" fmla="val 12000"/>
            </a:avLst>
          </a:prstGeom>
          <a:solidFill>
            <a:srgbClr val="121B28"/>
          </a:solidFill>
          <a:ln w="10160">
            <a:solidFill>
              <a:srgbClr val="6A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063240" y="1856231"/>
            <a:ext cx="64008" cy="877824"/>
          </a:xfrm>
          <a:prstGeom prst="rect">
            <a:avLst/>
          </a:prstGeom>
          <a:solidFill>
            <a:srgbClr val="6AAAFF"/>
          </a:solidFill>
          <a:ln w="10160">
            <a:solidFill>
              <a:srgbClr val="6A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27832" y="1947672"/>
            <a:ext cx="1856232"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NEXT.JS FRONTEND</a:t>
            </a:r>
          </a:p>
        </p:txBody>
      </p:sp>
      <p:sp>
        <p:nvSpPr>
          <p:cNvPr id="17" name="TextBox 16"/>
          <p:cNvSpPr txBox="1"/>
          <p:nvPr/>
        </p:nvSpPr>
        <p:spPr>
          <a:xfrm>
            <a:off x="3227832" y="2240279"/>
            <a:ext cx="1856232" cy="42976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frontend/app · React UI</a:t>
            </a:r>
          </a:p>
        </p:txBody>
      </p:sp>
      <p:sp>
        <p:nvSpPr>
          <p:cNvPr id="18" name="Rounded Rectangle 17"/>
          <p:cNvSpPr/>
          <p:nvPr/>
        </p:nvSpPr>
        <p:spPr>
          <a:xfrm>
            <a:off x="5623560" y="1856231"/>
            <a:ext cx="2240280" cy="877824"/>
          </a:xfrm>
          <a:prstGeom prst="roundRect">
            <a:avLst>
              <a:gd name="adj" fmla="val 12000"/>
            </a:avLst>
          </a:prstGeom>
          <a:solidFill>
            <a:srgbClr val="121B28"/>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23560" y="1856231"/>
            <a:ext cx="64008" cy="877824"/>
          </a:xfrm>
          <a:prstGeom prst="rect">
            <a:avLst/>
          </a:prstGeom>
          <a:solidFill>
            <a:srgbClr val="BEF264"/>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88152" y="1947672"/>
            <a:ext cx="1947672"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FASTAPI SERVICE</a:t>
            </a:r>
          </a:p>
        </p:txBody>
      </p:sp>
      <p:sp>
        <p:nvSpPr>
          <p:cNvPr id="21" name="TextBox 20"/>
          <p:cNvSpPr txBox="1"/>
          <p:nvPr/>
        </p:nvSpPr>
        <p:spPr>
          <a:xfrm>
            <a:off x="5788152" y="2240279"/>
            <a:ext cx="1947672" cy="42976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backend/app.py · HTTP routes</a:t>
            </a:r>
          </a:p>
        </p:txBody>
      </p:sp>
      <p:sp>
        <p:nvSpPr>
          <p:cNvPr id="22" name="Rounded Rectangle 21"/>
          <p:cNvSpPr/>
          <p:nvPr/>
        </p:nvSpPr>
        <p:spPr>
          <a:xfrm>
            <a:off x="3977639" y="3675887"/>
            <a:ext cx="2240280" cy="877824"/>
          </a:xfrm>
          <a:prstGeom prst="roundRect">
            <a:avLst>
              <a:gd name="adj" fmla="val 12000"/>
            </a:avLst>
          </a:prstGeom>
          <a:solidFill>
            <a:srgbClr val="121B28"/>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977639" y="3675887"/>
            <a:ext cx="64008" cy="877824"/>
          </a:xfrm>
          <a:prstGeom prst="rect">
            <a:avLst/>
          </a:prstGeom>
          <a:solidFill>
            <a:srgbClr val="4BDCBE"/>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42231" y="3767327"/>
            <a:ext cx="1947672"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DATA ACCESS LAYER</a:t>
            </a:r>
          </a:p>
        </p:txBody>
      </p:sp>
      <p:sp>
        <p:nvSpPr>
          <p:cNvPr id="25" name="TextBox 24"/>
          <p:cNvSpPr txBox="1"/>
          <p:nvPr/>
        </p:nvSpPr>
        <p:spPr>
          <a:xfrm>
            <a:off x="4142231" y="4059935"/>
            <a:ext cx="1947672" cy="42976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load_frame() · Exasol / CSV</a:t>
            </a:r>
          </a:p>
        </p:txBody>
      </p:sp>
      <p:sp>
        <p:nvSpPr>
          <p:cNvPr id="26" name="Rounded Rectangle 25"/>
          <p:cNvSpPr/>
          <p:nvPr/>
        </p:nvSpPr>
        <p:spPr>
          <a:xfrm>
            <a:off x="6720840" y="3675887"/>
            <a:ext cx="2240280" cy="877824"/>
          </a:xfrm>
          <a:prstGeom prst="roundRect">
            <a:avLst>
              <a:gd name="adj" fmla="val 12000"/>
            </a:avLst>
          </a:prstGeom>
          <a:solidFill>
            <a:srgbClr val="121B28"/>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720840" y="3675887"/>
            <a:ext cx="64008" cy="877824"/>
          </a:xfrm>
          <a:prstGeom prst="rect">
            <a:avLst/>
          </a:prstGeom>
          <a:solidFill>
            <a:srgbClr val="BEF264"/>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85431" y="3767327"/>
            <a:ext cx="1947672"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ANALYTICS ENGINE</a:t>
            </a:r>
          </a:p>
        </p:txBody>
      </p:sp>
      <p:sp>
        <p:nvSpPr>
          <p:cNvPr id="29" name="TextBox 28"/>
          <p:cNvSpPr txBox="1"/>
          <p:nvPr/>
        </p:nvSpPr>
        <p:spPr>
          <a:xfrm>
            <a:off x="6885431" y="4059935"/>
            <a:ext cx="1947672" cy="42976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pandas transforms · KPI aggregates</a:t>
            </a:r>
          </a:p>
        </p:txBody>
      </p:sp>
      <p:sp>
        <p:nvSpPr>
          <p:cNvPr id="30" name="Rounded Rectangle 29"/>
          <p:cNvSpPr/>
          <p:nvPr/>
        </p:nvSpPr>
        <p:spPr>
          <a:xfrm>
            <a:off x="9281160" y="3675887"/>
            <a:ext cx="2423160" cy="877824"/>
          </a:xfrm>
          <a:prstGeom prst="roundRect">
            <a:avLst>
              <a:gd name="adj" fmla="val 12000"/>
            </a:avLst>
          </a:prstGeom>
          <a:solidFill>
            <a:srgbClr val="121B28"/>
          </a:solidFill>
          <a:ln w="10160">
            <a:solidFill>
              <a:srgbClr val="BE9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281160" y="3675887"/>
            <a:ext cx="64008" cy="877824"/>
          </a:xfrm>
          <a:prstGeom prst="rect">
            <a:avLst/>
          </a:prstGeom>
          <a:solidFill>
            <a:srgbClr val="BE9BFF"/>
          </a:solidFill>
          <a:ln w="10160">
            <a:solidFill>
              <a:srgbClr val="BE9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45752" y="3767327"/>
            <a:ext cx="2130552"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DECISION + AI SERVICES</a:t>
            </a:r>
          </a:p>
        </p:txBody>
      </p:sp>
      <p:sp>
        <p:nvSpPr>
          <p:cNvPr id="33" name="TextBox 32"/>
          <p:cNvSpPr txBox="1"/>
          <p:nvPr/>
        </p:nvSpPr>
        <p:spPr>
          <a:xfrm>
            <a:off x="9445752" y="4059935"/>
            <a:ext cx="2130552" cy="42976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SQLite state · rule engine · Gemini</a:t>
            </a:r>
          </a:p>
        </p:txBody>
      </p:sp>
      <p:sp>
        <p:nvSpPr>
          <p:cNvPr id="39" name="Rounded Rectangle 38"/>
          <p:cNvSpPr/>
          <p:nvPr/>
        </p:nvSpPr>
        <p:spPr>
          <a:xfrm>
            <a:off x="749808" y="3584448"/>
            <a:ext cx="2514600" cy="786384"/>
          </a:xfrm>
          <a:prstGeom prst="roundRect">
            <a:avLst>
              <a:gd name="adj" fmla="val 12000"/>
            </a:avLst>
          </a:prstGeom>
          <a:solidFill>
            <a:srgbClr val="121B28"/>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749808" y="3584448"/>
            <a:ext cx="64008" cy="786384"/>
          </a:xfrm>
          <a:prstGeom prst="rect">
            <a:avLst/>
          </a:prstGeom>
          <a:solidFill>
            <a:srgbClr val="4BDCBE"/>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14400" y="3675887"/>
            <a:ext cx="2221992" cy="256032"/>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EEF4F7"/>
                </a:solidFill>
                <a:latin typeface="Aptos"/>
              </a:rPr>
              <a:t>EXASOL SOURCE</a:t>
            </a:r>
          </a:p>
        </p:txBody>
      </p:sp>
      <p:sp>
        <p:nvSpPr>
          <p:cNvPr id="42" name="TextBox 41"/>
          <p:cNvSpPr txBox="1"/>
          <p:nvPr/>
        </p:nvSpPr>
        <p:spPr>
          <a:xfrm>
            <a:off x="914400" y="3968496"/>
            <a:ext cx="2221992" cy="338328"/>
          </a:xfrm>
          <a:prstGeom prst="rect">
            <a:avLst/>
          </a:prstGeom>
          <a:noFill/>
        </p:spPr>
        <p:txBody>
          <a:bodyPr wrap="square" lIns="36576" tIns="36576" rIns="36576" bIns="36576" anchor="t">
            <a:spAutoFit/>
          </a:bodyPr>
          <a:lstStyle/>
          <a:p>
            <a:pPr algn="l">
              <a:spcBef>
                <a:spcPts val="0"/>
              </a:spcBef>
              <a:spcAft>
                <a:spcPts val="0"/>
              </a:spcAft>
            </a:pPr>
            <a:r>
              <a:rPr sz="900" b="0" i="0">
                <a:solidFill>
                  <a:srgbClr val="A4B4C1"/>
                </a:solidFill>
                <a:latin typeface="Aptos"/>
              </a:rPr>
              <a:t>pyexasol · DQPS.RAW_D2C_DATA</a:t>
            </a:r>
          </a:p>
        </p:txBody>
      </p:sp>
      <p:sp>
        <p:nvSpPr>
          <p:cNvPr id="43" name="Rounded Rectangle 42"/>
          <p:cNvSpPr/>
          <p:nvPr/>
        </p:nvSpPr>
        <p:spPr>
          <a:xfrm>
            <a:off x="749808" y="4572000"/>
            <a:ext cx="2514600" cy="786384"/>
          </a:xfrm>
          <a:prstGeom prst="roundRect">
            <a:avLst>
              <a:gd name="adj" fmla="val 12000"/>
            </a:avLst>
          </a:prstGeom>
          <a:solidFill>
            <a:srgbClr val="121B28"/>
          </a:solidFill>
          <a:ln w="10160">
            <a:solidFill>
              <a:srgbClr val="FFC4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749808" y="4572000"/>
            <a:ext cx="64008" cy="786384"/>
          </a:xfrm>
          <a:prstGeom prst="rect">
            <a:avLst/>
          </a:prstGeom>
          <a:solidFill>
            <a:srgbClr val="FFC45C"/>
          </a:solidFill>
          <a:ln w="10160">
            <a:solidFill>
              <a:srgbClr val="FFC4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4400" y="4663440"/>
            <a:ext cx="2221992" cy="256032"/>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EEF4F7"/>
                </a:solidFill>
                <a:latin typeface="Aptos"/>
              </a:rPr>
              <a:t>CSV DEMO SOURCE</a:t>
            </a:r>
          </a:p>
        </p:txBody>
      </p:sp>
      <p:sp>
        <p:nvSpPr>
          <p:cNvPr id="46" name="TextBox 45"/>
          <p:cNvSpPr txBox="1"/>
          <p:nvPr/>
        </p:nvSpPr>
        <p:spPr>
          <a:xfrm>
            <a:off x="914400" y="4956048"/>
            <a:ext cx="2221992" cy="338328"/>
          </a:xfrm>
          <a:prstGeom prst="rect">
            <a:avLst/>
          </a:prstGeom>
          <a:noFill/>
        </p:spPr>
        <p:txBody>
          <a:bodyPr wrap="square" lIns="36576" tIns="36576" rIns="36576" bIns="36576" anchor="t">
            <a:spAutoFit/>
          </a:bodyPr>
          <a:lstStyle/>
          <a:p>
            <a:pPr algn="l">
              <a:spcBef>
                <a:spcPts val="0"/>
              </a:spcBef>
              <a:spcAft>
                <a:spcPts val="0"/>
              </a:spcAft>
            </a:pPr>
            <a:r>
              <a:rPr sz="900" b="0" i="0">
                <a:solidFill>
                  <a:srgbClr val="A4B4C1"/>
                </a:solidFill>
                <a:latin typeface="Aptos"/>
              </a:rPr>
              <a:t>bundled dataset · validated schema</a:t>
            </a:r>
          </a:p>
        </p:txBody>
      </p:sp>
      <p:sp>
        <p:nvSpPr>
          <p:cNvPr id="49" name="TextBox 48"/>
          <p:cNvSpPr txBox="1"/>
          <p:nvPr/>
        </p:nvSpPr>
        <p:spPr>
          <a:xfrm>
            <a:off x="731520" y="5559552"/>
            <a:ext cx="10789920" cy="438912"/>
          </a:xfrm>
          <a:prstGeom prst="rect">
            <a:avLst/>
          </a:prstGeom>
          <a:noFill/>
        </p:spPr>
        <p:txBody>
          <a:bodyPr wrap="square" lIns="36576" tIns="36576" rIns="36576" bIns="36576" anchor="t">
            <a:spAutoFit/>
          </a:bodyPr>
          <a:lstStyle/>
          <a:p>
            <a:pPr algn="l">
              <a:spcBef>
                <a:spcPts val="0"/>
              </a:spcBef>
              <a:spcAft>
                <a:spcPts val="0"/>
              </a:spcAft>
            </a:pPr>
            <a:r>
              <a:rPr sz="1100" b="0" i="0">
                <a:solidFill>
                  <a:srgbClr val="A4B4C1"/>
                </a:solidFill>
                <a:latin typeface="Aptos"/>
              </a:rPr>
              <a:t>Boundary rule: source acquisition supplies a frame; the analytics layer owns metric semantics; the decision store owns review history; the UI presents results and captures intent.</a:t>
            </a:r>
          </a:p>
        </p:txBody>
      </p:sp>
      <p:cxnSp>
        <p:nvCxnSpPr>
          <p:cNvPr id="50" name="Connector 49"/>
          <p:cNvCxnSpPr/>
          <p:nvPr/>
        </p:nvCxnSpPr>
        <p:spPr>
          <a:xfrm>
            <a:off x="2670048" y="2295144"/>
            <a:ext cx="393192" cy="0"/>
          </a:xfrm>
          <a:prstGeom prst="line">
            <a:avLst/>
          </a:prstGeom>
          <a:ln w="25400">
            <a:solidFill>
              <a:srgbClr val="4BDCBE"/>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212080" y="2295144"/>
            <a:ext cx="411480" cy="0"/>
          </a:xfrm>
          <a:prstGeom prst="line">
            <a:avLst/>
          </a:prstGeom>
          <a:ln w="25400">
            <a:solidFill>
              <a:srgbClr val="6AAAFF"/>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748272" y="2734056"/>
            <a:ext cx="0" cy="448056"/>
          </a:xfrm>
          <a:prstGeom prst="line">
            <a:avLst/>
          </a:prstGeom>
          <a:ln w="22860">
            <a:solidFill>
              <a:srgbClr val="6AAAF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5102352" y="3182112"/>
            <a:ext cx="1645920" cy="0"/>
          </a:xfrm>
          <a:prstGeom prst="line">
            <a:avLst/>
          </a:prstGeom>
          <a:ln w="22860">
            <a:solidFill>
              <a:srgbClr val="6AAAF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5102352" y="3182112"/>
            <a:ext cx="0" cy="493775"/>
          </a:xfrm>
          <a:prstGeom prst="line">
            <a:avLst/>
          </a:prstGeom>
          <a:ln w="22860">
            <a:solidFill>
              <a:srgbClr val="6AAAFF"/>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217920" y="4114800"/>
            <a:ext cx="502920" cy="0"/>
          </a:xfrm>
          <a:prstGeom prst="line">
            <a:avLst/>
          </a:prstGeom>
          <a:ln w="25400">
            <a:solidFill>
              <a:srgbClr val="BEF264"/>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8961120" y="4114800"/>
            <a:ext cx="320040" cy="0"/>
          </a:xfrm>
          <a:prstGeom prst="line">
            <a:avLst/>
          </a:prstGeom>
          <a:ln w="25400">
            <a:solidFill>
              <a:srgbClr val="FFC45C"/>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3264408" y="3977639"/>
            <a:ext cx="320040" cy="0"/>
          </a:xfrm>
          <a:prstGeom prst="line">
            <a:avLst/>
          </a:prstGeom>
          <a:ln w="21590">
            <a:solidFill>
              <a:srgbClr val="4BDCB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3584448" y="3977639"/>
            <a:ext cx="0" cy="356617"/>
          </a:xfrm>
          <a:prstGeom prst="line">
            <a:avLst/>
          </a:prstGeom>
          <a:ln w="21590">
            <a:solidFill>
              <a:srgbClr val="4BDCBE"/>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584448" y="4334256"/>
            <a:ext cx="393191" cy="0"/>
          </a:xfrm>
          <a:prstGeom prst="line">
            <a:avLst/>
          </a:prstGeom>
          <a:ln w="21590">
            <a:solidFill>
              <a:srgbClr val="4BDCB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264408" y="4965192"/>
            <a:ext cx="320040" cy="0"/>
          </a:xfrm>
          <a:prstGeom prst="line">
            <a:avLst/>
          </a:prstGeom>
          <a:ln w="21590">
            <a:solidFill>
              <a:srgbClr val="4BDCB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3584448" y="4334256"/>
            <a:ext cx="0" cy="630936"/>
          </a:xfrm>
          <a:prstGeom prst="line">
            <a:avLst/>
          </a:prstGeom>
          <a:ln w="21590">
            <a:solidFill>
              <a:srgbClr val="4BDCB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F18"/>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8961120" cy="219456"/>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BEF264"/>
                </a:solidFill>
                <a:latin typeface="Cascadia Code"/>
              </a:rPr>
              <a:t>03 / INGESTION</a:t>
            </a:r>
          </a:p>
        </p:txBody>
      </p:sp>
      <p:sp>
        <p:nvSpPr>
          <p:cNvPr id="3" name="TextBox 2"/>
          <p:cNvSpPr txBox="1"/>
          <p:nvPr/>
        </p:nvSpPr>
        <p:spPr>
          <a:xfrm>
            <a:off x="502920" y="557784"/>
            <a:ext cx="11155680" cy="475488"/>
          </a:xfrm>
          <a:prstGeom prst="rect">
            <a:avLst/>
          </a:prstGeom>
          <a:noFill/>
        </p:spPr>
        <p:txBody>
          <a:bodyPr wrap="square" lIns="36576" tIns="36576" rIns="36576" bIns="36576" anchor="t">
            <a:spAutoFit/>
          </a:bodyPr>
          <a:lstStyle/>
          <a:p>
            <a:pPr algn="l">
              <a:spcBef>
                <a:spcPts val="0"/>
              </a:spcBef>
              <a:spcAft>
                <a:spcPts val="0"/>
              </a:spcAft>
            </a:pPr>
            <a:r>
              <a:rPr sz="2500" b="1" i="0">
                <a:solidFill>
                  <a:srgbClr val="EEF4F7"/>
                </a:solidFill>
                <a:latin typeface="Aptos"/>
              </a:rPr>
              <a:t>Source abstraction: live Exasol and CSV demo mode</a:t>
            </a:r>
          </a:p>
        </p:txBody>
      </p:sp>
      <p:sp>
        <p:nvSpPr>
          <p:cNvPr id="4" name="TextBox 3"/>
          <p:cNvSpPr txBox="1"/>
          <p:nvPr/>
        </p:nvSpPr>
        <p:spPr>
          <a:xfrm>
            <a:off x="530352" y="1078992"/>
            <a:ext cx="10972800" cy="38404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A4B4C1"/>
                </a:solidFill>
                <a:latin typeface="Aptos"/>
              </a:rPr>
              <a:t>The application can be developed and demonstrated without requiring a live analytical database for every run.</a:t>
            </a:r>
          </a:p>
        </p:txBody>
      </p:sp>
      <p:cxnSp>
        <p:nvCxnSpPr>
          <p:cNvPr id="5" name="Connector 4"/>
          <p:cNvCxnSpPr/>
          <p:nvPr/>
        </p:nvCxnSpPr>
        <p:spPr>
          <a:xfrm>
            <a:off x="502920" y="1517904"/>
            <a:ext cx="11183112" cy="0"/>
          </a:xfrm>
          <a:prstGeom prst="line">
            <a:avLst/>
          </a:prstGeom>
          <a:ln w="10160">
            <a:solidFill>
              <a:srgbClr val="2B3A4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292840" y="283464"/>
            <a:ext cx="384048" cy="201168"/>
          </a:xfrm>
          <a:prstGeom prst="rect">
            <a:avLst/>
          </a:prstGeom>
          <a:noFill/>
        </p:spPr>
        <p:txBody>
          <a:bodyPr wrap="square" lIns="36576" tIns="36576" rIns="36576" bIns="36576" anchor="t">
            <a:spAutoFit/>
          </a:bodyPr>
          <a:lstStyle/>
          <a:p>
            <a:pPr algn="r">
              <a:spcBef>
                <a:spcPts val="0"/>
              </a:spcBef>
              <a:spcAft>
                <a:spcPts val="0"/>
              </a:spcAft>
            </a:pPr>
            <a:r>
              <a:rPr sz="900" b="1" i="0">
                <a:solidFill>
                  <a:srgbClr val="A4B4C1"/>
                </a:solidFill>
                <a:latin typeface="Cascadia Code"/>
              </a:rPr>
              <a:t>04</a:t>
            </a:r>
          </a:p>
        </p:txBody>
      </p:sp>
      <p:cxnSp>
        <p:nvCxnSpPr>
          <p:cNvPr id="7" name="Connector 6"/>
          <p:cNvCxnSpPr/>
          <p:nvPr/>
        </p:nvCxnSpPr>
        <p:spPr>
          <a:xfrm>
            <a:off x="502920" y="6510528"/>
            <a:ext cx="11183112" cy="0"/>
          </a:xfrm>
          <a:prstGeom prst="line">
            <a:avLst/>
          </a:prstGeom>
          <a:ln w="7620">
            <a:solidFill>
              <a:srgbClr val="2B3A4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56248"/>
            <a:ext cx="6858000" cy="146304"/>
          </a:xfrm>
          <a:prstGeom prst="rect">
            <a:avLst/>
          </a:prstGeom>
          <a:noFill/>
        </p:spPr>
        <p:txBody>
          <a:bodyPr wrap="square" lIns="36576" tIns="36576" rIns="36576" bIns="36576" anchor="t">
            <a:spAutoFit/>
          </a:bodyPr>
          <a:lstStyle/>
          <a:p>
            <a:pPr algn="l">
              <a:spcBef>
                <a:spcPts val="0"/>
              </a:spcBef>
              <a:spcAft>
                <a:spcPts val="0"/>
              </a:spcAft>
            </a:pPr>
            <a:r>
              <a:rPr sz="700" b="0" i="0">
                <a:solidFill>
                  <a:srgbClr val="A4B4C1"/>
                </a:solidFill>
                <a:latin typeface="Cascadia Code"/>
              </a:rPr>
              <a:t>ADPILOT D2C INTELLIGENCE  /  TECHNICAL ARCHITECTURE</a:t>
            </a:r>
          </a:p>
        </p:txBody>
      </p:sp>
      <p:sp>
        <p:nvSpPr>
          <p:cNvPr id="9" name="TextBox 8"/>
          <p:cNvSpPr txBox="1"/>
          <p:nvPr/>
        </p:nvSpPr>
        <p:spPr>
          <a:xfrm>
            <a:off x="11064240" y="6547104"/>
            <a:ext cx="594360" cy="181588"/>
          </a:xfrm>
          <a:prstGeom prst="rect">
            <a:avLst/>
          </a:prstGeom>
          <a:noFill/>
        </p:spPr>
        <p:txBody>
          <a:bodyPr wrap="square" lIns="36576" tIns="36576" rIns="36576" bIns="36576" anchor="t">
            <a:spAutoFit/>
          </a:bodyPr>
          <a:lstStyle/>
          <a:p>
            <a:pPr algn="r">
              <a:spcBef>
                <a:spcPts val="0"/>
              </a:spcBef>
              <a:spcAft>
                <a:spcPts val="0"/>
              </a:spcAft>
            </a:pPr>
            <a:r>
              <a:rPr sz="700" b="0" i="0" dirty="0">
                <a:solidFill>
                  <a:srgbClr val="A4B4C1"/>
                </a:solidFill>
                <a:latin typeface="Cascadia Code"/>
              </a:rPr>
              <a:t>04 / </a:t>
            </a:r>
            <a:r>
              <a:rPr lang="en-IN" sz="700" b="0" i="0" dirty="0">
                <a:solidFill>
                  <a:srgbClr val="A4B4C1"/>
                </a:solidFill>
                <a:latin typeface="Cascadia Code"/>
              </a:rPr>
              <a:t>16</a:t>
            </a:r>
            <a:endParaRPr sz="700" b="0" i="0" dirty="0">
              <a:solidFill>
                <a:srgbClr val="A4B4C1"/>
              </a:solidFill>
              <a:latin typeface="Cascadia Code"/>
            </a:endParaRPr>
          </a:p>
        </p:txBody>
      </p:sp>
      <p:sp>
        <p:nvSpPr>
          <p:cNvPr id="10" name="Rounded Rectangle 9"/>
          <p:cNvSpPr/>
          <p:nvPr/>
        </p:nvSpPr>
        <p:spPr>
          <a:xfrm>
            <a:off x="658368" y="1920240"/>
            <a:ext cx="2148840" cy="841248"/>
          </a:xfrm>
          <a:prstGeom prst="roundRect">
            <a:avLst>
              <a:gd name="adj" fmla="val 12000"/>
            </a:avLst>
          </a:prstGeom>
          <a:solidFill>
            <a:srgbClr val="121B28"/>
          </a:solidFill>
          <a:ln w="10160">
            <a:solidFill>
              <a:srgbClr val="6A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8368" y="1920240"/>
            <a:ext cx="64008" cy="841248"/>
          </a:xfrm>
          <a:prstGeom prst="rect">
            <a:avLst/>
          </a:prstGeom>
          <a:solidFill>
            <a:srgbClr val="6AAAFF"/>
          </a:solidFill>
          <a:ln w="10160">
            <a:solidFill>
              <a:srgbClr val="6A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59" y="2011680"/>
            <a:ext cx="1856232"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REQUEST DATA</a:t>
            </a:r>
          </a:p>
        </p:txBody>
      </p:sp>
      <p:sp>
        <p:nvSpPr>
          <p:cNvPr id="13" name="TextBox 12"/>
          <p:cNvSpPr txBox="1"/>
          <p:nvPr/>
        </p:nvSpPr>
        <p:spPr>
          <a:xfrm>
            <a:off x="822959" y="2304288"/>
            <a:ext cx="1856232" cy="393192"/>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Overview / campaigns / summary</a:t>
            </a:r>
          </a:p>
        </p:txBody>
      </p:sp>
      <p:sp>
        <p:nvSpPr>
          <p:cNvPr id="14" name="Rounded Rectangle 13"/>
          <p:cNvSpPr/>
          <p:nvPr/>
        </p:nvSpPr>
        <p:spPr>
          <a:xfrm>
            <a:off x="3200400" y="1920240"/>
            <a:ext cx="2286000" cy="841248"/>
          </a:xfrm>
          <a:prstGeom prst="roundRect">
            <a:avLst>
              <a:gd name="adj" fmla="val 12000"/>
            </a:avLst>
          </a:prstGeom>
          <a:solidFill>
            <a:srgbClr val="121B28"/>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0" y="1920240"/>
            <a:ext cx="64008" cy="841248"/>
          </a:xfrm>
          <a:prstGeom prst="rect">
            <a:avLst/>
          </a:prstGeom>
          <a:solidFill>
            <a:srgbClr val="BEF264"/>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64992" y="2011680"/>
            <a:ext cx="1993392"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load_frame()</a:t>
            </a:r>
          </a:p>
        </p:txBody>
      </p:sp>
      <p:sp>
        <p:nvSpPr>
          <p:cNvPr id="17" name="TextBox 16"/>
          <p:cNvSpPr txBox="1"/>
          <p:nvPr/>
        </p:nvSpPr>
        <p:spPr>
          <a:xfrm>
            <a:off x="3364992" y="2304288"/>
            <a:ext cx="1993392" cy="393192"/>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Resolve mode and source</a:t>
            </a:r>
          </a:p>
        </p:txBody>
      </p:sp>
      <p:sp>
        <p:nvSpPr>
          <p:cNvPr id="18" name="Rounded Rectangle 17"/>
          <p:cNvSpPr/>
          <p:nvPr/>
        </p:nvSpPr>
        <p:spPr>
          <a:xfrm>
            <a:off x="5989320" y="1920240"/>
            <a:ext cx="2286000" cy="841248"/>
          </a:xfrm>
          <a:prstGeom prst="roundRect">
            <a:avLst>
              <a:gd name="adj" fmla="val 12000"/>
            </a:avLst>
          </a:prstGeom>
          <a:solidFill>
            <a:srgbClr val="121B28"/>
          </a:solidFill>
          <a:ln w="10160">
            <a:solidFill>
              <a:srgbClr val="FFC4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989320" y="1920240"/>
            <a:ext cx="64008" cy="841248"/>
          </a:xfrm>
          <a:prstGeom prst="rect">
            <a:avLst/>
          </a:prstGeom>
          <a:solidFill>
            <a:srgbClr val="FFC45C"/>
          </a:solidFill>
          <a:ln w="10160">
            <a:solidFill>
              <a:srgbClr val="FFC4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53912" y="2011680"/>
            <a:ext cx="1993392"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DEMO MODE?</a:t>
            </a:r>
          </a:p>
        </p:txBody>
      </p:sp>
      <p:sp>
        <p:nvSpPr>
          <p:cNvPr id="21" name="TextBox 20"/>
          <p:cNvSpPr txBox="1"/>
          <p:nvPr/>
        </p:nvSpPr>
        <p:spPr>
          <a:xfrm>
            <a:off x="6153912" y="2304288"/>
            <a:ext cx="1993392" cy="393192"/>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ADPILOT_DEMO_MODE</a:t>
            </a:r>
          </a:p>
        </p:txBody>
      </p:sp>
      <p:sp>
        <p:nvSpPr>
          <p:cNvPr id="22" name="Rounded Rectangle 21"/>
          <p:cNvSpPr/>
          <p:nvPr/>
        </p:nvSpPr>
        <p:spPr>
          <a:xfrm>
            <a:off x="8869680" y="1755648"/>
            <a:ext cx="2377440" cy="822960"/>
          </a:xfrm>
          <a:prstGeom prst="roundRect">
            <a:avLst>
              <a:gd name="adj" fmla="val 12000"/>
            </a:avLst>
          </a:prstGeom>
          <a:solidFill>
            <a:srgbClr val="121B28"/>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869680" y="1755648"/>
            <a:ext cx="64008" cy="822960"/>
          </a:xfrm>
          <a:prstGeom prst="rect">
            <a:avLst/>
          </a:prstGeom>
          <a:solidFill>
            <a:srgbClr val="4BDCBE"/>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034272" y="1847088"/>
            <a:ext cx="2084832"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CSV PATH</a:t>
            </a:r>
          </a:p>
        </p:txBody>
      </p:sp>
      <p:sp>
        <p:nvSpPr>
          <p:cNvPr id="25" name="TextBox 24"/>
          <p:cNvSpPr txBox="1"/>
          <p:nvPr/>
        </p:nvSpPr>
        <p:spPr>
          <a:xfrm>
            <a:off x="9034272" y="2139696"/>
            <a:ext cx="2084832" cy="374904"/>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DEFAULT_CSV → validate_csv()</a:t>
            </a:r>
          </a:p>
        </p:txBody>
      </p:sp>
      <p:sp>
        <p:nvSpPr>
          <p:cNvPr id="26" name="Rounded Rectangle 25"/>
          <p:cNvSpPr/>
          <p:nvPr/>
        </p:nvSpPr>
        <p:spPr>
          <a:xfrm>
            <a:off x="8869680" y="2852928"/>
            <a:ext cx="2377440" cy="822960"/>
          </a:xfrm>
          <a:prstGeom prst="roundRect">
            <a:avLst>
              <a:gd name="adj" fmla="val 12000"/>
            </a:avLst>
          </a:prstGeom>
          <a:solidFill>
            <a:srgbClr val="121B28"/>
          </a:solidFill>
          <a:ln w="10160">
            <a:solidFill>
              <a:srgbClr val="6A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869680" y="2852928"/>
            <a:ext cx="64008" cy="822960"/>
          </a:xfrm>
          <a:prstGeom prst="rect">
            <a:avLst/>
          </a:prstGeom>
          <a:solidFill>
            <a:srgbClr val="6AAAFF"/>
          </a:solidFill>
          <a:ln w="10160">
            <a:solidFill>
              <a:srgbClr val="6A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034272" y="2944368"/>
            <a:ext cx="2084832"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EXASOL PATH</a:t>
            </a:r>
          </a:p>
        </p:txBody>
      </p:sp>
      <p:sp>
        <p:nvSpPr>
          <p:cNvPr id="29" name="TextBox 28"/>
          <p:cNvSpPr txBox="1"/>
          <p:nvPr/>
        </p:nvSpPr>
        <p:spPr>
          <a:xfrm>
            <a:off x="9034272" y="3236976"/>
            <a:ext cx="2084832" cy="374904"/>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fetch_exasol_frame()</a:t>
            </a:r>
          </a:p>
        </p:txBody>
      </p:sp>
      <p:sp>
        <p:nvSpPr>
          <p:cNvPr id="30" name="Rounded Rectangle 29"/>
          <p:cNvSpPr/>
          <p:nvPr/>
        </p:nvSpPr>
        <p:spPr>
          <a:xfrm>
            <a:off x="5989320" y="4069080"/>
            <a:ext cx="2286000" cy="841248"/>
          </a:xfrm>
          <a:prstGeom prst="roundRect">
            <a:avLst>
              <a:gd name="adj" fmla="val 12000"/>
            </a:avLst>
          </a:prstGeom>
          <a:solidFill>
            <a:srgbClr val="121B28"/>
          </a:solidFill>
          <a:ln w="10160">
            <a:solidFill>
              <a:srgbClr val="FFC4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989320" y="4069080"/>
            <a:ext cx="64008" cy="841248"/>
          </a:xfrm>
          <a:prstGeom prst="rect">
            <a:avLst/>
          </a:prstGeom>
          <a:solidFill>
            <a:srgbClr val="FFC45C"/>
          </a:solidFill>
          <a:ln w="10160">
            <a:solidFill>
              <a:srgbClr val="FFC4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153912" y="4160520"/>
            <a:ext cx="1993392"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SOURCE FAILURE?</a:t>
            </a:r>
          </a:p>
        </p:txBody>
      </p:sp>
      <p:sp>
        <p:nvSpPr>
          <p:cNvPr id="33" name="TextBox 32"/>
          <p:cNvSpPr txBox="1"/>
          <p:nvPr/>
        </p:nvSpPr>
        <p:spPr>
          <a:xfrm>
            <a:off x="6153912" y="4453128"/>
            <a:ext cx="1993392" cy="393192"/>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Connection / query failure</a:t>
            </a:r>
          </a:p>
        </p:txBody>
      </p:sp>
      <p:sp>
        <p:nvSpPr>
          <p:cNvPr id="34" name="Rounded Rectangle 33"/>
          <p:cNvSpPr/>
          <p:nvPr/>
        </p:nvSpPr>
        <p:spPr>
          <a:xfrm>
            <a:off x="8869680" y="4069080"/>
            <a:ext cx="2377440" cy="841248"/>
          </a:xfrm>
          <a:prstGeom prst="roundRect">
            <a:avLst>
              <a:gd name="adj" fmla="val 12000"/>
            </a:avLst>
          </a:prstGeom>
          <a:solidFill>
            <a:srgbClr val="121B28"/>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869680" y="4069080"/>
            <a:ext cx="64008" cy="841248"/>
          </a:xfrm>
          <a:prstGeom prst="rect">
            <a:avLst/>
          </a:prstGeom>
          <a:solidFill>
            <a:srgbClr val="4BDCBE"/>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034272" y="4160520"/>
            <a:ext cx="2084832"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CSV FALLBACK</a:t>
            </a:r>
          </a:p>
        </p:txBody>
      </p:sp>
      <p:sp>
        <p:nvSpPr>
          <p:cNvPr id="37" name="TextBox 36"/>
          <p:cNvSpPr txBox="1"/>
          <p:nvPr/>
        </p:nvSpPr>
        <p:spPr>
          <a:xfrm>
            <a:off x="9034272" y="4453128"/>
            <a:ext cx="2084832" cy="393192"/>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Use validated local frame</a:t>
            </a:r>
          </a:p>
        </p:txBody>
      </p:sp>
      <p:sp>
        <p:nvSpPr>
          <p:cNvPr id="44" name="TextBox 43"/>
          <p:cNvSpPr txBox="1"/>
          <p:nvPr/>
        </p:nvSpPr>
        <p:spPr>
          <a:xfrm>
            <a:off x="749808" y="5166360"/>
            <a:ext cx="10789920" cy="731520"/>
          </a:xfrm>
          <a:prstGeom prst="rect">
            <a:avLst/>
          </a:prstGeom>
          <a:noFill/>
        </p:spPr>
        <p:txBody>
          <a:bodyPr wrap="square" lIns="36576" tIns="36576" rIns="36576" bIns="36576" anchor="t">
            <a:spAutoFit/>
          </a:bodyPr>
          <a:lstStyle/>
          <a:p>
            <a:pPr algn="l">
              <a:spcBef>
                <a:spcPts val="0"/>
              </a:spcBef>
              <a:spcAft>
                <a:spcPts val="0"/>
              </a:spcAft>
            </a:pPr>
            <a:r>
              <a:rPr sz="1000" b="0" i="0">
                <a:solidFill>
                  <a:srgbClr val="A4B4C1"/>
                </a:solidFill>
                <a:latin typeface="Cascadia Code"/>
              </a:rPr>
              <a:t>Configuration surface: SOURCE_TABLE = DQPS.RAW_D2C_DATA · EXASOL_DSN / EXASOL_USER / EXASOL_PASSWORD · ADPILOT_DATA_CACHE_TTL_SECONDS · DEFAULT_CSV</a:t>
            </a:r>
          </a:p>
        </p:txBody>
      </p:sp>
      <p:sp>
        <p:nvSpPr>
          <p:cNvPr id="45" name="TextBox 44"/>
          <p:cNvSpPr txBox="1"/>
          <p:nvPr/>
        </p:nvSpPr>
        <p:spPr>
          <a:xfrm>
            <a:off x="749808" y="5925312"/>
            <a:ext cx="10789920" cy="256032"/>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BEF264"/>
                </a:solidFill>
                <a:latin typeface="Aptos"/>
              </a:rPr>
              <a:t>Engineering value: reproducible local demos, simpler development, and a controlled fallback when the external data dependency is unavailable.</a:t>
            </a:r>
          </a:p>
        </p:txBody>
      </p:sp>
      <p:cxnSp>
        <p:nvCxnSpPr>
          <p:cNvPr id="46" name="Connector 45"/>
          <p:cNvCxnSpPr/>
          <p:nvPr/>
        </p:nvCxnSpPr>
        <p:spPr>
          <a:xfrm>
            <a:off x="2807208" y="2340864"/>
            <a:ext cx="393192" cy="0"/>
          </a:xfrm>
          <a:prstGeom prst="line">
            <a:avLst/>
          </a:prstGeom>
          <a:ln w="25400">
            <a:solidFill>
              <a:srgbClr val="6AAAF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486400" y="2340864"/>
            <a:ext cx="502920" cy="0"/>
          </a:xfrm>
          <a:prstGeom prst="line">
            <a:avLst/>
          </a:prstGeom>
          <a:ln w="25400">
            <a:solidFill>
              <a:srgbClr val="BEF264"/>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275320" y="2340864"/>
            <a:ext cx="274320" cy="0"/>
          </a:xfrm>
          <a:prstGeom prst="line">
            <a:avLst/>
          </a:prstGeom>
          <a:ln w="22860">
            <a:solidFill>
              <a:srgbClr val="FFC45C"/>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549640" y="2167128"/>
            <a:ext cx="0" cy="173736"/>
          </a:xfrm>
          <a:prstGeom prst="line">
            <a:avLst/>
          </a:prstGeom>
          <a:ln w="22860">
            <a:solidFill>
              <a:srgbClr val="FFC45C"/>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549640" y="2167128"/>
            <a:ext cx="320040" cy="0"/>
          </a:xfrm>
          <a:prstGeom prst="line">
            <a:avLst/>
          </a:prstGeom>
          <a:ln w="22860">
            <a:solidFill>
              <a:srgbClr val="FFC45C"/>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549640" y="2340864"/>
            <a:ext cx="0" cy="923544"/>
          </a:xfrm>
          <a:prstGeom prst="line">
            <a:avLst/>
          </a:prstGeom>
          <a:ln w="22860">
            <a:solidFill>
              <a:srgbClr val="6AAAFF"/>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549640" y="3264408"/>
            <a:ext cx="320040" cy="0"/>
          </a:xfrm>
          <a:prstGeom prst="line">
            <a:avLst/>
          </a:prstGeom>
          <a:ln w="22860">
            <a:solidFill>
              <a:srgbClr val="6AAAF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0058400" y="3675887"/>
            <a:ext cx="0" cy="164593"/>
          </a:xfrm>
          <a:prstGeom prst="line">
            <a:avLst/>
          </a:prstGeom>
          <a:ln w="22860">
            <a:solidFill>
              <a:srgbClr val="FFC45C"/>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7132320" y="3840480"/>
            <a:ext cx="2926080" cy="0"/>
          </a:xfrm>
          <a:prstGeom prst="line">
            <a:avLst/>
          </a:prstGeom>
          <a:ln w="22860">
            <a:solidFill>
              <a:srgbClr val="FFC45C"/>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132320" y="3840480"/>
            <a:ext cx="0" cy="228600"/>
          </a:xfrm>
          <a:prstGeom prst="line">
            <a:avLst/>
          </a:prstGeom>
          <a:ln w="22860">
            <a:solidFill>
              <a:srgbClr val="FFC45C"/>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8275320" y="4489704"/>
            <a:ext cx="594360" cy="0"/>
          </a:xfrm>
          <a:prstGeom prst="line">
            <a:avLst/>
          </a:prstGeom>
          <a:ln w="22860">
            <a:solidFill>
              <a:srgbClr val="4BDCB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F18"/>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8961120" cy="219456"/>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BEF264"/>
                </a:solidFill>
                <a:latin typeface="Cascadia Code"/>
              </a:rPr>
              <a:t>04 / DATA QUALITY</a:t>
            </a:r>
          </a:p>
        </p:txBody>
      </p:sp>
      <p:sp>
        <p:nvSpPr>
          <p:cNvPr id="3" name="TextBox 2"/>
          <p:cNvSpPr txBox="1"/>
          <p:nvPr/>
        </p:nvSpPr>
        <p:spPr>
          <a:xfrm>
            <a:off x="502920" y="557784"/>
            <a:ext cx="11155680" cy="475488"/>
          </a:xfrm>
          <a:prstGeom prst="rect">
            <a:avLst/>
          </a:prstGeom>
          <a:noFill/>
        </p:spPr>
        <p:txBody>
          <a:bodyPr wrap="square" lIns="36576" tIns="36576" rIns="36576" bIns="36576" anchor="t">
            <a:spAutoFit/>
          </a:bodyPr>
          <a:lstStyle/>
          <a:p>
            <a:pPr algn="l">
              <a:spcBef>
                <a:spcPts val="0"/>
              </a:spcBef>
              <a:spcAft>
                <a:spcPts val="0"/>
              </a:spcAft>
            </a:pPr>
            <a:r>
              <a:rPr sz="2500" b="1" i="0">
                <a:solidFill>
                  <a:srgbClr val="EEF4F7"/>
                </a:solidFill>
                <a:latin typeface="Aptos"/>
              </a:rPr>
              <a:t>Validation and normalization before analytics</a:t>
            </a:r>
          </a:p>
        </p:txBody>
      </p:sp>
      <p:sp>
        <p:nvSpPr>
          <p:cNvPr id="4" name="TextBox 3"/>
          <p:cNvSpPr txBox="1"/>
          <p:nvPr/>
        </p:nvSpPr>
        <p:spPr>
          <a:xfrm>
            <a:off x="530352" y="1078992"/>
            <a:ext cx="10972800" cy="38404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A4B4C1"/>
                </a:solidFill>
                <a:latin typeface="Aptos"/>
              </a:rPr>
              <a:t>The data contract is the guardrail between a successful load and a trustworthy KPI.</a:t>
            </a:r>
          </a:p>
        </p:txBody>
      </p:sp>
      <p:cxnSp>
        <p:nvCxnSpPr>
          <p:cNvPr id="5" name="Connector 4"/>
          <p:cNvCxnSpPr/>
          <p:nvPr/>
        </p:nvCxnSpPr>
        <p:spPr>
          <a:xfrm>
            <a:off x="502920" y="1517904"/>
            <a:ext cx="11183112" cy="0"/>
          </a:xfrm>
          <a:prstGeom prst="line">
            <a:avLst/>
          </a:prstGeom>
          <a:ln w="10160">
            <a:solidFill>
              <a:srgbClr val="2B3A4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292840" y="283464"/>
            <a:ext cx="384048" cy="201168"/>
          </a:xfrm>
          <a:prstGeom prst="rect">
            <a:avLst/>
          </a:prstGeom>
          <a:noFill/>
        </p:spPr>
        <p:txBody>
          <a:bodyPr wrap="square" lIns="36576" tIns="36576" rIns="36576" bIns="36576" anchor="t">
            <a:spAutoFit/>
          </a:bodyPr>
          <a:lstStyle/>
          <a:p>
            <a:pPr algn="r">
              <a:spcBef>
                <a:spcPts val="0"/>
              </a:spcBef>
              <a:spcAft>
                <a:spcPts val="0"/>
              </a:spcAft>
            </a:pPr>
            <a:r>
              <a:rPr sz="900" b="1" i="0">
                <a:solidFill>
                  <a:srgbClr val="A4B4C1"/>
                </a:solidFill>
                <a:latin typeface="Cascadia Code"/>
              </a:rPr>
              <a:t>05</a:t>
            </a:r>
          </a:p>
        </p:txBody>
      </p:sp>
      <p:cxnSp>
        <p:nvCxnSpPr>
          <p:cNvPr id="7" name="Connector 6"/>
          <p:cNvCxnSpPr/>
          <p:nvPr/>
        </p:nvCxnSpPr>
        <p:spPr>
          <a:xfrm>
            <a:off x="502920" y="6510528"/>
            <a:ext cx="11183112" cy="0"/>
          </a:xfrm>
          <a:prstGeom prst="line">
            <a:avLst/>
          </a:prstGeom>
          <a:ln w="7620">
            <a:solidFill>
              <a:srgbClr val="2B3A4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56248"/>
            <a:ext cx="6858000" cy="146304"/>
          </a:xfrm>
          <a:prstGeom prst="rect">
            <a:avLst/>
          </a:prstGeom>
          <a:noFill/>
        </p:spPr>
        <p:txBody>
          <a:bodyPr wrap="square" lIns="36576" tIns="36576" rIns="36576" bIns="36576" anchor="t">
            <a:spAutoFit/>
          </a:bodyPr>
          <a:lstStyle/>
          <a:p>
            <a:pPr algn="l">
              <a:spcBef>
                <a:spcPts val="0"/>
              </a:spcBef>
              <a:spcAft>
                <a:spcPts val="0"/>
              </a:spcAft>
            </a:pPr>
            <a:r>
              <a:rPr sz="700" b="0" i="0">
                <a:solidFill>
                  <a:srgbClr val="A4B4C1"/>
                </a:solidFill>
                <a:latin typeface="Cascadia Code"/>
              </a:rPr>
              <a:t>ADPILOT D2C INTELLIGENCE  /  TECHNICAL ARCHITECTURE</a:t>
            </a:r>
          </a:p>
        </p:txBody>
      </p:sp>
      <p:sp>
        <p:nvSpPr>
          <p:cNvPr id="9" name="TextBox 8"/>
          <p:cNvSpPr txBox="1"/>
          <p:nvPr/>
        </p:nvSpPr>
        <p:spPr>
          <a:xfrm>
            <a:off x="11064240" y="6547104"/>
            <a:ext cx="594360" cy="181588"/>
          </a:xfrm>
          <a:prstGeom prst="rect">
            <a:avLst/>
          </a:prstGeom>
          <a:noFill/>
        </p:spPr>
        <p:txBody>
          <a:bodyPr wrap="square" lIns="36576" tIns="36576" rIns="36576" bIns="36576" anchor="t">
            <a:spAutoFit/>
          </a:bodyPr>
          <a:lstStyle/>
          <a:p>
            <a:pPr algn="r">
              <a:spcBef>
                <a:spcPts val="0"/>
              </a:spcBef>
              <a:spcAft>
                <a:spcPts val="0"/>
              </a:spcAft>
            </a:pPr>
            <a:r>
              <a:rPr sz="700" b="0" i="0" dirty="0">
                <a:solidFill>
                  <a:srgbClr val="A4B4C1"/>
                </a:solidFill>
                <a:latin typeface="Cascadia Code"/>
              </a:rPr>
              <a:t>05 / </a:t>
            </a:r>
            <a:r>
              <a:rPr lang="en-IN" sz="700" b="0" i="0" dirty="0">
                <a:solidFill>
                  <a:srgbClr val="A4B4C1"/>
                </a:solidFill>
                <a:latin typeface="Cascadia Code"/>
              </a:rPr>
              <a:t>16</a:t>
            </a:r>
            <a:endParaRPr sz="700" b="0" i="0" dirty="0">
              <a:solidFill>
                <a:srgbClr val="A4B4C1"/>
              </a:solidFill>
              <a:latin typeface="Cascadia Code"/>
            </a:endParaRPr>
          </a:p>
        </p:txBody>
      </p:sp>
      <p:sp>
        <p:nvSpPr>
          <p:cNvPr id="10" name="TextBox 9"/>
          <p:cNvSpPr txBox="1"/>
          <p:nvPr/>
        </p:nvSpPr>
        <p:spPr>
          <a:xfrm>
            <a:off x="713232" y="1783080"/>
            <a:ext cx="1965960" cy="228600"/>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BEF264"/>
                </a:solidFill>
                <a:latin typeface="Cascadia Code"/>
              </a:rPr>
              <a:t>CHECK</a:t>
            </a:r>
          </a:p>
        </p:txBody>
      </p:sp>
      <p:sp>
        <p:nvSpPr>
          <p:cNvPr id="11" name="TextBox 10"/>
          <p:cNvSpPr txBox="1"/>
          <p:nvPr/>
        </p:nvSpPr>
        <p:spPr>
          <a:xfrm>
            <a:off x="2743200" y="1783080"/>
            <a:ext cx="4709160" cy="228600"/>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BEF264"/>
                </a:solidFill>
                <a:latin typeface="Cascadia Code"/>
              </a:rPr>
              <a:t>IMPLEMENTATION INTENT</a:t>
            </a:r>
          </a:p>
        </p:txBody>
      </p:sp>
      <p:sp>
        <p:nvSpPr>
          <p:cNvPr id="12" name="TextBox 11"/>
          <p:cNvSpPr txBox="1"/>
          <p:nvPr/>
        </p:nvSpPr>
        <p:spPr>
          <a:xfrm>
            <a:off x="7543800" y="1783080"/>
            <a:ext cx="3749039" cy="228600"/>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BEF264"/>
                </a:solidFill>
                <a:latin typeface="Cascadia Code"/>
              </a:rPr>
              <a:t>FAILURE PREVENTED</a:t>
            </a:r>
          </a:p>
        </p:txBody>
      </p:sp>
      <p:cxnSp>
        <p:nvCxnSpPr>
          <p:cNvPr id="13" name="Connector 12"/>
          <p:cNvCxnSpPr/>
          <p:nvPr/>
        </p:nvCxnSpPr>
        <p:spPr>
          <a:xfrm>
            <a:off x="685800" y="2075688"/>
            <a:ext cx="10789920" cy="0"/>
          </a:xfrm>
          <a:prstGeom prst="line">
            <a:avLst/>
          </a:prstGeom>
          <a:ln w="10160">
            <a:solidFill>
              <a:srgbClr val="2B3A49"/>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676656" y="2194560"/>
            <a:ext cx="10808208" cy="521207"/>
          </a:xfrm>
          <a:prstGeom prst="rect">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4672" y="2295144"/>
            <a:ext cx="1828800" cy="27432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4BDCBE"/>
                </a:solidFill>
                <a:latin typeface="Aptos"/>
              </a:rPr>
              <a:t>Expected columns</a:t>
            </a:r>
          </a:p>
        </p:txBody>
      </p:sp>
      <p:sp>
        <p:nvSpPr>
          <p:cNvPr id="16" name="TextBox 15"/>
          <p:cNvSpPr txBox="1"/>
          <p:nvPr/>
        </p:nvSpPr>
        <p:spPr>
          <a:xfrm>
            <a:off x="2743200" y="2276856"/>
            <a:ext cx="4617720" cy="329184"/>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EEF4F7"/>
                </a:solidFill>
                <a:latin typeface="Aptos"/>
              </a:rPr>
              <a:t>Compare incoming fields with CSV_COLUMNS / required schema.</a:t>
            </a:r>
          </a:p>
        </p:txBody>
      </p:sp>
      <p:sp>
        <p:nvSpPr>
          <p:cNvPr id="17" name="TextBox 16"/>
          <p:cNvSpPr txBox="1"/>
          <p:nvPr/>
        </p:nvSpPr>
        <p:spPr>
          <a:xfrm>
            <a:off x="7543800" y="2276856"/>
            <a:ext cx="3703320" cy="329184"/>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Missing or misnamed fields silently becoming nulls</a:t>
            </a:r>
          </a:p>
        </p:txBody>
      </p:sp>
      <p:sp>
        <p:nvSpPr>
          <p:cNvPr id="18" name="Rectangle 17"/>
          <p:cNvSpPr/>
          <p:nvPr/>
        </p:nvSpPr>
        <p:spPr>
          <a:xfrm>
            <a:off x="676656" y="2825496"/>
            <a:ext cx="10808208" cy="521207"/>
          </a:xfrm>
          <a:prstGeom prst="rect">
            <a:avLst/>
          </a:prstGeom>
          <a:solidFill>
            <a:srgbClr val="172331"/>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2" y="2926079"/>
            <a:ext cx="1828800" cy="27432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6AAAFF"/>
                </a:solidFill>
                <a:latin typeface="Aptos"/>
              </a:rPr>
              <a:t>Numeric coercion</a:t>
            </a:r>
          </a:p>
        </p:txBody>
      </p:sp>
      <p:sp>
        <p:nvSpPr>
          <p:cNvPr id="20" name="TextBox 19"/>
          <p:cNvSpPr txBox="1"/>
          <p:nvPr/>
        </p:nvSpPr>
        <p:spPr>
          <a:xfrm>
            <a:off x="2743200" y="2907791"/>
            <a:ext cx="4617720" cy="329184"/>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EEF4F7"/>
                </a:solidFill>
                <a:latin typeface="Aptos"/>
              </a:rPr>
              <a:t>Normalize NUMERIC_COLUMNS to numeric representations.</a:t>
            </a:r>
          </a:p>
        </p:txBody>
      </p:sp>
      <p:sp>
        <p:nvSpPr>
          <p:cNvPr id="21" name="TextBox 20"/>
          <p:cNvSpPr txBox="1"/>
          <p:nvPr/>
        </p:nvSpPr>
        <p:spPr>
          <a:xfrm>
            <a:off x="7543800" y="2907791"/>
            <a:ext cx="3703320" cy="329184"/>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String values breaking sums or producing mixed-type behavior</a:t>
            </a:r>
          </a:p>
        </p:txBody>
      </p:sp>
      <p:sp>
        <p:nvSpPr>
          <p:cNvPr id="22" name="Rectangle 21"/>
          <p:cNvSpPr/>
          <p:nvPr/>
        </p:nvSpPr>
        <p:spPr>
          <a:xfrm>
            <a:off x="676656" y="3456432"/>
            <a:ext cx="10808208" cy="521207"/>
          </a:xfrm>
          <a:prstGeom prst="rect">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672" y="3557015"/>
            <a:ext cx="1828800" cy="27432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BE9BFF"/>
                </a:solidFill>
                <a:latin typeface="Aptos"/>
              </a:rPr>
              <a:t>IDs and dates</a:t>
            </a:r>
          </a:p>
        </p:txBody>
      </p:sp>
      <p:sp>
        <p:nvSpPr>
          <p:cNvPr id="24" name="TextBox 23"/>
          <p:cNvSpPr txBox="1"/>
          <p:nvPr/>
        </p:nvSpPr>
        <p:spPr>
          <a:xfrm>
            <a:off x="2743200" y="3538727"/>
            <a:ext cx="4617720" cy="329184"/>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EEF4F7"/>
                </a:solidFill>
                <a:latin typeface="Aptos"/>
              </a:rPr>
              <a:t>Validate identifiers and parse date-like fields before grouping.</a:t>
            </a:r>
          </a:p>
        </p:txBody>
      </p:sp>
      <p:sp>
        <p:nvSpPr>
          <p:cNvPr id="25" name="TextBox 24"/>
          <p:cNvSpPr txBox="1"/>
          <p:nvPr/>
        </p:nvSpPr>
        <p:spPr>
          <a:xfrm>
            <a:off x="7543800" y="3538727"/>
            <a:ext cx="3703320" cy="329184"/>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Unstable joins, malformed chronology, bad filters</a:t>
            </a:r>
          </a:p>
        </p:txBody>
      </p:sp>
      <p:sp>
        <p:nvSpPr>
          <p:cNvPr id="26" name="Rectangle 25"/>
          <p:cNvSpPr/>
          <p:nvPr/>
        </p:nvSpPr>
        <p:spPr>
          <a:xfrm>
            <a:off x="676656" y="4087368"/>
            <a:ext cx="10808208" cy="521207"/>
          </a:xfrm>
          <a:prstGeom prst="rect">
            <a:avLst/>
          </a:prstGeom>
          <a:solidFill>
            <a:srgbClr val="172331"/>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4672" y="4187952"/>
            <a:ext cx="1828800" cy="27432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FFC45C"/>
                </a:solidFill>
                <a:latin typeface="Aptos"/>
              </a:rPr>
              <a:t>Duplicate checks</a:t>
            </a:r>
          </a:p>
        </p:txBody>
      </p:sp>
      <p:sp>
        <p:nvSpPr>
          <p:cNvPr id="28" name="TextBox 27"/>
          <p:cNvSpPr txBox="1"/>
          <p:nvPr/>
        </p:nvSpPr>
        <p:spPr>
          <a:xfrm>
            <a:off x="2743200" y="4169663"/>
            <a:ext cx="4617720" cy="329184"/>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EEF4F7"/>
                </a:solidFill>
                <a:latin typeface="Aptos"/>
              </a:rPr>
              <a:t>Detect repeated records using the project’s defined duplicate criteria.</a:t>
            </a:r>
          </a:p>
        </p:txBody>
      </p:sp>
      <p:sp>
        <p:nvSpPr>
          <p:cNvPr id="29" name="TextBox 28"/>
          <p:cNvSpPr txBox="1"/>
          <p:nvPr/>
        </p:nvSpPr>
        <p:spPr>
          <a:xfrm>
            <a:off x="7543800" y="4169663"/>
            <a:ext cx="3703320" cy="329184"/>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Double-counted spend, revenue or conversions</a:t>
            </a:r>
          </a:p>
        </p:txBody>
      </p:sp>
      <p:sp>
        <p:nvSpPr>
          <p:cNvPr id="30" name="Rectangle 29"/>
          <p:cNvSpPr/>
          <p:nvPr/>
        </p:nvSpPr>
        <p:spPr>
          <a:xfrm>
            <a:off x="676656" y="4718304"/>
            <a:ext cx="10808208" cy="521207"/>
          </a:xfrm>
          <a:prstGeom prst="rect">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4672" y="4818888"/>
            <a:ext cx="1828800" cy="27432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FF7070"/>
                </a:solidFill>
                <a:latin typeface="Aptos"/>
              </a:rPr>
              <a:t>Quality warnings</a:t>
            </a:r>
          </a:p>
        </p:txBody>
      </p:sp>
      <p:sp>
        <p:nvSpPr>
          <p:cNvPr id="32" name="TextBox 31"/>
          <p:cNvSpPr txBox="1"/>
          <p:nvPr/>
        </p:nvSpPr>
        <p:spPr>
          <a:xfrm>
            <a:off x="2743200" y="4800600"/>
            <a:ext cx="4617720" cy="329184"/>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EEF4F7"/>
                </a:solidFill>
                <a:latin typeface="Aptos"/>
              </a:rPr>
              <a:t>Surface suspicious or incomplete input rather than hiding it.</a:t>
            </a:r>
          </a:p>
        </p:txBody>
      </p:sp>
      <p:sp>
        <p:nvSpPr>
          <p:cNvPr id="33" name="TextBox 32"/>
          <p:cNvSpPr txBox="1"/>
          <p:nvPr/>
        </p:nvSpPr>
        <p:spPr>
          <a:xfrm>
            <a:off x="7543800" y="4800600"/>
            <a:ext cx="3703320" cy="329184"/>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False confidence in incomplete metrics</a:t>
            </a:r>
          </a:p>
        </p:txBody>
      </p:sp>
      <p:sp>
        <p:nvSpPr>
          <p:cNvPr id="34" name="TextBox 33"/>
          <p:cNvSpPr txBox="1"/>
          <p:nvPr/>
        </p:nvSpPr>
        <p:spPr>
          <a:xfrm>
            <a:off x="749808" y="5577840"/>
            <a:ext cx="10789920" cy="457200"/>
          </a:xfrm>
          <a:prstGeom prst="rect">
            <a:avLst/>
          </a:prstGeom>
          <a:noFill/>
        </p:spPr>
        <p:txBody>
          <a:bodyPr wrap="square" lIns="36576" tIns="36576" rIns="36576" bIns="36576" anchor="t">
            <a:spAutoFit/>
          </a:bodyPr>
          <a:lstStyle/>
          <a:p>
            <a:pPr algn="l">
              <a:spcBef>
                <a:spcPts val="0"/>
              </a:spcBef>
              <a:spcAft>
                <a:spcPts val="0"/>
              </a:spcAft>
            </a:pPr>
            <a:r>
              <a:rPr sz="1100" b="1" i="0">
                <a:solidFill>
                  <a:srgbClr val="BEF264"/>
                </a:solidFill>
                <a:latin typeface="Aptos"/>
              </a:rPr>
              <a:t>Quality principle: invalid input should be rejected, normalized explicitly, or accompanied by a warning—never silently treated as a clean dataset.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F18"/>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8961120" cy="219456"/>
          </a:xfrm>
          <a:prstGeom prst="rect">
            <a:avLst/>
          </a:prstGeom>
          <a:noFill/>
        </p:spPr>
        <p:txBody>
          <a:bodyPr wrap="square" lIns="36576" tIns="36576" rIns="36576" bIns="36576" anchor="t">
            <a:spAutoFit/>
          </a:bodyPr>
          <a:lstStyle/>
          <a:p>
            <a:pPr algn="l">
              <a:spcBef>
                <a:spcPts val="0"/>
              </a:spcBef>
              <a:spcAft>
                <a:spcPts val="0"/>
              </a:spcAft>
            </a:pPr>
            <a:r>
              <a:rPr sz="900" b="1" i="0" dirty="0">
                <a:solidFill>
                  <a:srgbClr val="99B36C"/>
                </a:solidFill>
                <a:latin typeface="Cascadia Code"/>
              </a:rPr>
              <a:t>05 / ANALYTICS ENGINE</a:t>
            </a:r>
          </a:p>
        </p:txBody>
      </p:sp>
      <p:sp>
        <p:nvSpPr>
          <p:cNvPr id="3" name="TextBox 2"/>
          <p:cNvSpPr txBox="1"/>
          <p:nvPr/>
        </p:nvSpPr>
        <p:spPr>
          <a:xfrm>
            <a:off x="502920" y="557784"/>
            <a:ext cx="11155680" cy="475488"/>
          </a:xfrm>
          <a:prstGeom prst="rect">
            <a:avLst/>
          </a:prstGeom>
          <a:noFill/>
        </p:spPr>
        <p:txBody>
          <a:bodyPr wrap="square" lIns="36576" tIns="36576" rIns="36576" bIns="36576" anchor="t">
            <a:spAutoFit/>
          </a:bodyPr>
          <a:lstStyle/>
          <a:p>
            <a:pPr algn="l">
              <a:spcBef>
                <a:spcPts val="0"/>
              </a:spcBef>
              <a:spcAft>
                <a:spcPts val="0"/>
              </a:spcAft>
            </a:pPr>
            <a:r>
              <a:rPr sz="2500" b="1" i="0">
                <a:solidFill>
                  <a:srgbClr val="EEF4F7"/>
                </a:solidFill>
                <a:latin typeface="Aptos"/>
              </a:rPr>
              <a:t>Deterministic KPI engine: formulas are explicit and auditable</a:t>
            </a:r>
          </a:p>
        </p:txBody>
      </p:sp>
      <p:sp>
        <p:nvSpPr>
          <p:cNvPr id="4" name="TextBox 3"/>
          <p:cNvSpPr txBox="1"/>
          <p:nvPr/>
        </p:nvSpPr>
        <p:spPr>
          <a:xfrm>
            <a:off x="530352" y="1078992"/>
            <a:ext cx="10972800" cy="250838"/>
          </a:xfrm>
          <a:prstGeom prst="rect">
            <a:avLst/>
          </a:prstGeom>
          <a:noFill/>
        </p:spPr>
        <p:txBody>
          <a:bodyPr wrap="square" lIns="36576" tIns="36576" rIns="36576" bIns="36576" anchor="t">
            <a:spAutoFit/>
          </a:bodyPr>
          <a:lstStyle/>
          <a:p>
            <a:pPr algn="l">
              <a:spcBef>
                <a:spcPts val="0"/>
              </a:spcBef>
              <a:spcAft>
                <a:spcPts val="0"/>
              </a:spcAft>
            </a:pPr>
            <a:r>
              <a:rPr sz="1150" b="0" i="0" dirty="0">
                <a:solidFill>
                  <a:srgbClr val="8C949A"/>
                </a:solidFill>
                <a:latin typeface="Aptos"/>
              </a:rPr>
              <a:t>Metrics are computed in backend logic from aggregate totals, rather than averaging row-level ratios.</a:t>
            </a:r>
          </a:p>
        </p:txBody>
      </p:sp>
      <p:cxnSp>
        <p:nvCxnSpPr>
          <p:cNvPr id="5" name="Connector 4"/>
          <p:cNvCxnSpPr/>
          <p:nvPr/>
        </p:nvCxnSpPr>
        <p:spPr>
          <a:xfrm>
            <a:off x="502920" y="1517904"/>
            <a:ext cx="11183112" cy="0"/>
          </a:xfrm>
          <a:prstGeom prst="line">
            <a:avLst/>
          </a:prstGeom>
          <a:ln w="10160">
            <a:solidFill>
              <a:srgbClr val="2B3A4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292840" y="283464"/>
            <a:ext cx="384048" cy="201168"/>
          </a:xfrm>
          <a:prstGeom prst="rect">
            <a:avLst/>
          </a:prstGeom>
          <a:noFill/>
        </p:spPr>
        <p:txBody>
          <a:bodyPr wrap="square" lIns="36576" tIns="36576" rIns="36576" bIns="36576" anchor="t">
            <a:spAutoFit/>
          </a:bodyPr>
          <a:lstStyle/>
          <a:p>
            <a:pPr algn="r">
              <a:spcBef>
                <a:spcPts val="0"/>
              </a:spcBef>
              <a:spcAft>
                <a:spcPts val="0"/>
              </a:spcAft>
            </a:pPr>
            <a:r>
              <a:rPr sz="900" b="1" i="0">
                <a:solidFill>
                  <a:srgbClr val="A4B4C1"/>
                </a:solidFill>
                <a:latin typeface="Cascadia Code"/>
              </a:rPr>
              <a:t>06</a:t>
            </a:r>
          </a:p>
        </p:txBody>
      </p:sp>
      <p:cxnSp>
        <p:nvCxnSpPr>
          <p:cNvPr id="7" name="Connector 6"/>
          <p:cNvCxnSpPr/>
          <p:nvPr/>
        </p:nvCxnSpPr>
        <p:spPr>
          <a:xfrm>
            <a:off x="502920" y="6510528"/>
            <a:ext cx="11183112" cy="0"/>
          </a:xfrm>
          <a:prstGeom prst="line">
            <a:avLst/>
          </a:prstGeom>
          <a:ln w="7620">
            <a:solidFill>
              <a:srgbClr val="2B3A4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56248"/>
            <a:ext cx="6858000" cy="146304"/>
          </a:xfrm>
          <a:prstGeom prst="rect">
            <a:avLst/>
          </a:prstGeom>
          <a:noFill/>
        </p:spPr>
        <p:txBody>
          <a:bodyPr wrap="square" lIns="36576" tIns="36576" rIns="36576" bIns="36576" anchor="t">
            <a:spAutoFit/>
          </a:bodyPr>
          <a:lstStyle/>
          <a:p>
            <a:pPr algn="l">
              <a:spcBef>
                <a:spcPts val="0"/>
              </a:spcBef>
              <a:spcAft>
                <a:spcPts val="0"/>
              </a:spcAft>
            </a:pPr>
            <a:r>
              <a:rPr sz="700" b="0" i="0">
                <a:solidFill>
                  <a:srgbClr val="A4B4C1"/>
                </a:solidFill>
                <a:latin typeface="Cascadia Code"/>
              </a:rPr>
              <a:t>ADPILOT D2C INTELLIGENCE  /  TECHNICAL ARCHITECTURE</a:t>
            </a:r>
          </a:p>
        </p:txBody>
      </p:sp>
      <p:sp>
        <p:nvSpPr>
          <p:cNvPr id="9" name="TextBox 8"/>
          <p:cNvSpPr txBox="1"/>
          <p:nvPr/>
        </p:nvSpPr>
        <p:spPr>
          <a:xfrm>
            <a:off x="11064240" y="6547104"/>
            <a:ext cx="594360" cy="181588"/>
          </a:xfrm>
          <a:prstGeom prst="rect">
            <a:avLst/>
          </a:prstGeom>
          <a:noFill/>
        </p:spPr>
        <p:txBody>
          <a:bodyPr wrap="square" lIns="36576" tIns="36576" rIns="36576" bIns="36576" anchor="t">
            <a:spAutoFit/>
          </a:bodyPr>
          <a:lstStyle/>
          <a:p>
            <a:pPr algn="r">
              <a:spcBef>
                <a:spcPts val="0"/>
              </a:spcBef>
              <a:spcAft>
                <a:spcPts val="0"/>
              </a:spcAft>
            </a:pPr>
            <a:r>
              <a:rPr sz="700" b="0" i="0" dirty="0">
                <a:solidFill>
                  <a:srgbClr val="A4B4C1"/>
                </a:solidFill>
                <a:latin typeface="Cascadia Code"/>
              </a:rPr>
              <a:t>06 / </a:t>
            </a:r>
            <a:r>
              <a:rPr lang="en-IN" sz="700" b="0" i="0" dirty="0">
                <a:solidFill>
                  <a:srgbClr val="A4B4C1"/>
                </a:solidFill>
                <a:latin typeface="Cascadia Code"/>
              </a:rPr>
              <a:t>16</a:t>
            </a:r>
            <a:endParaRPr sz="700" b="0" i="0" dirty="0">
              <a:solidFill>
                <a:srgbClr val="A4B4C1"/>
              </a:solidFill>
              <a:latin typeface="Cascadia Code"/>
            </a:endParaRPr>
          </a:p>
        </p:txBody>
      </p:sp>
      <p:sp>
        <p:nvSpPr>
          <p:cNvPr id="10" name="Rounded Rectangle 9"/>
          <p:cNvSpPr/>
          <p:nvPr/>
        </p:nvSpPr>
        <p:spPr>
          <a:xfrm>
            <a:off x="658368" y="1783080"/>
            <a:ext cx="3547872" cy="1170432"/>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3816" y="1892807"/>
            <a:ext cx="640080" cy="274320"/>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4BDCBE"/>
                </a:solidFill>
                <a:latin typeface="Cascadia Code"/>
              </a:rPr>
              <a:t>CTR</a:t>
            </a:r>
          </a:p>
        </p:txBody>
      </p:sp>
      <p:sp>
        <p:nvSpPr>
          <p:cNvPr id="12" name="TextBox 11"/>
          <p:cNvSpPr txBox="1"/>
          <p:nvPr/>
        </p:nvSpPr>
        <p:spPr>
          <a:xfrm>
            <a:off x="1527048" y="1892807"/>
            <a:ext cx="2487168" cy="310896"/>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EEF4F7"/>
                </a:solidFill>
                <a:latin typeface="Cascadia Code"/>
              </a:rPr>
              <a:t>Σ estimated_clicks / Σ impressions</a:t>
            </a:r>
          </a:p>
        </p:txBody>
      </p:sp>
      <p:sp>
        <p:nvSpPr>
          <p:cNvPr id="13" name="TextBox 12"/>
          <p:cNvSpPr txBox="1"/>
          <p:nvPr/>
        </p:nvSpPr>
        <p:spPr>
          <a:xfrm>
            <a:off x="822959" y="2386584"/>
            <a:ext cx="3154680" cy="29260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Click-through rate</a:t>
            </a:r>
          </a:p>
        </p:txBody>
      </p:sp>
      <p:sp>
        <p:nvSpPr>
          <p:cNvPr id="14" name="Rounded Rectangle 13"/>
          <p:cNvSpPr/>
          <p:nvPr/>
        </p:nvSpPr>
        <p:spPr>
          <a:xfrm>
            <a:off x="4453128" y="1783080"/>
            <a:ext cx="3547872" cy="1170432"/>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08576" y="1892807"/>
            <a:ext cx="640080" cy="274320"/>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6AAAFF"/>
                </a:solidFill>
                <a:latin typeface="Cascadia Code"/>
              </a:rPr>
              <a:t>CPC</a:t>
            </a:r>
          </a:p>
        </p:txBody>
      </p:sp>
      <p:sp>
        <p:nvSpPr>
          <p:cNvPr id="16" name="TextBox 15"/>
          <p:cNvSpPr txBox="1"/>
          <p:nvPr/>
        </p:nvSpPr>
        <p:spPr>
          <a:xfrm>
            <a:off x="5321808" y="1892807"/>
            <a:ext cx="2487168" cy="310896"/>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EEF4F7"/>
                </a:solidFill>
                <a:latin typeface="Cascadia Code"/>
              </a:rPr>
              <a:t>Σ spend / Σ clicks</a:t>
            </a:r>
          </a:p>
        </p:txBody>
      </p:sp>
      <p:sp>
        <p:nvSpPr>
          <p:cNvPr id="17" name="TextBox 16"/>
          <p:cNvSpPr txBox="1"/>
          <p:nvPr/>
        </p:nvSpPr>
        <p:spPr>
          <a:xfrm>
            <a:off x="4617720" y="2386584"/>
            <a:ext cx="3154680" cy="29260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Cost per click</a:t>
            </a:r>
          </a:p>
        </p:txBody>
      </p:sp>
      <p:sp>
        <p:nvSpPr>
          <p:cNvPr id="18" name="Rounded Rectangle 17"/>
          <p:cNvSpPr/>
          <p:nvPr/>
        </p:nvSpPr>
        <p:spPr>
          <a:xfrm>
            <a:off x="8247888" y="1783080"/>
            <a:ext cx="3547872" cy="1170432"/>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03336" y="1892807"/>
            <a:ext cx="640080" cy="274320"/>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BE9BFF"/>
                </a:solidFill>
                <a:latin typeface="Cascadia Code"/>
              </a:rPr>
              <a:t>CPM</a:t>
            </a:r>
          </a:p>
        </p:txBody>
      </p:sp>
      <p:sp>
        <p:nvSpPr>
          <p:cNvPr id="20" name="TextBox 19"/>
          <p:cNvSpPr txBox="1"/>
          <p:nvPr/>
        </p:nvSpPr>
        <p:spPr>
          <a:xfrm>
            <a:off x="9116568" y="1892807"/>
            <a:ext cx="2487168" cy="310896"/>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EEF4F7"/>
                </a:solidFill>
                <a:latin typeface="Cascadia Code"/>
              </a:rPr>
              <a:t>(Σ spend × 1,000) / Σ impressions</a:t>
            </a:r>
          </a:p>
        </p:txBody>
      </p:sp>
      <p:sp>
        <p:nvSpPr>
          <p:cNvPr id="21" name="TextBox 20"/>
          <p:cNvSpPr txBox="1"/>
          <p:nvPr/>
        </p:nvSpPr>
        <p:spPr>
          <a:xfrm>
            <a:off x="8412480" y="2386584"/>
            <a:ext cx="3154680" cy="29260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Cost per thousand impressions</a:t>
            </a:r>
          </a:p>
        </p:txBody>
      </p:sp>
      <p:sp>
        <p:nvSpPr>
          <p:cNvPr id="22" name="Rounded Rectangle 21"/>
          <p:cNvSpPr/>
          <p:nvPr/>
        </p:nvSpPr>
        <p:spPr>
          <a:xfrm>
            <a:off x="658368" y="3200400"/>
            <a:ext cx="3547872" cy="1170432"/>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3816" y="3310128"/>
            <a:ext cx="640080" cy="274320"/>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BEF264"/>
                </a:solidFill>
                <a:latin typeface="Cascadia Code"/>
              </a:rPr>
              <a:t>CVR</a:t>
            </a:r>
          </a:p>
        </p:txBody>
      </p:sp>
      <p:sp>
        <p:nvSpPr>
          <p:cNvPr id="24" name="TextBox 23"/>
          <p:cNvSpPr txBox="1"/>
          <p:nvPr/>
        </p:nvSpPr>
        <p:spPr>
          <a:xfrm>
            <a:off x="1527048" y="3310128"/>
            <a:ext cx="2487168" cy="310896"/>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EEF4F7"/>
                </a:solidFill>
                <a:latin typeface="Cascadia Code"/>
              </a:rPr>
              <a:t>Σ conversions / Σ clicks</a:t>
            </a:r>
          </a:p>
        </p:txBody>
      </p:sp>
      <p:sp>
        <p:nvSpPr>
          <p:cNvPr id="25" name="TextBox 24"/>
          <p:cNvSpPr txBox="1"/>
          <p:nvPr/>
        </p:nvSpPr>
        <p:spPr>
          <a:xfrm>
            <a:off x="822959" y="3803904"/>
            <a:ext cx="3154680" cy="29260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Conversion rate</a:t>
            </a:r>
          </a:p>
        </p:txBody>
      </p:sp>
      <p:sp>
        <p:nvSpPr>
          <p:cNvPr id="26" name="Rounded Rectangle 25"/>
          <p:cNvSpPr/>
          <p:nvPr/>
        </p:nvSpPr>
        <p:spPr>
          <a:xfrm>
            <a:off x="4453128" y="3200400"/>
            <a:ext cx="3547872" cy="1170432"/>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08576" y="3310128"/>
            <a:ext cx="640080" cy="274320"/>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FFC45C"/>
                </a:solidFill>
                <a:latin typeface="Cascadia Code"/>
              </a:rPr>
              <a:t>CPA</a:t>
            </a:r>
          </a:p>
        </p:txBody>
      </p:sp>
      <p:sp>
        <p:nvSpPr>
          <p:cNvPr id="28" name="TextBox 27"/>
          <p:cNvSpPr txBox="1"/>
          <p:nvPr/>
        </p:nvSpPr>
        <p:spPr>
          <a:xfrm>
            <a:off x="5321808" y="3310128"/>
            <a:ext cx="2487168" cy="310896"/>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EEF4F7"/>
                </a:solidFill>
                <a:latin typeface="Cascadia Code"/>
              </a:rPr>
              <a:t>Σ spend / Σ conversions</a:t>
            </a:r>
          </a:p>
        </p:txBody>
      </p:sp>
      <p:sp>
        <p:nvSpPr>
          <p:cNvPr id="29" name="TextBox 28"/>
          <p:cNvSpPr txBox="1"/>
          <p:nvPr/>
        </p:nvSpPr>
        <p:spPr>
          <a:xfrm>
            <a:off x="4617720" y="3803904"/>
            <a:ext cx="3154680" cy="29260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Cost per acquisition</a:t>
            </a:r>
          </a:p>
        </p:txBody>
      </p:sp>
      <p:sp>
        <p:nvSpPr>
          <p:cNvPr id="30" name="Rounded Rectangle 29"/>
          <p:cNvSpPr/>
          <p:nvPr/>
        </p:nvSpPr>
        <p:spPr>
          <a:xfrm>
            <a:off x="8247888" y="3200400"/>
            <a:ext cx="3547872" cy="1170432"/>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03336" y="3310128"/>
            <a:ext cx="640080" cy="274320"/>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4BDCBE"/>
                </a:solidFill>
                <a:latin typeface="Cascadia Code"/>
              </a:rPr>
              <a:t>ROAS</a:t>
            </a:r>
          </a:p>
        </p:txBody>
      </p:sp>
      <p:sp>
        <p:nvSpPr>
          <p:cNvPr id="32" name="TextBox 31"/>
          <p:cNvSpPr txBox="1"/>
          <p:nvPr/>
        </p:nvSpPr>
        <p:spPr>
          <a:xfrm>
            <a:off x="9116568" y="3310128"/>
            <a:ext cx="2487168" cy="310896"/>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EEF4F7"/>
                </a:solidFill>
                <a:latin typeface="Cascadia Code"/>
              </a:rPr>
              <a:t>Σ revenue / Σ spend</a:t>
            </a:r>
          </a:p>
        </p:txBody>
      </p:sp>
      <p:sp>
        <p:nvSpPr>
          <p:cNvPr id="33" name="TextBox 32"/>
          <p:cNvSpPr txBox="1"/>
          <p:nvPr/>
        </p:nvSpPr>
        <p:spPr>
          <a:xfrm>
            <a:off x="8412480" y="3803904"/>
            <a:ext cx="3154680" cy="29260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Return on ad spend</a:t>
            </a:r>
          </a:p>
        </p:txBody>
      </p:sp>
      <p:sp>
        <p:nvSpPr>
          <p:cNvPr id="34" name="Rounded Rectangle 33"/>
          <p:cNvSpPr/>
          <p:nvPr/>
        </p:nvSpPr>
        <p:spPr>
          <a:xfrm>
            <a:off x="694944" y="4846320"/>
            <a:ext cx="6839712" cy="1051560"/>
          </a:xfrm>
          <a:prstGeom prst="roundRect">
            <a:avLst>
              <a:gd name="adj" fmla="val 12000"/>
            </a:avLst>
          </a:prstGeom>
          <a:solidFill>
            <a:srgbClr val="172331"/>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96112" y="4983480"/>
            <a:ext cx="6400800" cy="256032"/>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BEF264"/>
                </a:solidFill>
                <a:latin typeface="Cascadia Code"/>
              </a:rPr>
              <a:t>AGGREGATE → RATIO</a:t>
            </a:r>
          </a:p>
        </p:txBody>
      </p:sp>
      <p:sp>
        <p:nvSpPr>
          <p:cNvPr id="36" name="TextBox 35"/>
          <p:cNvSpPr txBox="1"/>
          <p:nvPr/>
        </p:nvSpPr>
        <p:spPr>
          <a:xfrm>
            <a:off x="896112" y="5303520"/>
            <a:ext cx="6382512" cy="411480"/>
          </a:xfrm>
          <a:prstGeom prst="rect">
            <a:avLst/>
          </a:prstGeom>
          <a:noFill/>
        </p:spPr>
        <p:txBody>
          <a:bodyPr wrap="square" lIns="36576" tIns="36576" rIns="36576" bIns="36576" anchor="t">
            <a:spAutoFit/>
          </a:bodyPr>
          <a:lstStyle/>
          <a:p>
            <a:pPr algn="l">
              <a:spcBef>
                <a:spcPts val="0"/>
              </a:spcBef>
              <a:spcAft>
                <a:spcPts val="0"/>
              </a:spcAft>
            </a:pPr>
            <a:r>
              <a:rPr sz="1000" b="0" i="0">
                <a:solidFill>
                  <a:srgbClr val="EEF4F7"/>
                </a:solidFill>
                <a:latin typeface="Aptos"/>
              </a:rPr>
              <a:t>aggregate() sums numerator and denominator fields first; ratio() returns an unavailable/null result when the denominator is zero or unusable.</a:t>
            </a:r>
          </a:p>
        </p:txBody>
      </p:sp>
      <p:sp>
        <p:nvSpPr>
          <p:cNvPr id="37" name="Rounded Rectangle 36"/>
          <p:cNvSpPr/>
          <p:nvPr/>
        </p:nvSpPr>
        <p:spPr>
          <a:xfrm>
            <a:off x="7818120" y="4846320"/>
            <a:ext cx="3611880" cy="1051560"/>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010144" y="4983480"/>
            <a:ext cx="3200400" cy="228600"/>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FFC45C"/>
                </a:solidFill>
                <a:latin typeface="Cascadia Code"/>
              </a:rPr>
              <a:t>INTERPRETATION GUARDRAILS</a:t>
            </a:r>
          </a:p>
        </p:txBody>
      </p:sp>
      <p:sp>
        <p:nvSpPr>
          <p:cNvPr id="39" name="TextBox 38"/>
          <p:cNvSpPr txBox="1"/>
          <p:nvPr/>
        </p:nvSpPr>
        <p:spPr>
          <a:xfrm>
            <a:off x="8010144" y="5285232"/>
            <a:ext cx="3172968" cy="438912"/>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Attributed revenue ≠ reconciled finance revenue. Estimated clicks must remain labelled.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8961120" cy="246221"/>
          </a:xfrm>
          <a:prstGeom prst="rect">
            <a:avLst/>
          </a:prstGeom>
          <a:noFill/>
        </p:spPr>
        <p:txBody>
          <a:bodyPr wrap="square">
            <a:spAutoFit/>
          </a:bodyPr>
          <a:lstStyle/>
          <a:p>
            <a:pPr>
              <a:defRPr sz="1000" b="1">
                <a:solidFill>
                  <a:srgbClr val="305F87"/>
                </a:solidFill>
                <a:latin typeface="Aptos"/>
              </a:defRPr>
            </a:pPr>
            <a:r>
              <a:rPr dirty="0">
                <a:solidFill>
                  <a:srgbClr val="99B36C"/>
                </a:solidFill>
              </a:rPr>
              <a:t> </a:t>
            </a:r>
            <a:r>
              <a:rPr lang="en-IN" dirty="0">
                <a:solidFill>
                  <a:srgbClr val="99B36C"/>
                </a:solidFill>
              </a:rPr>
              <a:t>06</a:t>
            </a:r>
            <a:r>
              <a:rPr dirty="0">
                <a:solidFill>
                  <a:srgbClr val="99B36C"/>
                </a:solidFill>
              </a:rPr>
              <a:t>/ WORKFLOW &amp; DEPLOYMENT</a:t>
            </a:r>
          </a:p>
        </p:txBody>
      </p:sp>
      <p:sp>
        <p:nvSpPr>
          <p:cNvPr id="3" name="TextBox 2"/>
          <p:cNvSpPr txBox="1"/>
          <p:nvPr/>
        </p:nvSpPr>
        <p:spPr>
          <a:xfrm>
            <a:off x="502920" y="557784"/>
            <a:ext cx="11155680" cy="475488"/>
          </a:xfrm>
          <a:prstGeom prst="rect">
            <a:avLst/>
          </a:prstGeom>
          <a:noFill/>
        </p:spPr>
        <p:txBody>
          <a:bodyPr wrap="square">
            <a:spAutoFit/>
          </a:bodyPr>
          <a:lstStyle/>
          <a:p>
            <a:pPr>
              <a:defRPr sz="2500" b="1">
                <a:solidFill>
                  <a:srgbClr val="12171E"/>
                </a:solidFill>
                <a:latin typeface="Aptos"/>
              </a:defRPr>
            </a:pPr>
            <a:r>
              <a:rPr dirty="0">
                <a:solidFill>
                  <a:schemeClr val="bg1"/>
                </a:solidFill>
              </a:rPr>
              <a:t>Application workflow and data pipeline</a:t>
            </a:r>
          </a:p>
        </p:txBody>
      </p:sp>
      <p:sp>
        <p:nvSpPr>
          <p:cNvPr id="4" name="TextBox 3"/>
          <p:cNvSpPr txBox="1"/>
          <p:nvPr/>
        </p:nvSpPr>
        <p:spPr>
          <a:xfrm>
            <a:off x="530352" y="1051560"/>
            <a:ext cx="10972800" cy="274320"/>
          </a:xfrm>
          <a:prstGeom prst="rect">
            <a:avLst/>
          </a:prstGeom>
          <a:noFill/>
        </p:spPr>
        <p:txBody>
          <a:bodyPr wrap="square">
            <a:spAutoFit/>
          </a:bodyPr>
          <a:lstStyle/>
          <a:p>
            <a:pPr>
              <a:defRPr sz="1200" b="0">
                <a:solidFill>
                  <a:srgbClr val="555F69"/>
                </a:solidFill>
                <a:latin typeface="Aptos"/>
              </a:defRPr>
            </a:pPr>
            <a:r>
              <a:rPr dirty="0">
                <a:solidFill>
                  <a:srgbClr val="8C949A"/>
                </a:solidFill>
              </a:rPr>
              <a:t>Local </a:t>
            </a:r>
            <a:r>
              <a:rPr dirty="0" err="1">
                <a:solidFill>
                  <a:srgbClr val="8C949A"/>
                </a:solidFill>
              </a:rPr>
              <a:t>Exasol</a:t>
            </a:r>
            <a:r>
              <a:rPr dirty="0">
                <a:solidFill>
                  <a:srgbClr val="8C949A"/>
                </a:solidFill>
              </a:rPr>
              <a:t> access, secure tunnelling, and hosted frontend/backend flow.</a:t>
            </a:r>
          </a:p>
        </p:txBody>
      </p:sp>
      <p:sp>
        <p:nvSpPr>
          <p:cNvPr id="5" name="TextBox 4"/>
          <p:cNvSpPr txBox="1"/>
          <p:nvPr/>
        </p:nvSpPr>
        <p:spPr>
          <a:xfrm>
            <a:off x="11292840" y="283464"/>
            <a:ext cx="384048" cy="201168"/>
          </a:xfrm>
          <a:prstGeom prst="rect">
            <a:avLst/>
          </a:prstGeom>
          <a:noFill/>
        </p:spPr>
        <p:txBody>
          <a:bodyPr wrap="square">
            <a:spAutoFit/>
          </a:bodyPr>
          <a:lstStyle/>
          <a:p>
            <a:pPr>
              <a:defRPr sz="1000" b="1">
                <a:solidFill>
                  <a:srgbClr val="305F87"/>
                </a:solidFill>
                <a:latin typeface="Aptos"/>
              </a:defRPr>
            </a:pPr>
            <a:r>
              <a:t>16</a:t>
            </a:r>
          </a:p>
        </p:txBody>
      </p:sp>
      <p:pic>
        <p:nvPicPr>
          <p:cNvPr id="6" name="Picture 5" descr="image.png"/>
          <p:cNvPicPr>
            <a:picLocks noChangeAspect="1"/>
          </p:cNvPicPr>
          <p:nvPr/>
        </p:nvPicPr>
        <p:blipFill>
          <a:blip r:embed="rId2"/>
          <a:stretch>
            <a:fillRect/>
          </a:stretch>
        </p:blipFill>
        <p:spPr>
          <a:xfrm>
            <a:off x="1611477" y="1417319"/>
            <a:ext cx="8968739" cy="4754879"/>
          </a:xfrm>
          <a:prstGeom prst="rect">
            <a:avLst/>
          </a:prstGeom>
        </p:spPr>
      </p:pic>
      <p:cxnSp>
        <p:nvCxnSpPr>
          <p:cNvPr id="9" name="Connector 6">
            <a:extLst>
              <a:ext uri="{FF2B5EF4-FFF2-40B4-BE49-F238E27FC236}">
                <a16:creationId xmlns:a16="http://schemas.microsoft.com/office/drawing/2014/main" id="{BEA865DC-1D46-D5BC-4AF5-F0262F065863}"/>
              </a:ext>
            </a:extLst>
          </p:cNvPr>
          <p:cNvCxnSpPr/>
          <p:nvPr/>
        </p:nvCxnSpPr>
        <p:spPr>
          <a:xfrm>
            <a:off x="475488" y="6464808"/>
            <a:ext cx="11183112" cy="0"/>
          </a:xfrm>
          <a:prstGeom prst="line">
            <a:avLst/>
          </a:prstGeom>
          <a:ln w="7620">
            <a:solidFill>
              <a:srgbClr val="2B3A49"/>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9E817E99-BF5A-D45F-BAB4-4D2E2DEE6BE0}"/>
              </a:ext>
            </a:extLst>
          </p:cNvPr>
          <p:cNvSpPr txBox="1"/>
          <p:nvPr/>
        </p:nvSpPr>
        <p:spPr>
          <a:xfrm>
            <a:off x="502920" y="6510528"/>
            <a:ext cx="6858000" cy="146304"/>
          </a:xfrm>
          <a:prstGeom prst="rect">
            <a:avLst/>
          </a:prstGeom>
          <a:noFill/>
        </p:spPr>
        <p:txBody>
          <a:bodyPr wrap="square" lIns="36576" tIns="36576" rIns="36576" bIns="36576" anchor="t">
            <a:spAutoFit/>
          </a:bodyPr>
          <a:lstStyle/>
          <a:p>
            <a:pPr algn="l">
              <a:spcBef>
                <a:spcPts val="0"/>
              </a:spcBef>
              <a:spcAft>
                <a:spcPts val="0"/>
              </a:spcAft>
            </a:pPr>
            <a:r>
              <a:rPr sz="700" b="0" i="0">
                <a:solidFill>
                  <a:srgbClr val="A4B4C1"/>
                </a:solidFill>
                <a:latin typeface="Cascadia Code"/>
              </a:rPr>
              <a:t>ADPILOT D2C INTELLIGENCE  /  TECHNICAL ARCHITECTURE</a:t>
            </a:r>
          </a:p>
        </p:txBody>
      </p:sp>
      <p:sp>
        <p:nvSpPr>
          <p:cNvPr id="11" name="TextBox 10">
            <a:extLst>
              <a:ext uri="{FF2B5EF4-FFF2-40B4-BE49-F238E27FC236}">
                <a16:creationId xmlns:a16="http://schemas.microsoft.com/office/drawing/2014/main" id="{2EDA3267-FC01-9065-C964-70CF151B83BB}"/>
              </a:ext>
            </a:extLst>
          </p:cNvPr>
          <p:cNvSpPr txBox="1"/>
          <p:nvPr/>
        </p:nvSpPr>
        <p:spPr>
          <a:xfrm>
            <a:off x="11036808" y="6501384"/>
            <a:ext cx="594360" cy="181588"/>
          </a:xfrm>
          <a:prstGeom prst="rect">
            <a:avLst/>
          </a:prstGeom>
          <a:noFill/>
        </p:spPr>
        <p:txBody>
          <a:bodyPr wrap="square" lIns="36576" tIns="36576" rIns="36576" bIns="36576" anchor="t">
            <a:spAutoFit/>
          </a:bodyPr>
          <a:lstStyle/>
          <a:p>
            <a:pPr algn="r">
              <a:spcBef>
                <a:spcPts val="0"/>
              </a:spcBef>
              <a:spcAft>
                <a:spcPts val="0"/>
              </a:spcAft>
            </a:pPr>
            <a:r>
              <a:rPr sz="700" b="0" i="0" dirty="0">
                <a:solidFill>
                  <a:srgbClr val="A4B4C1"/>
                </a:solidFill>
                <a:latin typeface="Cascadia Code"/>
              </a:rPr>
              <a:t>07 / </a:t>
            </a:r>
            <a:r>
              <a:rPr lang="en-IN" sz="700" b="0" i="0" dirty="0">
                <a:solidFill>
                  <a:srgbClr val="A4B4C1"/>
                </a:solidFill>
                <a:latin typeface="Cascadia Code"/>
              </a:rPr>
              <a:t>16</a:t>
            </a:r>
            <a:endParaRPr sz="700" b="0" i="0" dirty="0">
              <a:solidFill>
                <a:srgbClr val="A4B4C1"/>
              </a:solidFill>
              <a:latin typeface="Cascadia Cod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F18"/>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8961120" cy="219456"/>
          </a:xfrm>
          <a:prstGeom prst="rect">
            <a:avLst/>
          </a:prstGeom>
          <a:noFill/>
        </p:spPr>
        <p:txBody>
          <a:bodyPr wrap="square" lIns="36576" tIns="36576" rIns="36576" bIns="36576" anchor="t">
            <a:spAutoFit/>
          </a:bodyPr>
          <a:lstStyle/>
          <a:p>
            <a:pPr algn="l">
              <a:spcBef>
                <a:spcPts val="0"/>
              </a:spcBef>
              <a:spcAft>
                <a:spcPts val="0"/>
              </a:spcAft>
            </a:pPr>
            <a:r>
              <a:rPr lang="en-IN" sz="900" b="1" i="0" dirty="0">
                <a:solidFill>
                  <a:srgbClr val="BEF264"/>
                </a:solidFill>
                <a:latin typeface="Cascadia Code"/>
              </a:rPr>
              <a:t>07</a:t>
            </a:r>
            <a:r>
              <a:rPr sz="900" b="1" i="0" dirty="0">
                <a:solidFill>
                  <a:srgbClr val="BEF264"/>
                </a:solidFill>
                <a:latin typeface="Cascadia Code"/>
              </a:rPr>
              <a:t> / RECOMMENDATIONS</a:t>
            </a:r>
          </a:p>
        </p:txBody>
      </p:sp>
      <p:sp>
        <p:nvSpPr>
          <p:cNvPr id="3" name="TextBox 2"/>
          <p:cNvSpPr txBox="1"/>
          <p:nvPr/>
        </p:nvSpPr>
        <p:spPr>
          <a:xfrm>
            <a:off x="502920" y="557784"/>
            <a:ext cx="11155680" cy="475488"/>
          </a:xfrm>
          <a:prstGeom prst="rect">
            <a:avLst/>
          </a:prstGeom>
          <a:noFill/>
        </p:spPr>
        <p:txBody>
          <a:bodyPr wrap="square" lIns="36576" tIns="36576" rIns="36576" bIns="36576" anchor="t">
            <a:spAutoFit/>
          </a:bodyPr>
          <a:lstStyle/>
          <a:p>
            <a:pPr algn="l">
              <a:spcBef>
                <a:spcPts val="0"/>
              </a:spcBef>
              <a:spcAft>
                <a:spcPts val="0"/>
              </a:spcAft>
            </a:pPr>
            <a:r>
              <a:rPr sz="2500" b="1" i="0">
                <a:solidFill>
                  <a:srgbClr val="EEF4F7"/>
                </a:solidFill>
                <a:latin typeface="Aptos"/>
              </a:rPr>
              <a:t>Rule-based recommendation engine with evidence snapshots</a:t>
            </a:r>
          </a:p>
        </p:txBody>
      </p:sp>
      <p:sp>
        <p:nvSpPr>
          <p:cNvPr id="4" name="TextBox 3"/>
          <p:cNvSpPr txBox="1"/>
          <p:nvPr/>
        </p:nvSpPr>
        <p:spPr>
          <a:xfrm>
            <a:off x="530352" y="1078992"/>
            <a:ext cx="10972800" cy="38404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A4B4C1"/>
                </a:solidFill>
                <a:latin typeface="Aptos"/>
              </a:rPr>
              <a:t>The system identifies candidate problem segments; it does not autonomously change ad-platform budgets.</a:t>
            </a:r>
          </a:p>
        </p:txBody>
      </p:sp>
      <p:cxnSp>
        <p:nvCxnSpPr>
          <p:cNvPr id="5" name="Connector 4"/>
          <p:cNvCxnSpPr/>
          <p:nvPr/>
        </p:nvCxnSpPr>
        <p:spPr>
          <a:xfrm>
            <a:off x="502920" y="1517904"/>
            <a:ext cx="11183112" cy="0"/>
          </a:xfrm>
          <a:prstGeom prst="line">
            <a:avLst/>
          </a:prstGeom>
          <a:ln w="10160">
            <a:solidFill>
              <a:srgbClr val="2B3A4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292840" y="283464"/>
            <a:ext cx="384048" cy="201168"/>
          </a:xfrm>
          <a:prstGeom prst="rect">
            <a:avLst/>
          </a:prstGeom>
          <a:noFill/>
        </p:spPr>
        <p:txBody>
          <a:bodyPr wrap="square" lIns="36576" tIns="36576" rIns="36576" bIns="36576" anchor="t">
            <a:spAutoFit/>
          </a:bodyPr>
          <a:lstStyle/>
          <a:p>
            <a:pPr algn="r">
              <a:spcBef>
                <a:spcPts val="0"/>
              </a:spcBef>
              <a:spcAft>
                <a:spcPts val="0"/>
              </a:spcAft>
            </a:pPr>
            <a:r>
              <a:rPr sz="900" b="1" i="0">
                <a:solidFill>
                  <a:srgbClr val="A4B4C1"/>
                </a:solidFill>
                <a:latin typeface="Cascadia Code"/>
              </a:rPr>
              <a:t>07</a:t>
            </a:r>
          </a:p>
        </p:txBody>
      </p:sp>
      <p:cxnSp>
        <p:nvCxnSpPr>
          <p:cNvPr id="7" name="Connector 6"/>
          <p:cNvCxnSpPr/>
          <p:nvPr/>
        </p:nvCxnSpPr>
        <p:spPr>
          <a:xfrm>
            <a:off x="502920" y="6510528"/>
            <a:ext cx="11183112" cy="0"/>
          </a:xfrm>
          <a:prstGeom prst="line">
            <a:avLst/>
          </a:prstGeom>
          <a:ln w="7620">
            <a:solidFill>
              <a:srgbClr val="2B3A4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56248"/>
            <a:ext cx="6858000" cy="146304"/>
          </a:xfrm>
          <a:prstGeom prst="rect">
            <a:avLst/>
          </a:prstGeom>
          <a:noFill/>
        </p:spPr>
        <p:txBody>
          <a:bodyPr wrap="square" lIns="36576" tIns="36576" rIns="36576" bIns="36576" anchor="t">
            <a:spAutoFit/>
          </a:bodyPr>
          <a:lstStyle/>
          <a:p>
            <a:pPr algn="l">
              <a:spcBef>
                <a:spcPts val="0"/>
              </a:spcBef>
              <a:spcAft>
                <a:spcPts val="0"/>
              </a:spcAft>
            </a:pPr>
            <a:r>
              <a:rPr sz="700" b="0" i="0">
                <a:solidFill>
                  <a:srgbClr val="A4B4C1"/>
                </a:solidFill>
                <a:latin typeface="Cascadia Code"/>
              </a:rPr>
              <a:t>ADPILOT D2C INTELLIGENCE  /  TECHNICAL ARCHITECTURE</a:t>
            </a:r>
          </a:p>
        </p:txBody>
      </p:sp>
      <p:sp>
        <p:nvSpPr>
          <p:cNvPr id="9" name="TextBox 8"/>
          <p:cNvSpPr txBox="1"/>
          <p:nvPr/>
        </p:nvSpPr>
        <p:spPr>
          <a:xfrm>
            <a:off x="11064240" y="6547104"/>
            <a:ext cx="594360" cy="181588"/>
          </a:xfrm>
          <a:prstGeom prst="rect">
            <a:avLst/>
          </a:prstGeom>
          <a:noFill/>
        </p:spPr>
        <p:txBody>
          <a:bodyPr wrap="square" lIns="36576" tIns="36576" rIns="36576" bIns="36576" anchor="t">
            <a:spAutoFit/>
          </a:bodyPr>
          <a:lstStyle/>
          <a:p>
            <a:pPr algn="r">
              <a:spcBef>
                <a:spcPts val="0"/>
              </a:spcBef>
              <a:spcAft>
                <a:spcPts val="0"/>
              </a:spcAft>
            </a:pPr>
            <a:r>
              <a:rPr lang="en-IN" sz="700" dirty="0">
                <a:solidFill>
                  <a:srgbClr val="A4B4C1"/>
                </a:solidFill>
                <a:latin typeface="Cascadia Code"/>
              </a:rPr>
              <a:t>08</a:t>
            </a:r>
            <a:r>
              <a:rPr sz="700" b="0" i="0" dirty="0">
                <a:solidFill>
                  <a:srgbClr val="A4B4C1"/>
                </a:solidFill>
                <a:latin typeface="Cascadia Code"/>
              </a:rPr>
              <a:t> / </a:t>
            </a:r>
            <a:r>
              <a:rPr lang="en-IN" sz="700" b="0" i="0" dirty="0">
                <a:solidFill>
                  <a:srgbClr val="A4B4C1"/>
                </a:solidFill>
                <a:latin typeface="Cascadia Code"/>
              </a:rPr>
              <a:t>16</a:t>
            </a:r>
            <a:endParaRPr sz="700" b="0" i="0" dirty="0">
              <a:solidFill>
                <a:srgbClr val="A4B4C1"/>
              </a:solidFill>
              <a:latin typeface="Cascadia Code"/>
            </a:endParaRPr>
          </a:p>
        </p:txBody>
      </p:sp>
      <p:sp>
        <p:nvSpPr>
          <p:cNvPr id="10" name="Rounded Rectangle 9"/>
          <p:cNvSpPr/>
          <p:nvPr/>
        </p:nvSpPr>
        <p:spPr>
          <a:xfrm>
            <a:off x="658368" y="1874519"/>
            <a:ext cx="1965960" cy="960120"/>
          </a:xfrm>
          <a:prstGeom prst="roundRect">
            <a:avLst>
              <a:gd name="adj" fmla="val 12000"/>
            </a:avLst>
          </a:prstGeom>
          <a:solidFill>
            <a:srgbClr val="121B28"/>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8368" y="1874519"/>
            <a:ext cx="64008" cy="960120"/>
          </a:xfrm>
          <a:prstGeom prst="rect">
            <a:avLst/>
          </a:prstGeom>
          <a:solidFill>
            <a:srgbClr val="4BDCBE"/>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59" y="1965960"/>
            <a:ext cx="1709928"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GROUP</a:t>
            </a:r>
          </a:p>
        </p:txBody>
      </p:sp>
      <p:sp>
        <p:nvSpPr>
          <p:cNvPr id="13" name="TextBox 12"/>
          <p:cNvSpPr txBox="1"/>
          <p:nvPr/>
        </p:nvSpPr>
        <p:spPr>
          <a:xfrm>
            <a:off x="822959" y="2258568"/>
            <a:ext cx="1709928" cy="52120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campaign_id · ad_platform
channel · sku_id</a:t>
            </a:r>
          </a:p>
        </p:txBody>
      </p:sp>
      <p:sp>
        <p:nvSpPr>
          <p:cNvPr id="14" name="Rounded Rectangle 13"/>
          <p:cNvSpPr/>
          <p:nvPr/>
        </p:nvSpPr>
        <p:spPr>
          <a:xfrm>
            <a:off x="2999232" y="1874519"/>
            <a:ext cx="1965960" cy="960120"/>
          </a:xfrm>
          <a:prstGeom prst="roundRect">
            <a:avLst>
              <a:gd name="adj" fmla="val 12000"/>
            </a:avLst>
          </a:prstGeom>
          <a:solidFill>
            <a:srgbClr val="121B28"/>
          </a:solidFill>
          <a:ln w="10160">
            <a:solidFill>
              <a:srgbClr val="6A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999232" y="1874519"/>
            <a:ext cx="64008" cy="960120"/>
          </a:xfrm>
          <a:prstGeom prst="rect">
            <a:avLst/>
          </a:prstGeom>
          <a:solidFill>
            <a:srgbClr val="6AAAFF"/>
          </a:solidFill>
          <a:ln w="10160">
            <a:solidFill>
              <a:srgbClr val="6A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163824" y="1965960"/>
            <a:ext cx="1709928"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MINIMUM SAMPLE</a:t>
            </a:r>
          </a:p>
        </p:txBody>
      </p:sp>
      <p:sp>
        <p:nvSpPr>
          <p:cNvPr id="17" name="TextBox 16"/>
          <p:cNvSpPr txBox="1"/>
          <p:nvPr/>
        </p:nvSpPr>
        <p:spPr>
          <a:xfrm>
            <a:off x="3163824" y="2258568"/>
            <a:ext cx="1709928" cy="52120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record_count ≥ 5</a:t>
            </a:r>
          </a:p>
        </p:txBody>
      </p:sp>
      <p:sp>
        <p:nvSpPr>
          <p:cNvPr id="18" name="Rounded Rectangle 17"/>
          <p:cNvSpPr/>
          <p:nvPr/>
        </p:nvSpPr>
        <p:spPr>
          <a:xfrm>
            <a:off x="5340096" y="1874519"/>
            <a:ext cx="1965960" cy="960120"/>
          </a:xfrm>
          <a:prstGeom prst="roundRect">
            <a:avLst>
              <a:gd name="adj" fmla="val 12000"/>
            </a:avLst>
          </a:prstGeom>
          <a:solidFill>
            <a:srgbClr val="121B28"/>
          </a:solidFill>
          <a:ln w="10160">
            <a:solidFill>
              <a:srgbClr val="FF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340096" y="1874519"/>
            <a:ext cx="64008" cy="960120"/>
          </a:xfrm>
          <a:prstGeom prst="rect">
            <a:avLst/>
          </a:prstGeom>
          <a:solidFill>
            <a:srgbClr val="FF7070"/>
          </a:solidFill>
          <a:ln w="10160">
            <a:solidFill>
              <a:srgbClr val="FF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504688" y="1965960"/>
            <a:ext cx="1709928"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PROFIT RULE</a:t>
            </a:r>
          </a:p>
        </p:txBody>
      </p:sp>
      <p:sp>
        <p:nvSpPr>
          <p:cNvPr id="21" name="TextBox 20"/>
          <p:cNvSpPr txBox="1"/>
          <p:nvPr/>
        </p:nvSpPr>
        <p:spPr>
          <a:xfrm>
            <a:off x="5504688" y="2258568"/>
            <a:ext cx="1709928" cy="52120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return-adjusted
net profit &lt; 0</a:t>
            </a:r>
          </a:p>
        </p:txBody>
      </p:sp>
      <p:sp>
        <p:nvSpPr>
          <p:cNvPr id="22" name="Rounded Rectangle 21"/>
          <p:cNvSpPr/>
          <p:nvPr/>
        </p:nvSpPr>
        <p:spPr>
          <a:xfrm>
            <a:off x="7680960" y="1874519"/>
            <a:ext cx="1965960" cy="960120"/>
          </a:xfrm>
          <a:prstGeom prst="roundRect">
            <a:avLst>
              <a:gd name="adj" fmla="val 12000"/>
            </a:avLst>
          </a:prstGeom>
          <a:solidFill>
            <a:srgbClr val="121B28"/>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680960" y="1874519"/>
            <a:ext cx="64008" cy="960120"/>
          </a:xfrm>
          <a:prstGeom prst="rect">
            <a:avLst/>
          </a:prstGeom>
          <a:solidFill>
            <a:srgbClr val="BEF264"/>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45552" y="1965960"/>
            <a:ext cx="1709928"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CANDIDATE</a:t>
            </a:r>
          </a:p>
        </p:txBody>
      </p:sp>
      <p:sp>
        <p:nvSpPr>
          <p:cNvPr id="25" name="TextBox 24"/>
          <p:cNvSpPr txBox="1"/>
          <p:nvPr/>
        </p:nvSpPr>
        <p:spPr>
          <a:xfrm>
            <a:off x="7845552" y="2258568"/>
            <a:ext cx="1709928" cy="52120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Create recommendation
with rule metadata</a:t>
            </a:r>
          </a:p>
        </p:txBody>
      </p:sp>
      <p:sp>
        <p:nvSpPr>
          <p:cNvPr id="26" name="Rounded Rectangle 25"/>
          <p:cNvSpPr/>
          <p:nvPr/>
        </p:nvSpPr>
        <p:spPr>
          <a:xfrm>
            <a:off x="10021824" y="1874519"/>
            <a:ext cx="1481328" cy="960120"/>
          </a:xfrm>
          <a:prstGeom prst="roundRect">
            <a:avLst>
              <a:gd name="adj" fmla="val 12000"/>
            </a:avLst>
          </a:prstGeom>
          <a:solidFill>
            <a:srgbClr val="121B28"/>
          </a:solidFill>
          <a:ln w="10160">
            <a:solidFill>
              <a:srgbClr val="BE9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0021824" y="1874519"/>
            <a:ext cx="64008" cy="960120"/>
          </a:xfrm>
          <a:prstGeom prst="rect">
            <a:avLst/>
          </a:prstGeom>
          <a:solidFill>
            <a:srgbClr val="BE9BFF"/>
          </a:solidFill>
          <a:ln w="10160">
            <a:solidFill>
              <a:srgbClr val="BE9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186416" y="1965960"/>
            <a:ext cx="1225296"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REVIEW</a:t>
            </a:r>
          </a:p>
        </p:txBody>
      </p:sp>
      <p:sp>
        <p:nvSpPr>
          <p:cNvPr id="29" name="TextBox 28"/>
          <p:cNvSpPr txBox="1"/>
          <p:nvPr/>
        </p:nvSpPr>
        <p:spPr>
          <a:xfrm>
            <a:off x="10186416" y="2258568"/>
            <a:ext cx="1225296" cy="52120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Queue + status</a:t>
            </a:r>
          </a:p>
        </p:txBody>
      </p:sp>
      <p:cxnSp>
        <p:nvCxnSpPr>
          <p:cNvPr id="30" name="Connector 29"/>
          <p:cNvCxnSpPr/>
          <p:nvPr/>
        </p:nvCxnSpPr>
        <p:spPr>
          <a:xfrm>
            <a:off x="2624328" y="2359152"/>
            <a:ext cx="374904" cy="0"/>
          </a:xfrm>
          <a:prstGeom prst="line">
            <a:avLst/>
          </a:prstGeom>
          <a:ln w="19050">
            <a:solidFill>
              <a:srgbClr val="2B3A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965192" y="2359152"/>
            <a:ext cx="374904" cy="0"/>
          </a:xfrm>
          <a:prstGeom prst="line">
            <a:avLst/>
          </a:prstGeom>
          <a:ln w="19050">
            <a:solidFill>
              <a:srgbClr val="2B3A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306056" y="2359152"/>
            <a:ext cx="374904" cy="0"/>
          </a:xfrm>
          <a:prstGeom prst="line">
            <a:avLst/>
          </a:prstGeom>
          <a:ln w="19050">
            <a:solidFill>
              <a:srgbClr val="2B3A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646920" y="2359152"/>
            <a:ext cx="374904" cy="0"/>
          </a:xfrm>
          <a:prstGeom prst="line">
            <a:avLst/>
          </a:prstGeom>
          <a:ln w="19050">
            <a:solidFill>
              <a:srgbClr val="2B3A49"/>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94944" y="3337560"/>
            <a:ext cx="5230368" cy="1554480"/>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96112" y="3493008"/>
            <a:ext cx="4754880" cy="22860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4BDCBE"/>
                </a:solidFill>
                <a:latin typeface="Cascadia Code"/>
              </a:rPr>
              <a:t>IDENTITY + REPRODUCIBILITY</a:t>
            </a:r>
          </a:p>
        </p:txBody>
      </p:sp>
      <p:sp>
        <p:nvSpPr>
          <p:cNvPr id="36" name="TextBox 35"/>
          <p:cNvSpPr txBox="1"/>
          <p:nvPr/>
        </p:nvSpPr>
        <p:spPr>
          <a:xfrm>
            <a:off x="896112" y="3858768"/>
            <a:ext cx="4709160" cy="841248"/>
          </a:xfrm>
          <a:prstGeom prst="rect">
            <a:avLst/>
          </a:prstGeom>
          <a:noFill/>
        </p:spPr>
        <p:txBody>
          <a:bodyPr wrap="square" lIns="36576" tIns="36576" rIns="36576" bIns="36576" anchor="t">
            <a:spAutoFit/>
          </a:bodyPr>
          <a:lstStyle/>
          <a:p>
            <a:pPr algn="l">
              <a:spcBef>
                <a:spcPts val="0"/>
              </a:spcBef>
              <a:spcAft>
                <a:spcPts val="0"/>
              </a:spcAft>
            </a:pPr>
            <a:r>
              <a:rPr sz="1100" b="0" i="0">
                <a:solidFill>
                  <a:srgbClr val="EEF4F7"/>
                </a:solidFill>
                <a:latin typeface="Aptos"/>
              </a:rPr>
              <a:t>A dataset identity hash distinguishes recommendation batches for a particular input snapshot. Rule IDs and versions make the trigger logic explicit instead of embedding an opaque score.</a:t>
            </a:r>
          </a:p>
        </p:txBody>
      </p:sp>
      <p:sp>
        <p:nvSpPr>
          <p:cNvPr id="37" name="Rounded Rectangle 36"/>
          <p:cNvSpPr/>
          <p:nvPr/>
        </p:nvSpPr>
        <p:spPr>
          <a:xfrm>
            <a:off x="6199632" y="3337560"/>
            <a:ext cx="5230368" cy="1554480"/>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0800" y="3493008"/>
            <a:ext cx="4754880" cy="22860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BEF264"/>
                </a:solidFill>
                <a:latin typeface="Cascadia Code"/>
              </a:rPr>
              <a:t>EVIDENCE PAYLOAD</a:t>
            </a:r>
          </a:p>
        </p:txBody>
      </p:sp>
      <p:sp>
        <p:nvSpPr>
          <p:cNvPr id="39" name="TextBox 38"/>
          <p:cNvSpPr txBox="1"/>
          <p:nvPr/>
        </p:nvSpPr>
        <p:spPr>
          <a:xfrm>
            <a:off x="6400800" y="3858768"/>
            <a:ext cx="4663440" cy="841248"/>
          </a:xfrm>
          <a:prstGeom prst="rect">
            <a:avLst/>
          </a:prstGeom>
          <a:noFill/>
        </p:spPr>
        <p:txBody>
          <a:bodyPr wrap="square" lIns="36576" tIns="36576" rIns="36576" bIns="36576" anchor="t">
            <a:spAutoFit/>
          </a:bodyPr>
          <a:lstStyle/>
          <a:p>
            <a:pPr algn="l">
              <a:spcBef>
                <a:spcPts val="0"/>
              </a:spcBef>
              <a:spcAft>
                <a:spcPts val="0"/>
              </a:spcAft>
            </a:pPr>
            <a:r>
              <a:rPr sz="1100" b="0" i="0">
                <a:solidFill>
                  <a:srgbClr val="EEF4F7"/>
                </a:solidFill>
                <a:latin typeface="Aptos"/>
              </a:rPr>
              <a:t>Each candidate carries the segment keys and an evidence snapshot such as spend, revenue, margin / return-adjusted profit and rule metadata for human inspection.</a:t>
            </a:r>
          </a:p>
        </p:txBody>
      </p:sp>
      <p:sp>
        <p:nvSpPr>
          <p:cNvPr id="40" name="TextBox 39"/>
          <p:cNvSpPr txBox="1"/>
          <p:nvPr/>
        </p:nvSpPr>
        <p:spPr>
          <a:xfrm>
            <a:off x="749808" y="5376672"/>
            <a:ext cx="10789920" cy="50292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FFC45C"/>
                </a:solidFill>
                <a:latin typeface="Aptos"/>
              </a:rPr>
              <a:t>Interpretation: “negative adjusted profit” is a screening rule, not proof of causality or a guaranteed budget action. Thresholds and source-field semantics should be reviewed before production use.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F18"/>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8961120" cy="219456"/>
          </a:xfrm>
          <a:prstGeom prst="rect">
            <a:avLst/>
          </a:prstGeom>
          <a:noFill/>
        </p:spPr>
        <p:txBody>
          <a:bodyPr wrap="square" lIns="36576" tIns="36576" rIns="36576" bIns="36576" anchor="t">
            <a:spAutoFit/>
          </a:bodyPr>
          <a:lstStyle/>
          <a:p>
            <a:pPr algn="l">
              <a:spcBef>
                <a:spcPts val="0"/>
              </a:spcBef>
              <a:spcAft>
                <a:spcPts val="0"/>
              </a:spcAft>
            </a:pPr>
            <a:r>
              <a:rPr lang="en-IN" sz="900" b="1" i="0" dirty="0">
                <a:solidFill>
                  <a:srgbClr val="BEF264"/>
                </a:solidFill>
                <a:latin typeface="Cascadia Code"/>
              </a:rPr>
              <a:t>08</a:t>
            </a:r>
            <a:r>
              <a:rPr sz="900" b="1" i="0" dirty="0">
                <a:solidFill>
                  <a:srgbClr val="BEF264"/>
                </a:solidFill>
                <a:latin typeface="Cascadia Code"/>
              </a:rPr>
              <a:t> / DECISION PERSISTENCE</a:t>
            </a:r>
          </a:p>
        </p:txBody>
      </p:sp>
      <p:sp>
        <p:nvSpPr>
          <p:cNvPr id="3" name="TextBox 2"/>
          <p:cNvSpPr txBox="1"/>
          <p:nvPr/>
        </p:nvSpPr>
        <p:spPr>
          <a:xfrm>
            <a:off x="502920" y="557784"/>
            <a:ext cx="11155680" cy="475488"/>
          </a:xfrm>
          <a:prstGeom prst="rect">
            <a:avLst/>
          </a:prstGeom>
          <a:noFill/>
        </p:spPr>
        <p:txBody>
          <a:bodyPr wrap="square" lIns="36576" tIns="36576" rIns="36576" bIns="36576" anchor="t">
            <a:spAutoFit/>
          </a:bodyPr>
          <a:lstStyle/>
          <a:p>
            <a:pPr algn="l">
              <a:spcBef>
                <a:spcPts val="0"/>
              </a:spcBef>
              <a:spcAft>
                <a:spcPts val="0"/>
              </a:spcAft>
            </a:pPr>
            <a:r>
              <a:rPr sz="2500" b="1" i="0">
                <a:solidFill>
                  <a:srgbClr val="EEF4F7"/>
                </a:solidFill>
                <a:latin typeface="Aptos"/>
              </a:rPr>
              <a:t>Decision center: persisted state, events and rollback audit</a:t>
            </a:r>
          </a:p>
        </p:txBody>
      </p:sp>
      <p:sp>
        <p:nvSpPr>
          <p:cNvPr id="4" name="TextBox 3"/>
          <p:cNvSpPr txBox="1"/>
          <p:nvPr/>
        </p:nvSpPr>
        <p:spPr>
          <a:xfrm>
            <a:off x="530352" y="1078992"/>
            <a:ext cx="10972800" cy="38404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A4B4C1"/>
                </a:solidFill>
                <a:latin typeface="Aptos"/>
              </a:rPr>
              <a:t>Recommendation review and budget simulation are intentionally separated from external advertising-platform execution.</a:t>
            </a:r>
          </a:p>
        </p:txBody>
      </p:sp>
      <p:cxnSp>
        <p:nvCxnSpPr>
          <p:cNvPr id="5" name="Connector 4"/>
          <p:cNvCxnSpPr/>
          <p:nvPr/>
        </p:nvCxnSpPr>
        <p:spPr>
          <a:xfrm>
            <a:off x="502920" y="1517904"/>
            <a:ext cx="11183112" cy="0"/>
          </a:xfrm>
          <a:prstGeom prst="line">
            <a:avLst/>
          </a:prstGeom>
          <a:ln w="10160">
            <a:solidFill>
              <a:srgbClr val="2B3A4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292840" y="283464"/>
            <a:ext cx="384048" cy="201168"/>
          </a:xfrm>
          <a:prstGeom prst="rect">
            <a:avLst/>
          </a:prstGeom>
          <a:noFill/>
        </p:spPr>
        <p:txBody>
          <a:bodyPr wrap="square" lIns="36576" tIns="36576" rIns="36576" bIns="36576" anchor="t">
            <a:spAutoFit/>
          </a:bodyPr>
          <a:lstStyle/>
          <a:p>
            <a:pPr algn="r">
              <a:spcBef>
                <a:spcPts val="0"/>
              </a:spcBef>
              <a:spcAft>
                <a:spcPts val="0"/>
              </a:spcAft>
            </a:pPr>
            <a:r>
              <a:rPr sz="900" b="1" i="0">
                <a:solidFill>
                  <a:srgbClr val="A4B4C1"/>
                </a:solidFill>
                <a:latin typeface="Cascadia Code"/>
              </a:rPr>
              <a:t>08</a:t>
            </a:r>
          </a:p>
        </p:txBody>
      </p:sp>
      <p:cxnSp>
        <p:nvCxnSpPr>
          <p:cNvPr id="7" name="Connector 6"/>
          <p:cNvCxnSpPr/>
          <p:nvPr/>
        </p:nvCxnSpPr>
        <p:spPr>
          <a:xfrm>
            <a:off x="502920" y="6510528"/>
            <a:ext cx="11183112" cy="0"/>
          </a:xfrm>
          <a:prstGeom prst="line">
            <a:avLst/>
          </a:prstGeom>
          <a:ln w="7620">
            <a:solidFill>
              <a:srgbClr val="2B3A4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56248"/>
            <a:ext cx="6858000" cy="146304"/>
          </a:xfrm>
          <a:prstGeom prst="rect">
            <a:avLst/>
          </a:prstGeom>
          <a:noFill/>
        </p:spPr>
        <p:txBody>
          <a:bodyPr wrap="square" lIns="36576" tIns="36576" rIns="36576" bIns="36576" anchor="t">
            <a:spAutoFit/>
          </a:bodyPr>
          <a:lstStyle/>
          <a:p>
            <a:pPr algn="l">
              <a:spcBef>
                <a:spcPts val="0"/>
              </a:spcBef>
              <a:spcAft>
                <a:spcPts val="0"/>
              </a:spcAft>
            </a:pPr>
            <a:r>
              <a:rPr sz="700" b="0" i="0">
                <a:solidFill>
                  <a:srgbClr val="A4B4C1"/>
                </a:solidFill>
                <a:latin typeface="Cascadia Code"/>
              </a:rPr>
              <a:t>ADPILOT D2C INTELLIGENCE  /  TECHNICAL ARCHITECTURE</a:t>
            </a:r>
          </a:p>
        </p:txBody>
      </p:sp>
      <p:sp>
        <p:nvSpPr>
          <p:cNvPr id="9" name="TextBox 8"/>
          <p:cNvSpPr txBox="1"/>
          <p:nvPr/>
        </p:nvSpPr>
        <p:spPr>
          <a:xfrm>
            <a:off x="11064240" y="6547104"/>
            <a:ext cx="594360" cy="181588"/>
          </a:xfrm>
          <a:prstGeom prst="rect">
            <a:avLst/>
          </a:prstGeom>
          <a:noFill/>
        </p:spPr>
        <p:txBody>
          <a:bodyPr wrap="square" lIns="36576" tIns="36576" rIns="36576" bIns="36576" anchor="t">
            <a:spAutoFit/>
          </a:bodyPr>
          <a:lstStyle/>
          <a:p>
            <a:pPr algn="r">
              <a:spcBef>
                <a:spcPts val="0"/>
              </a:spcBef>
              <a:spcAft>
                <a:spcPts val="0"/>
              </a:spcAft>
            </a:pPr>
            <a:r>
              <a:rPr lang="en-IN" sz="700" b="0" i="0" dirty="0">
                <a:solidFill>
                  <a:srgbClr val="A4B4C1"/>
                </a:solidFill>
                <a:latin typeface="Cascadia Code"/>
              </a:rPr>
              <a:t>09</a:t>
            </a:r>
            <a:r>
              <a:rPr sz="700" b="0" i="0" dirty="0">
                <a:solidFill>
                  <a:srgbClr val="A4B4C1"/>
                </a:solidFill>
                <a:latin typeface="Cascadia Code"/>
              </a:rPr>
              <a:t> / </a:t>
            </a:r>
            <a:r>
              <a:rPr lang="en-IN" sz="700" b="0" i="0" dirty="0">
                <a:solidFill>
                  <a:srgbClr val="A4B4C1"/>
                </a:solidFill>
                <a:latin typeface="Cascadia Code"/>
              </a:rPr>
              <a:t>16</a:t>
            </a:r>
            <a:endParaRPr sz="700" b="0" i="0" dirty="0">
              <a:solidFill>
                <a:srgbClr val="A4B4C1"/>
              </a:solidFill>
              <a:latin typeface="Cascadia Code"/>
            </a:endParaRPr>
          </a:p>
        </p:txBody>
      </p:sp>
      <p:sp>
        <p:nvSpPr>
          <p:cNvPr id="10" name="Rounded Rectangle 9"/>
          <p:cNvSpPr/>
          <p:nvPr/>
        </p:nvSpPr>
        <p:spPr>
          <a:xfrm>
            <a:off x="777240" y="1920240"/>
            <a:ext cx="1645920" cy="594360"/>
          </a:xfrm>
          <a:prstGeom prst="roundRect">
            <a:avLst>
              <a:gd name="adj" fmla="val 12000"/>
            </a:avLst>
          </a:prstGeom>
          <a:solidFill>
            <a:srgbClr val="121B28"/>
          </a:solidFill>
          <a:ln w="10160">
            <a:solidFill>
              <a:srgbClr val="6A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3" y="2093976"/>
            <a:ext cx="1536192" cy="210312"/>
          </a:xfrm>
          <a:prstGeom prst="rect">
            <a:avLst/>
          </a:prstGeom>
          <a:noFill/>
        </p:spPr>
        <p:txBody>
          <a:bodyPr wrap="square" lIns="36576" tIns="36576" rIns="36576" bIns="36576" anchor="t">
            <a:spAutoFit/>
          </a:bodyPr>
          <a:lstStyle/>
          <a:p>
            <a:pPr algn="ctr">
              <a:spcBef>
                <a:spcPts val="0"/>
              </a:spcBef>
              <a:spcAft>
                <a:spcPts val="0"/>
              </a:spcAft>
            </a:pPr>
            <a:r>
              <a:rPr sz="1000" b="1" i="0">
                <a:solidFill>
                  <a:srgbClr val="6AAAFF"/>
                </a:solidFill>
                <a:latin typeface="Cascadia Code"/>
              </a:rPr>
              <a:t>PROPOSED</a:t>
            </a:r>
          </a:p>
        </p:txBody>
      </p:sp>
      <p:sp>
        <p:nvSpPr>
          <p:cNvPr id="12" name="Rounded Rectangle 11"/>
          <p:cNvSpPr/>
          <p:nvPr/>
        </p:nvSpPr>
        <p:spPr>
          <a:xfrm>
            <a:off x="3063240" y="1508760"/>
            <a:ext cx="1645920" cy="594360"/>
          </a:xfrm>
          <a:prstGeom prst="roundRect">
            <a:avLst>
              <a:gd name="adj" fmla="val 12000"/>
            </a:avLst>
          </a:prstGeom>
          <a:solidFill>
            <a:srgbClr val="121B28"/>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118104" y="1682495"/>
            <a:ext cx="1536192" cy="210312"/>
          </a:xfrm>
          <a:prstGeom prst="rect">
            <a:avLst/>
          </a:prstGeom>
          <a:noFill/>
        </p:spPr>
        <p:txBody>
          <a:bodyPr wrap="square" lIns="36576" tIns="36576" rIns="36576" bIns="36576" anchor="t">
            <a:spAutoFit/>
          </a:bodyPr>
          <a:lstStyle/>
          <a:p>
            <a:pPr algn="ctr">
              <a:spcBef>
                <a:spcPts val="0"/>
              </a:spcBef>
              <a:spcAft>
                <a:spcPts val="0"/>
              </a:spcAft>
            </a:pPr>
            <a:r>
              <a:rPr sz="1000" b="1" i="0">
                <a:solidFill>
                  <a:srgbClr val="BEF264"/>
                </a:solidFill>
                <a:latin typeface="Cascadia Code"/>
              </a:rPr>
              <a:t>APPROVED</a:t>
            </a:r>
          </a:p>
        </p:txBody>
      </p:sp>
      <p:sp>
        <p:nvSpPr>
          <p:cNvPr id="14" name="Rounded Rectangle 13"/>
          <p:cNvSpPr/>
          <p:nvPr/>
        </p:nvSpPr>
        <p:spPr>
          <a:xfrm>
            <a:off x="3063240" y="2468880"/>
            <a:ext cx="1645920" cy="594360"/>
          </a:xfrm>
          <a:prstGeom prst="roundRect">
            <a:avLst>
              <a:gd name="adj" fmla="val 12000"/>
            </a:avLst>
          </a:prstGeom>
          <a:solidFill>
            <a:srgbClr val="121B28"/>
          </a:solidFill>
          <a:ln w="10160">
            <a:solidFill>
              <a:srgbClr val="FF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118104" y="2642616"/>
            <a:ext cx="1536192" cy="210312"/>
          </a:xfrm>
          <a:prstGeom prst="rect">
            <a:avLst/>
          </a:prstGeom>
          <a:noFill/>
        </p:spPr>
        <p:txBody>
          <a:bodyPr wrap="square" lIns="36576" tIns="36576" rIns="36576" bIns="36576" anchor="t">
            <a:spAutoFit/>
          </a:bodyPr>
          <a:lstStyle/>
          <a:p>
            <a:pPr algn="ctr">
              <a:spcBef>
                <a:spcPts val="0"/>
              </a:spcBef>
              <a:spcAft>
                <a:spcPts val="0"/>
              </a:spcAft>
            </a:pPr>
            <a:r>
              <a:rPr sz="1000" b="1" i="0">
                <a:solidFill>
                  <a:srgbClr val="FF7070"/>
                </a:solidFill>
                <a:latin typeface="Cascadia Code"/>
              </a:rPr>
              <a:t>REJECTED</a:t>
            </a:r>
          </a:p>
        </p:txBody>
      </p:sp>
      <p:sp>
        <p:nvSpPr>
          <p:cNvPr id="16" name="Rounded Rectangle 15"/>
          <p:cNvSpPr/>
          <p:nvPr/>
        </p:nvSpPr>
        <p:spPr>
          <a:xfrm>
            <a:off x="5532120" y="1920240"/>
            <a:ext cx="1645920" cy="594360"/>
          </a:xfrm>
          <a:prstGeom prst="roundRect">
            <a:avLst>
              <a:gd name="adj" fmla="val 12000"/>
            </a:avLst>
          </a:prstGeom>
          <a:solidFill>
            <a:srgbClr val="121B28"/>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586983" y="2093976"/>
            <a:ext cx="1536192" cy="210312"/>
          </a:xfrm>
          <a:prstGeom prst="rect">
            <a:avLst/>
          </a:prstGeom>
          <a:noFill/>
        </p:spPr>
        <p:txBody>
          <a:bodyPr wrap="square" lIns="36576" tIns="36576" rIns="36576" bIns="36576" anchor="t">
            <a:spAutoFit/>
          </a:bodyPr>
          <a:lstStyle/>
          <a:p>
            <a:pPr algn="ctr">
              <a:spcBef>
                <a:spcPts val="0"/>
              </a:spcBef>
              <a:spcAft>
                <a:spcPts val="0"/>
              </a:spcAft>
            </a:pPr>
            <a:r>
              <a:rPr sz="1000" b="1" i="0">
                <a:solidFill>
                  <a:srgbClr val="4BDCBE"/>
                </a:solidFill>
                <a:latin typeface="Cascadia Code"/>
              </a:rPr>
              <a:t>SIMULATED</a:t>
            </a:r>
          </a:p>
        </p:txBody>
      </p:sp>
      <p:sp>
        <p:nvSpPr>
          <p:cNvPr id="18" name="Rounded Rectangle 17"/>
          <p:cNvSpPr/>
          <p:nvPr/>
        </p:nvSpPr>
        <p:spPr>
          <a:xfrm>
            <a:off x="8046720" y="1920240"/>
            <a:ext cx="1645920" cy="594360"/>
          </a:xfrm>
          <a:prstGeom prst="roundRect">
            <a:avLst>
              <a:gd name="adj" fmla="val 12000"/>
            </a:avLst>
          </a:prstGeom>
          <a:solidFill>
            <a:srgbClr val="121B28"/>
          </a:solidFill>
          <a:ln w="10160">
            <a:solidFill>
              <a:srgbClr val="FFC4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01584" y="2093976"/>
            <a:ext cx="1536192" cy="210312"/>
          </a:xfrm>
          <a:prstGeom prst="rect">
            <a:avLst/>
          </a:prstGeom>
          <a:noFill/>
        </p:spPr>
        <p:txBody>
          <a:bodyPr wrap="square" lIns="36576" tIns="36576" rIns="36576" bIns="36576" anchor="t">
            <a:spAutoFit/>
          </a:bodyPr>
          <a:lstStyle/>
          <a:p>
            <a:pPr algn="ctr">
              <a:spcBef>
                <a:spcPts val="0"/>
              </a:spcBef>
              <a:spcAft>
                <a:spcPts val="0"/>
              </a:spcAft>
            </a:pPr>
            <a:r>
              <a:rPr sz="1000" b="1" i="0">
                <a:solidFill>
                  <a:srgbClr val="FFC45C"/>
                </a:solidFill>
                <a:latin typeface="Cascadia Code"/>
              </a:rPr>
              <a:t>ROLLED BACK</a:t>
            </a:r>
          </a:p>
        </p:txBody>
      </p:sp>
      <p:cxnSp>
        <p:nvCxnSpPr>
          <p:cNvPr id="20" name="Connector 19"/>
          <p:cNvCxnSpPr/>
          <p:nvPr/>
        </p:nvCxnSpPr>
        <p:spPr>
          <a:xfrm flipV="1">
            <a:off x="2423160" y="1810512"/>
            <a:ext cx="640080" cy="402336"/>
          </a:xfrm>
          <a:prstGeom prst="line">
            <a:avLst/>
          </a:prstGeom>
          <a:ln w="17780">
            <a:solidFill>
              <a:srgbClr val="6AAAF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423160" y="2212848"/>
            <a:ext cx="640080" cy="548640"/>
          </a:xfrm>
          <a:prstGeom prst="line">
            <a:avLst/>
          </a:prstGeom>
          <a:ln w="17780">
            <a:solidFill>
              <a:srgbClr val="6AAAF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709160" y="1810512"/>
            <a:ext cx="822960" cy="402336"/>
          </a:xfrm>
          <a:prstGeom prst="line">
            <a:avLst/>
          </a:prstGeom>
          <a:ln w="17780">
            <a:solidFill>
              <a:srgbClr val="BEF26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178040" y="2212848"/>
            <a:ext cx="868680" cy="0"/>
          </a:xfrm>
          <a:prstGeom prst="line">
            <a:avLst/>
          </a:prstGeom>
          <a:ln w="17780">
            <a:solidFill>
              <a:srgbClr val="4BDCB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960" y="3310128"/>
            <a:ext cx="9144000" cy="27432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BEF264"/>
                </a:solidFill>
                <a:latin typeface="Cascadia Code"/>
              </a:rPr>
              <a:t>SQLite persistence surfaces</a:t>
            </a:r>
          </a:p>
        </p:txBody>
      </p:sp>
      <p:sp>
        <p:nvSpPr>
          <p:cNvPr id="25" name="Rounded Rectangle 24"/>
          <p:cNvSpPr/>
          <p:nvPr/>
        </p:nvSpPr>
        <p:spPr>
          <a:xfrm>
            <a:off x="777240" y="3703320"/>
            <a:ext cx="2542032" cy="914400"/>
          </a:xfrm>
          <a:prstGeom prst="roundRect">
            <a:avLst>
              <a:gd name="adj" fmla="val 12000"/>
            </a:avLst>
          </a:prstGeom>
          <a:solidFill>
            <a:srgbClr val="172331"/>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05256" y="3822191"/>
            <a:ext cx="2286000" cy="22860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4BDCBE"/>
                </a:solidFill>
                <a:latin typeface="Cascadia Code"/>
              </a:rPr>
              <a:t>decisions</a:t>
            </a:r>
          </a:p>
        </p:txBody>
      </p:sp>
      <p:sp>
        <p:nvSpPr>
          <p:cNvPr id="27" name="TextBox 26"/>
          <p:cNvSpPr txBox="1"/>
          <p:nvPr/>
        </p:nvSpPr>
        <p:spPr>
          <a:xfrm>
            <a:off x="905256" y="4151376"/>
            <a:ext cx="2286000" cy="256032"/>
          </a:xfrm>
          <a:prstGeom prst="rect">
            <a:avLst/>
          </a:prstGeom>
          <a:noFill/>
        </p:spPr>
        <p:txBody>
          <a:bodyPr wrap="square" lIns="36576" tIns="36576" rIns="36576" bIns="36576" anchor="t">
            <a:spAutoFit/>
          </a:bodyPr>
          <a:lstStyle/>
          <a:p>
            <a:pPr algn="l">
              <a:spcBef>
                <a:spcPts val="0"/>
              </a:spcBef>
              <a:spcAft>
                <a:spcPts val="0"/>
              </a:spcAft>
            </a:pPr>
            <a:r>
              <a:rPr sz="900" b="0" i="0">
                <a:solidFill>
                  <a:srgbClr val="A4B4C1"/>
                </a:solidFill>
                <a:latin typeface="Aptos"/>
              </a:rPr>
              <a:t>Current recommendation state</a:t>
            </a:r>
          </a:p>
        </p:txBody>
      </p:sp>
      <p:sp>
        <p:nvSpPr>
          <p:cNvPr id="28" name="Rounded Rectangle 27"/>
          <p:cNvSpPr/>
          <p:nvPr/>
        </p:nvSpPr>
        <p:spPr>
          <a:xfrm>
            <a:off x="3566160" y="3703320"/>
            <a:ext cx="2542032" cy="914400"/>
          </a:xfrm>
          <a:prstGeom prst="roundRect">
            <a:avLst>
              <a:gd name="adj" fmla="val 12000"/>
            </a:avLst>
          </a:prstGeom>
          <a:solidFill>
            <a:srgbClr val="172331"/>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94176" y="3822191"/>
            <a:ext cx="2286000" cy="22860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4BDCBE"/>
                </a:solidFill>
                <a:latin typeface="Cascadia Code"/>
              </a:rPr>
              <a:t>decision_events</a:t>
            </a:r>
          </a:p>
        </p:txBody>
      </p:sp>
      <p:sp>
        <p:nvSpPr>
          <p:cNvPr id="30" name="TextBox 29"/>
          <p:cNvSpPr txBox="1"/>
          <p:nvPr/>
        </p:nvSpPr>
        <p:spPr>
          <a:xfrm>
            <a:off x="3694176" y="4151376"/>
            <a:ext cx="2286000" cy="256032"/>
          </a:xfrm>
          <a:prstGeom prst="rect">
            <a:avLst/>
          </a:prstGeom>
          <a:noFill/>
        </p:spPr>
        <p:txBody>
          <a:bodyPr wrap="square" lIns="36576" tIns="36576" rIns="36576" bIns="36576" anchor="t">
            <a:spAutoFit/>
          </a:bodyPr>
          <a:lstStyle/>
          <a:p>
            <a:pPr algn="l">
              <a:spcBef>
                <a:spcPts val="0"/>
              </a:spcBef>
              <a:spcAft>
                <a:spcPts val="0"/>
              </a:spcAft>
            </a:pPr>
            <a:r>
              <a:rPr sz="900" b="0" i="0">
                <a:solidFill>
                  <a:srgbClr val="A4B4C1"/>
                </a:solidFill>
                <a:latin typeface="Aptos"/>
              </a:rPr>
              <a:t>Append-style action history</a:t>
            </a:r>
          </a:p>
        </p:txBody>
      </p:sp>
      <p:sp>
        <p:nvSpPr>
          <p:cNvPr id="31" name="Rounded Rectangle 30"/>
          <p:cNvSpPr/>
          <p:nvPr/>
        </p:nvSpPr>
        <p:spPr>
          <a:xfrm>
            <a:off x="6355079" y="3703320"/>
            <a:ext cx="2542032" cy="914400"/>
          </a:xfrm>
          <a:prstGeom prst="roundRect">
            <a:avLst>
              <a:gd name="adj" fmla="val 12000"/>
            </a:avLst>
          </a:prstGeom>
          <a:solidFill>
            <a:srgbClr val="172331"/>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83095" y="3822191"/>
            <a:ext cx="2286000" cy="22860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4BDCBE"/>
                </a:solidFill>
                <a:latin typeface="Cascadia Code"/>
              </a:rPr>
              <a:t>rollback_audit</a:t>
            </a:r>
          </a:p>
        </p:txBody>
      </p:sp>
      <p:sp>
        <p:nvSpPr>
          <p:cNvPr id="33" name="TextBox 32"/>
          <p:cNvSpPr txBox="1"/>
          <p:nvPr/>
        </p:nvSpPr>
        <p:spPr>
          <a:xfrm>
            <a:off x="6483095" y="4151376"/>
            <a:ext cx="2286000" cy="256032"/>
          </a:xfrm>
          <a:prstGeom prst="rect">
            <a:avLst/>
          </a:prstGeom>
          <a:noFill/>
        </p:spPr>
        <p:txBody>
          <a:bodyPr wrap="square" lIns="36576" tIns="36576" rIns="36576" bIns="36576" anchor="t">
            <a:spAutoFit/>
          </a:bodyPr>
          <a:lstStyle/>
          <a:p>
            <a:pPr algn="l">
              <a:spcBef>
                <a:spcPts val="0"/>
              </a:spcBef>
              <a:spcAft>
                <a:spcPts val="0"/>
              </a:spcAft>
            </a:pPr>
            <a:r>
              <a:rPr sz="900" b="0" i="0">
                <a:solidFill>
                  <a:srgbClr val="A4B4C1"/>
                </a:solidFill>
                <a:latin typeface="Aptos"/>
              </a:rPr>
              <a:t>Rollback metadata / trace</a:t>
            </a:r>
          </a:p>
        </p:txBody>
      </p:sp>
      <p:sp>
        <p:nvSpPr>
          <p:cNvPr id="34" name="Rounded Rectangle 33"/>
          <p:cNvSpPr/>
          <p:nvPr/>
        </p:nvSpPr>
        <p:spPr>
          <a:xfrm>
            <a:off x="9143999" y="3703320"/>
            <a:ext cx="2542032" cy="914400"/>
          </a:xfrm>
          <a:prstGeom prst="roundRect">
            <a:avLst>
              <a:gd name="adj" fmla="val 12000"/>
            </a:avLst>
          </a:prstGeom>
          <a:solidFill>
            <a:srgbClr val="172331"/>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272015" y="3822191"/>
            <a:ext cx="2286000" cy="22860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4BDCBE"/>
                </a:solidFill>
                <a:latin typeface="Cascadia Code"/>
              </a:rPr>
              <a:t>budget_scenarios</a:t>
            </a:r>
          </a:p>
        </p:txBody>
      </p:sp>
      <p:sp>
        <p:nvSpPr>
          <p:cNvPr id="36" name="TextBox 35"/>
          <p:cNvSpPr txBox="1"/>
          <p:nvPr/>
        </p:nvSpPr>
        <p:spPr>
          <a:xfrm>
            <a:off x="9272015" y="4151376"/>
            <a:ext cx="2286000" cy="256032"/>
          </a:xfrm>
          <a:prstGeom prst="rect">
            <a:avLst/>
          </a:prstGeom>
          <a:noFill/>
        </p:spPr>
        <p:txBody>
          <a:bodyPr wrap="square" lIns="36576" tIns="36576" rIns="36576" bIns="36576" anchor="t">
            <a:spAutoFit/>
          </a:bodyPr>
          <a:lstStyle/>
          <a:p>
            <a:pPr algn="l">
              <a:spcBef>
                <a:spcPts val="0"/>
              </a:spcBef>
              <a:spcAft>
                <a:spcPts val="0"/>
              </a:spcAft>
            </a:pPr>
            <a:r>
              <a:rPr sz="900" b="0" i="0">
                <a:solidFill>
                  <a:srgbClr val="A4B4C1"/>
                </a:solidFill>
                <a:latin typeface="Aptos"/>
              </a:rPr>
              <a:t>Simulation inputs and outputs</a:t>
            </a:r>
          </a:p>
        </p:txBody>
      </p:sp>
      <p:sp>
        <p:nvSpPr>
          <p:cNvPr id="37" name="Rounded Rectangle 36"/>
          <p:cNvSpPr/>
          <p:nvPr/>
        </p:nvSpPr>
        <p:spPr>
          <a:xfrm>
            <a:off x="786384" y="5074920"/>
            <a:ext cx="10835640" cy="640080"/>
          </a:xfrm>
          <a:prstGeom prst="roundRect">
            <a:avLst>
              <a:gd name="adj" fmla="val 12000"/>
            </a:avLst>
          </a:prstGeom>
          <a:solidFill>
            <a:srgbClr val="121B28"/>
          </a:solidFill>
          <a:ln w="10160">
            <a:solidFill>
              <a:srgbClr val="FFC4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0120" y="5230368"/>
            <a:ext cx="10469880" cy="329184"/>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FFC45C"/>
                </a:solidFill>
                <a:latin typeface="Aptos"/>
              </a:rPr>
              <a:t>A decision record documents human intent; a scenario models a possible budget change. Neither state implies that an ad platform was modified.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F18"/>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8961120" cy="219456"/>
          </a:xfrm>
          <a:prstGeom prst="rect">
            <a:avLst/>
          </a:prstGeom>
          <a:noFill/>
        </p:spPr>
        <p:txBody>
          <a:bodyPr wrap="square" lIns="36576" tIns="36576" rIns="36576" bIns="36576" anchor="t">
            <a:spAutoFit/>
          </a:bodyPr>
          <a:lstStyle/>
          <a:p>
            <a:pPr algn="l">
              <a:spcBef>
                <a:spcPts val="0"/>
              </a:spcBef>
              <a:spcAft>
                <a:spcPts val="0"/>
              </a:spcAft>
            </a:pPr>
            <a:r>
              <a:rPr lang="en-IN" sz="900" b="1" i="0" dirty="0">
                <a:solidFill>
                  <a:srgbClr val="BEF264"/>
                </a:solidFill>
                <a:latin typeface="Cascadia Code"/>
              </a:rPr>
              <a:t>09</a:t>
            </a:r>
            <a:r>
              <a:rPr sz="900" b="1" i="0" dirty="0">
                <a:solidFill>
                  <a:srgbClr val="BEF264"/>
                </a:solidFill>
                <a:latin typeface="Cascadia Code"/>
              </a:rPr>
              <a:t> / AI INTEGRATION</a:t>
            </a:r>
          </a:p>
        </p:txBody>
      </p:sp>
      <p:sp>
        <p:nvSpPr>
          <p:cNvPr id="3" name="TextBox 2"/>
          <p:cNvSpPr txBox="1"/>
          <p:nvPr/>
        </p:nvSpPr>
        <p:spPr>
          <a:xfrm>
            <a:off x="502920" y="557784"/>
            <a:ext cx="11155680" cy="475488"/>
          </a:xfrm>
          <a:prstGeom prst="rect">
            <a:avLst/>
          </a:prstGeom>
          <a:noFill/>
        </p:spPr>
        <p:txBody>
          <a:bodyPr wrap="square" lIns="36576" tIns="36576" rIns="36576" bIns="36576" anchor="t">
            <a:spAutoFit/>
          </a:bodyPr>
          <a:lstStyle/>
          <a:p>
            <a:pPr algn="l">
              <a:spcBef>
                <a:spcPts val="0"/>
              </a:spcBef>
              <a:spcAft>
                <a:spcPts val="0"/>
              </a:spcAft>
            </a:pPr>
            <a:r>
              <a:rPr sz="2500" b="1" i="0">
                <a:solidFill>
                  <a:srgbClr val="EEF4F7"/>
                </a:solidFill>
                <a:latin typeface="Aptos"/>
              </a:rPr>
              <a:t>AI is a summarization layer—not the source of truth</a:t>
            </a:r>
          </a:p>
        </p:txBody>
      </p:sp>
      <p:sp>
        <p:nvSpPr>
          <p:cNvPr id="4" name="TextBox 3"/>
          <p:cNvSpPr txBox="1"/>
          <p:nvPr/>
        </p:nvSpPr>
        <p:spPr>
          <a:xfrm>
            <a:off x="530352" y="1078992"/>
            <a:ext cx="10972800" cy="38404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A4B4C1"/>
                </a:solidFill>
                <a:latin typeface="Aptos"/>
              </a:rPr>
              <a:t>Gemini is optional, user-triggered and constrained to describing aggregate observations already computed by the analytics layer.</a:t>
            </a:r>
          </a:p>
        </p:txBody>
      </p:sp>
      <p:cxnSp>
        <p:nvCxnSpPr>
          <p:cNvPr id="5" name="Connector 4"/>
          <p:cNvCxnSpPr/>
          <p:nvPr/>
        </p:nvCxnSpPr>
        <p:spPr>
          <a:xfrm>
            <a:off x="502920" y="1517904"/>
            <a:ext cx="11183112" cy="0"/>
          </a:xfrm>
          <a:prstGeom prst="line">
            <a:avLst/>
          </a:prstGeom>
          <a:ln w="10160">
            <a:solidFill>
              <a:srgbClr val="2B3A4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292840" y="283464"/>
            <a:ext cx="384048" cy="201168"/>
          </a:xfrm>
          <a:prstGeom prst="rect">
            <a:avLst/>
          </a:prstGeom>
          <a:noFill/>
        </p:spPr>
        <p:txBody>
          <a:bodyPr wrap="square" lIns="36576" tIns="36576" rIns="36576" bIns="36576" anchor="t">
            <a:spAutoFit/>
          </a:bodyPr>
          <a:lstStyle/>
          <a:p>
            <a:pPr algn="r">
              <a:spcBef>
                <a:spcPts val="0"/>
              </a:spcBef>
              <a:spcAft>
                <a:spcPts val="0"/>
              </a:spcAft>
            </a:pPr>
            <a:r>
              <a:rPr sz="900" b="1" i="0">
                <a:solidFill>
                  <a:srgbClr val="A4B4C1"/>
                </a:solidFill>
                <a:latin typeface="Cascadia Code"/>
              </a:rPr>
              <a:t>09</a:t>
            </a:r>
          </a:p>
        </p:txBody>
      </p:sp>
      <p:cxnSp>
        <p:nvCxnSpPr>
          <p:cNvPr id="7" name="Connector 6"/>
          <p:cNvCxnSpPr/>
          <p:nvPr/>
        </p:nvCxnSpPr>
        <p:spPr>
          <a:xfrm>
            <a:off x="502920" y="6510528"/>
            <a:ext cx="11183112" cy="0"/>
          </a:xfrm>
          <a:prstGeom prst="line">
            <a:avLst/>
          </a:prstGeom>
          <a:ln w="7620">
            <a:solidFill>
              <a:srgbClr val="2B3A4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56248"/>
            <a:ext cx="6858000" cy="146304"/>
          </a:xfrm>
          <a:prstGeom prst="rect">
            <a:avLst/>
          </a:prstGeom>
          <a:noFill/>
        </p:spPr>
        <p:txBody>
          <a:bodyPr wrap="square" lIns="36576" tIns="36576" rIns="36576" bIns="36576" anchor="t">
            <a:spAutoFit/>
          </a:bodyPr>
          <a:lstStyle/>
          <a:p>
            <a:pPr algn="l">
              <a:spcBef>
                <a:spcPts val="0"/>
              </a:spcBef>
              <a:spcAft>
                <a:spcPts val="0"/>
              </a:spcAft>
            </a:pPr>
            <a:r>
              <a:rPr sz="700" b="0" i="0">
                <a:solidFill>
                  <a:srgbClr val="A4B4C1"/>
                </a:solidFill>
                <a:latin typeface="Cascadia Code"/>
              </a:rPr>
              <a:t>ADPILOT D2C INTELLIGENCE  /  TECHNICAL ARCHITECTURE</a:t>
            </a:r>
          </a:p>
        </p:txBody>
      </p:sp>
      <p:sp>
        <p:nvSpPr>
          <p:cNvPr id="9" name="TextBox 8"/>
          <p:cNvSpPr txBox="1"/>
          <p:nvPr/>
        </p:nvSpPr>
        <p:spPr>
          <a:xfrm>
            <a:off x="11064240" y="6547104"/>
            <a:ext cx="594360" cy="181588"/>
          </a:xfrm>
          <a:prstGeom prst="rect">
            <a:avLst/>
          </a:prstGeom>
          <a:noFill/>
        </p:spPr>
        <p:txBody>
          <a:bodyPr wrap="square" lIns="36576" tIns="36576" rIns="36576" bIns="36576" anchor="t">
            <a:spAutoFit/>
          </a:bodyPr>
          <a:lstStyle/>
          <a:p>
            <a:pPr algn="r">
              <a:spcBef>
                <a:spcPts val="0"/>
              </a:spcBef>
              <a:spcAft>
                <a:spcPts val="0"/>
              </a:spcAft>
            </a:pPr>
            <a:r>
              <a:rPr lang="en-IN" sz="700" b="0" i="0" dirty="0">
                <a:solidFill>
                  <a:srgbClr val="A4B4C1"/>
                </a:solidFill>
                <a:latin typeface="Cascadia Code"/>
              </a:rPr>
              <a:t>10</a:t>
            </a:r>
            <a:r>
              <a:rPr sz="700" b="0" i="0" dirty="0">
                <a:solidFill>
                  <a:srgbClr val="A4B4C1"/>
                </a:solidFill>
                <a:latin typeface="Cascadia Code"/>
              </a:rPr>
              <a:t> / </a:t>
            </a:r>
            <a:r>
              <a:rPr lang="en-IN" sz="700" b="0" i="0" dirty="0">
                <a:solidFill>
                  <a:srgbClr val="A4B4C1"/>
                </a:solidFill>
                <a:latin typeface="Cascadia Code"/>
              </a:rPr>
              <a:t>16</a:t>
            </a:r>
            <a:endParaRPr sz="700" b="0" i="0" dirty="0">
              <a:solidFill>
                <a:srgbClr val="A4B4C1"/>
              </a:solidFill>
              <a:latin typeface="Cascadia Code"/>
            </a:endParaRPr>
          </a:p>
        </p:txBody>
      </p:sp>
      <p:sp>
        <p:nvSpPr>
          <p:cNvPr id="10" name="Rounded Rectangle 9"/>
          <p:cNvSpPr/>
          <p:nvPr/>
        </p:nvSpPr>
        <p:spPr>
          <a:xfrm>
            <a:off x="713232" y="1901952"/>
            <a:ext cx="2011680" cy="868680"/>
          </a:xfrm>
          <a:prstGeom prst="roundRect">
            <a:avLst>
              <a:gd name="adj" fmla="val 12000"/>
            </a:avLst>
          </a:prstGeom>
          <a:solidFill>
            <a:srgbClr val="121B28"/>
          </a:solidFill>
          <a:ln w="10160">
            <a:solidFill>
              <a:srgbClr val="6A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13232" y="1901952"/>
            <a:ext cx="64008" cy="868680"/>
          </a:xfrm>
          <a:prstGeom prst="rect">
            <a:avLst/>
          </a:prstGeom>
          <a:solidFill>
            <a:srgbClr val="6AAAFF"/>
          </a:solidFill>
          <a:ln w="10160">
            <a:solidFill>
              <a:srgbClr val="6A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7824" y="1993392"/>
            <a:ext cx="1755648"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USER ACTION</a:t>
            </a:r>
          </a:p>
        </p:txBody>
      </p:sp>
      <p:sp>
        <p:nvSpPr>
          <p:cNvPr id="13" name="TextBox 12"/>
          <p:cNvSpPr txBox="1"/>
          <p:nvPr/>
        </p:nvSpPr>
        <p:spPr>
          <a:xfrm>
            <a:off x="877824" y="2286000"/>
            <a:ext cx="1755648" cy="42976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Request a summary</a:t>
            </a:r>
          </a:p>
        </p:txBody>
      </p:sp>
      <p:sp>
        <p:nvSpPr>
          <p:cNvPr id="14" name="Rounded Rectangle 13"/>
          <p:cNvSpPr/>
          <p:nvPr/>
        </p:nvSpPr>
        <p:spPr>
          <a:xfrm>
            <a:off x="3154680" y="1901952"/>
            <a:ext cx="2194560" cy="868680"/>
          </a:xfrm>
          <a:prstGeom prst="roundRect">
            <a:avLst>
              <a:gd name="adj" fmla="val 12000"/>
            </a:avLst>
          </a:prstGeom>
          <a:solidFill>
            <a:srgbClr val="121B28"/>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154680" y="1901952"/>
            <a:ext cx="64008" cy="868680"/>
          </a:xfrm>
          <a:prstGeom prst="rect">
            <a:avLst/>
          </a:prstGeom>
          <a:solidFill>
            <a:srgbClr val="4BDCBE"/>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19272" y="1993392"/>
            <a:ext cx="1938528"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BACKEND PREP</a:t>
            </a:r>
          </a:p>
        </p:txBody>
      </p:sp>
      <p:sp>
        <p:nvSpPr>
          <p:cNvPr id="17" name="TextBox 16"/>
          <p:cNvSpPr txBox="1"/>
          <p:nvPr/>
        </p:nvSpPr>
        <p:spPr>
          <a:xfrm>
            <a:off x="3319272" y="2286000"/>
            <a:ext cx="1938528" cy="42976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Select / batch rows</a:t>
            </a:r>
          </a:p>
        </p:txBody>
      </p:sp>
      <p:sp>
        <p:nvSpPr>
          <p:cNvPr id="18" name="Rounded Rectangle 17"/>
          <p:cNvSpPr/>
          <p:nvPr/>
        </p:nvSpPr>
        <p:spPr>
          <a:xfrm>
            <a:off x="5806440" y="1627632"/>
            <a:ext cx="2194560" cy="914400"/>
          </a:xfrm>
          <a:prstGeom prst="roundRect">
            <a:avLst>
              <a:gd name="adj" fmla="val 12000"/>
            </a:avLst>
          </a:prstGeom>
          <a:solidFill>
            <a:srgbClr val="121B28"/>
          </a:solidFill>
          <a:ln w="10160">
            <a:solidFill>
              <a:srgbClr val="FFC4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806440" y="1627632"/>
            <a:ext cx="64008" cy="914400"/>
          </a:xfrm>
          <a:prstGeom prst="rect">
            <a:avLst/>
          </a:prstGeom>
          <a:solidFill>
            <a:srgbClr val="FFC45C"/>
          </a:solidFill>
          <a:ln w="10160">
            <a:solidFill>
              <a:srgbClr val="FFC4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71031" y="1719072"/>
            <a:ext cx="1938528"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API KEY SET?</a:t>
            </a:r>
          </a:p>
        </p:txBody>
      </p:sp>
      <p:sp>
        <p:nvSpPr>
          <p:cNvPr id="21" name="TextBox 20"/>
          <p:cNvSpPr txBox="1"/>
          <p:nvPr/>
        </p:nvSpPr>
        <p:spPr>
          <a:xfrm>
            <a:off x="5971031" y="2011680"/>
            <a:ext cx="1938528" cy="47548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Backend environment</a:t>
            </a:r>
          </a:p>
        </p:txBody>
      </p:sp>
      <p:sp>
        <p:nvSpPr>
          <p:cNvPr id="22" name="Rounded Rectangle 21"/>
          <p:cNvSpPr/>
          <p:nvPr/>
        </p:nvSpPr>
        <p:spPr>
          <a:xfrm>
            <a:off x="8549640" y="1554480"/>
            <a:ext cx="2651760" cy="822960"/>
          </a:xfrm>
          <a:prstGeom prst="roundRect">
            <a:avLst>
              <a:gd name="adj" fmla="val 12000"/>
            </a:avLst>
          </a:prstGeom>
          <a:solidFill>
            <a:srgbClr val="121B28"/>
          </a:solidFill>
          <a:ln w="10160">
            <a:solidFill>
              <a:srgbClr val="BE9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549640" y="1554480"/>
            <a:ext cx="64008" cy="822960"/>
          </a:xfrm>
          <a:prstGeom prst="rect">
            <a:avLst/>
          </a:prstGeom>
          <a:solidFill>
            <a:srgbClr val="BE9BFF"/>
          </a:solidFill>
          <a:ln w="10160">
            <a:solidFill>
              <a:srgbClr val="BE9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714232" y="1645920"/>
            <a:ext cx="2395728"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GEMINI PATH</a:t>
            </a:r>
          </a:p>
        </p:txBody>
      </p:sp>
      <p:sp>
        <p:nvSpPr>
          <p:cNvPr id="25" name="TextBox 24"/>
          <p:cNvSpPr txBox="1"/>
          <p:nvPr/>
        </p:nvSpPr>
        <p:spPr>
          <a:xfrm>
            <a:off x="8714232" y="1938528"/>
            <a:ext cx="2395728" cy="38404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summarize_with_gemini()</a:t>
            </a:r>
          </a:p>
        </p:txBody>
      </p:sp>
      <p:sp>
        <p:nvSpPr>
          <p:cNvPr id="26" name="Rounded Rectangle 25"/>
          <p:cNvSpPr/>
          <p:nvPr/>
        </p:nvSpPr>
        <p:spPr>
          <a:xfrm>
            <a:off x="8549640" y="2834640"/>
            <a:ext cx="2651760" cy="822960"/>
          </a:xfrm>
          <a:prstGeom prst="roundRect">
            <a:avLst>
              <a:gd name="adj" fmla="val 12000"/>
            </a:avLst>
          </a:prstGeom>
          <a:solidFill>
            <a:srgbClr val="121B28"/>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549640" y="2834640"/>
            <a:ext cx="64008" cy="822960"/>
          </a:xfrm>
          <a:prstGeom prst="rect">
            <a:avLst/>
          </a:prstGeom>
          <a:solidFill>
            <a:srgbClr val="BEF264"/>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714232" y="2926080"/>
            <a:ext cx="2395728"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DETERMINISTIC PATH</a:t>
            </a:r>
          </a:p>
        </p:txBody>
      </p:sp>
      <p:sp>
        <p:nvSpPr>
          <p:cNvPr id="29" name="TextBox 28"/>
          <p:cNvSpPr txBox="1"/>
          <p:nvPr/>
        </p:nvSpPr>
        <p:spPr>
          <a:xfrm>
            <a:off x="8714232" y="3218688"/>
            <a:ext cx="2395728" cy="38404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Descriptive fallback</a:t>
            </a:r>
          </a:p>
        </p:txBody>
      </p:sp>
      <p:cxnSp>
        <p:nvCxnSpPr>
          <p:cNvPr id="30" name="Connector 29"/>
          <p:cNvCxnSpPr/>
          <p:nvPr/>
        </p:nvCxnSpPr>
        <p:spPr>
          <a:xfrm>
            <a:off x="2724912" y="2331720"/>
            <a:ext cx="429768" cy="0"/>
          </a:xfrm>
          <a:prstGeom prst="line">
            <a:avLst/>
          </a:prstGeom>
          <a:ln w="19050">
            <a:solidFill>
              <a:srgbClr val="6AAA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5349240" y="2103120"/>
            <a:ext cx="457200" cy="228600"/>
          </a:xfrm>
          <a:prstGeom prst="line">
            <a:avLst/>
          </a:prstGeom>
          <a:ln w="19050">
            <a:solidFill>
              <a:srgbClr val="4BDCB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001000" y="1965960"/>
            <a:ext cx="548640" cy="0"/>
          </a:xfrm>
          <a:prstGeom prst="line">
            <a:avLst/>
          </a:prstGeom>
          <a:ln w="17780">
            <a:solidFill>
              <a:srgbClr val="FFC45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001000" y="2267712"/>
            <a:ext cx="548640" cy="932688"/>
          </a:xfrm>
          <a:prstGeom prst="line">
            <a:avLst/>
          </a:prstGeom>
          <a:ln w="17780">
            <a:solidFill>
              <a:srgbClr val="FFC45C"/>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49808" y="4160520"/>
            <a:ext cx="5166360" cy="1097280"/>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41832" y="4297680"/>
            <a:ext cx="4754880" cy="22860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BEF264"/>
                </a:solidFill>
                <a:latin typeface="Cascadia Code"/>
              </a:rPr>
              <a:t>SECURITY / CONTROL</a:t>
            </a:r>
          </a:p>
        </p:txBody>
      </p:sp>
      <p:sp>
        <p:nvSpPr>
          <p:cNvPr id="36" name="TextBox 35"/>
          <p:cNvSpPr txBox="1"/>
          <p:nvPr/>
        </p:nvSpPr>
        <p:spPr>
          <a:xfrm>
            <a:off x="941832" y="4617720"/>
            <a:ext cx="4681728" cy="438912"/>
          </a:xfrm>
          <a:prstGeom prst="rect">
            <a:avLst/>
          </a:prstGeom>
          <a:noFill/>
        </p:spPr>
        <p:txBody>
          <a:bodyPr wrap="square" lIns="36576" tIns="36576" rIns="36576" bIns="36576" anchor="t">
            <a:spAutoFit/>
          </a:bodyPr>
          <a:lstStyle/>
          <a:p>
            <a:pPr algn="l">
              <a:spcBef>
                <a:spcPts val="0"/>
              </a:spcBef>
              <a:spcAft>
                <a:spcPts val="0"/>
              </a:spcAft>
            </a:pPr>
            <a:r>
              <a:rPr sz="1050" b="0" i="0">
                <a:solidFill>
                  <a:srgbClr val="EEF4F7"/>
                </a:solidFill>
                <a:latin typeface="Aptos"/>
              </a:rPr>
              <a:t>The Gemini credential stays on the backend. The browser does not need a provider secret; the request is initiated by the user.</a:t>
            </a:r>
          </a:p>
        </p:txBody>
      </p:sp>
      <p:sp>
        <p:nvSpPr>
          <p:cNvPr id="37" name="Rounded Rectangle 36"/>
          <p:cNvSpPr/>
          <p:nvPr/>
        </p:nvSpPr>
        <p:spPr>
          <a:xfrm>
            <a:off x="6199632" y="4160520"/>
            <a:ext cx="5166360" cy="1097280"/>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82512" y="4297680"/>
            <a:ext cx="4754880" cy="22860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FFC45C"/>
                </a:solidFill>
                <a:latin typeface="Cascadia Code"/>
              </a:rPr>
              <a:t>SEMANTIC LIMITS</a:t>
            </a:r>
          </a:p>
        </p:txBody>
      </p:sp>
      <p:sp>
        <p:nvSpPr>
          <p:cNvPr id="39" name="TextBox 38"/>
          <p:cNvSpPr txBox="1"/>
          <p:nvPr/>
        </p:nvSpPr>
        <p:spPr>
          <a:xfrm>
            <a:off x="6382512" y="4617720"/>
            <a:ext cx="4681728" cy="438912"/>
          </a:xfrm>
          <a:prstGeom prst="rect">
            <a:avLst/>
          </a:prstGeom>
          <a:noFill/>
        </p:spPr>
        <p:txBody>
          <a:bodyPr wrap="square" lIns="36576" tIns="36576" rIns="36576" bIns="36576" anchor="t">
            <a:spAutoFit/>
          </a:bodyPr>
          <a:lstStyle/>
          <a:p>
            <a:pPr algn="l">
              <a:spcBef>
                <a:spcPts val="0"/>
              </a:spcBef>
              <a:spcAft>
                <a:spcPts val="0"/>
              </a:spcAft>
            </a:pPr>
            <a:r>
              <a:rPr sz="1050" b="0" i="0">
                <a:solidFill>
                  <a:srgbClr val="EEF4F7"/>
                </a:solidFill>
                <a:latin typeface="Aptos"/>
              </a:rPr>
              <a:t>Summaries are descriptive, not causal inference, forecasts, or autonomous recommendations. Aggregate inputs reduce unnecessary row-level exposure.</a:t>
            </a:r>
          </a:p>
        </p:txBody>
      </p:sp>
      <p:sp>
        <p:nvSpPr>
          <p:cNvPr id="40" name="TextBox 39"/>
          <p:cNvSpPr txBox="1"/>
          <p:nvPr/>
        </p:nvSpPr>
        <p:spPr>
          <a:xfrm>
            <a:off x="786384" y="5623560"/>
            <a:ext cx="10515600" cy="27432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4BDCBE"/>
                </a:solidFill>
                <a:latin typeface="Aptos"/>
              </a:rPr>
              <a:t>Fallback principle: core metrics and rules remain available even when an external model or API credential is unavailable.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F18"/>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8961120" cy="219456"/>
          </a:xfrm>
          <a:prstGeom prst="rect">
            <a:avLst/>
          </a:prstGeom>
          <a:noFill/>
        </p:spPr>
        <p:txBody>
          <a:bodyPr wrap="square" lIns="36576" tIns="36576" rIns="36576" bIns="36576" anchor="t">
            <a:spAutoFit/>
          </a:bodyPr>
          <a:lstStyle/>
          <a:p>
            <a:pPr algn="l">
              <a:spcBef>
                <a:spcPts val="0"/>
              </a:spcBef>
              <a:spcAft>
                <a:spcPts val="0"/>
              </a:spcAft>
            </a:pPr>
            <a:r>
              <a:rPr lang="en-IN" sz="900" b="1" dirty="0">
                <a:solidFill>
                  <a:srgbClr val="BEF264"/>
                </a:solidFill>
                <a:latin typeface="Cascadia Code"/>
              </a:rPr>
              <a:t>10</a:t>
            </a:r>
            <a:r>
              <a:rPr sz="900" b="1" i="0" dirty="0">
                <a:solidFill>
                  <a:srgbClr val="BEF264"/>
                </a:solidFill>
                <a:latin typeface="Cascadia Code"/>
              </a:rPr>
              <a:t> / FRONTEND + API</a:t>
            </a:r>
          </a:p>
        </p:txBody>
      </p:sp>
      <p:sp>
        <p:nvSpPr>
          <p:cNvPr id="3" name="TextBox 2"/>
          <p:cNvSpPr txBox="1"/>
          <p:nvPr/>
        </p:nvSpPr>
        <p:spPr>
          <a:xfrm>
            <a:off x="502920" y="557784"/>
            <a:ext cx="11155680" cy="475488"/>
          </a:xfrm>
          <a:prstGeom prst="rect">
            <a:avLst/>
          </a:prstGeom>
          <a:noFill/>
        </p:spPr>
        <p:txBody>
          <a:bodyPr wrap="square" lIns="36576" tIns="36576" rIns="36576" bIns="36576" anchor="t">
            <a:spAutoFit/>
          </a:bodyPr>
          <a:lstStyle/>
          <a:p>
            <a:pPr algn="l">
              <a:spcBef>
                <a:spcPts val="0"/>
              </a:spcBef>
              <a:spcAft>
                <a:spcPts val="0"/>
              </a:spcAft>
            </a:pPr>
            <a:r>
              <a:rPr sz="2500" b="1" i="0">
                <a:solidFill>
                  <a:srgbClr val="EEF4F7"/>
                </a:solidFill>
                <a:latin typeface="Aptos"/>
              </a:rPr>
              <a:t>Frontend routes map user intent to backend capabilities</a:t>
            </a:r>
          </a:p>
        </p:txBody>
      </p:sp>
      <p:sp>
        <p:nvSpPr>
          <p:cNvPr id="4" name="TextBox 3"/>
          <p:cNvSpPr txBox="1"/>
          <p:nvPr/>
        </p:nvSpPr>
        <p:spPr>
          <a:xfrm>
            <a:off x="530352" y="1078992"/>
            <a:ext cx="10972800" cy="38404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A4B4C1"/>
                </a:solidFill>
                <a:latin typeface="Aptos"/>
              </a:rPr>
              <a:t>Next.js presents the analytical surface; FastAPI owns data access, metric semantics and persisted decisions.</a:t>
            </a:r>
          </a:p>
        </p:txBody>
      </p:sp>
      <p:cxnSp>
        <p:nvCxnSpPr>
          <p:cNvPr id="5" name="Connector 4"/>
          <p:cNvCxnSpPr/>
          <p:nvPr/>
        </p:nvCxnSpPr>
        <p:spPr>
          <a:xfrm>
            <a:off x="502920" y="1517904"/>
            <a:ext cx="11183112" cy="0"/>
          </a:xfrm>
          <a:prstGeom prst="line">
            <a:avLst/>
          </a:prstGeom>
          <a:ln w="10160">
            <a:solidFill>
              <a:srgbClr val="2B3A4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292840" y="283464"/>
            <a:ext cx="384048" cy="201168"/>
          </a:xfrm>
          <a:prstGeom prst="rect">
            <a:avLst/>
          </a:prstGeom>
          <a:noFill/>
        </p:spPr>
        <p:txBody>
          <a:bodyPr wrap="square" lIns="36576" tIns="36576" rIns="36576" bIns="36576" anchor="t">
            <a:spAutoFit/>
          </a:bodyPr>
          <a:lstStyle/>
          <a:p>
            <a:pPr algn="r">
              <a:spcBef>
                <a:spcPts val="0"/>
              </a:spcBef>
              <a:spcAft>
                <a:spcPts val="0"/>
              </a:spcAft>
            </a:pPr>
            <a:r>
              <a:rPr sz="900" b="1" i="0">
                <a:solidFill>
                  <a:srgbClr val="A4B4C1"/>
                </a:solidFill>
                <a:latin typeface="Cascadia Code"/>
              </a:rPr>
              <a:t>10</a:t>
            </a:r>
          </a:p>
        </p:txBody>
      </p:sp>
      <p:cxnSp>
        <p:nvCxnSpPr>
          <p:cNvPr id="7" name="Connector 6"/>
          <p:cNvCxnSpPr/>
          <p:nvPr/>
        </p:nvCxnSpPr>
        <p:spPr>
          <a:xfrm>
            <a:off x="502920" y="6510528"/>
            <a:ext cx="11183112" cy="0"/>
          </a:xfrm>
          <a:prstGeom prst="line">
            <a:avLst/>
          </a:prstGeom>
          <a:ln w="7620">
            <a:solidFill>
              <a:srgbClr val="2B3A4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56248"/>
            <a:ext cx="6858000" cy="146304"/>
          </a:xfrm>
          <a:prstGeom prst="rect">
            <a:avLst/>
          </a:prstGeom>
          <a:noFill/>
        </p:spPr>
        <p:txBody>
          <a:bodyPr wrap="square" lIns="36576" tIns="36576" rIns="36576" bIns="36576" anchor="t">
            <a:spAutoFit/>
          </a:bodyPr>
          <a:lstStyle/>
          <a:p>
            <a:pPr algn="l">
              <a:spcBef>
                <a:spcPts val="0"/>
              </a:spcBef>
              <a:spcAft>
                <a:spcPts val="0"/>
              </a:spcAft>
            </a:pPr>
            <a:r>
              <a:rPr sz="700" b="0" i="0">
                <a:solidFill>
                  <a:srgbClr val="A4B4C1"/>
                </a:solidFill>
                <a:latin typeface="Cascadia Code"/>
              </a:rPr>
              <a:t>ADPILOT D2C INTELLIGENCE  /  TECHNICAL ARCHITECTURE</a:t>
            </a:r>
          </a:p>
        </p:txBody>
      </p:sp>
      <p:sp>
        <p:nvSpPr>
          <p:cNvPr id="9" name="TextBox 8"/>
          <p:cNvSpPr txBox="1"/>
          <p:nvPr/>
        </p:nvSpPr>
        <p:spPr>
          <a:xfrm>
            <a:off x="11064240" y="6547104"/>
            <a:ext cx="594360" cy="181588"/>
          </a:xfrm>
          <a:prstGeom prst="rect">
            <a:avLst/>
          </a:prstGeom>
          <a:noFill/>
        </p:spPr>
        <p:txBody>
          <a:bodyPr wrap="square" lIns="36576" tIns="36576" rIns="36576" bIns="36576" anchor="t">
            <a:spAutoFit/>
          </a:bodyPr>
          <a:lstStyle/>
          <a:p>
            <a:pPr algn="r">
              <a:spcBef>
                <a:spcPts val="0"/>
              </a:spcBef>
              <a:spcAft>
                <a:spcPts val="0"/>
              </a:spcAft>
            </a:pPr>
            <a:r>
              <a:rPr lang="en-IN" sz="700" b="0" i="0" dirty="0">
                <a:solidFill>
                  <a:srgbClr val="A4B4C1"/>
                </a:solidFill>
                <a:latin typeface="Cascadia Code"/>
              </a:rPr>
              <a:t>11</a:t>
            </a:r>
            <a:r>
              <a:rPr sz="700" b="0" i="0" dirty="0">
                <a:solidFill>
                  <a:srgbClr val="A4B4C1"/>
                </a:solidFill>
                <a:latin typeface="Cascadia Code"/>
              </a:rPr>
              <a:t> / </a:t>
            </a:r>
            <a:r>
              <a:rPr lang="en-IN" sz="700" b="0" i="0" dirty="0">
                <a:solidFill>
                  <a:srgbClr val="A4B4C1"/>
                </a:solidFill>
                <a:latin typeface="Cascadia Code"/>
              </a:rPr>
              <a:t>16</a:t>
            </a:r>
            <a:endParaRPr sz="700" b="0" i="0" dirty="0">
              <a:solidFill>
                <a:srgbClr val="A4B4C1"/>
              </a:solidFill>
              <a:latin typeface="Cascadia Code"/>
            </a:endParaRPr>
          </a:p>
        </p:txBody>
      </p:sp>
      <p:sp>
        <p:nvSpPr>
          <p:cNvPr id="10" name="Rounded Rectangle 9"/>
          <p:cNvSpPr/>
          <p:nvPr/>
        </p:nvSpPr>
        <p:spPr>
          <a:xfrm>
            <a:off x="658368" y="1783080"/>
            <a:ext cx="3931920" cy="4160520"/>
          </a:xfrm>
          <a:prstGeom prst="roundRect">
            <a:avLst>
              <a:gd name="adj" fmla="val 12000"/>
            </a:avLst>
          </a:prstGeom>
          <a:solidFill>
            <a:srgbClr val="0D151F"/>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04672" y="1938528"/>
            <a:ext cx="3639312" cy="384048"/>
          </a:xfrm>
          <a:prstGeom prst="roundRect">
            <a:avLst>
              <a:gd name="adj" fmla="val 12000"/>
            </a:avLst>
          </a:prstGeom>
          <a:solidFill>
            <a:srgbClr val="172331"/>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1832" y="2039112"/>
            <a:ext cx="2331720" cy="164592"/>
          </a:xfrm>
          <a:prstGeom prst="rect">
            <a:avLst/>
          </a:prstGeom>
          <a:noFill/>
        </p:spPr>
        <p:txBody>
          <a:bodyPr wrap="square" lIns="36576" tIns="36576" rIns="36576" bIns="36576" anchor="t">
            <a:spAutoFit/>
          </a:bodyPr>
          <a:lstStyle/>
          <a:p>
            <a:pPr algn="l">
              <a:spcBef>
                <a:spcPts val="0"/>
              </a:spcBef>
              <a:spcAft>
                <a:spcPts val="0"/>
              </a:spcAft>
            </a:pPr>
            <a:r>
              <a:rPr sz="800" b="1" i="0">
                <a:solidFill>
                  <a:srgbClr val="BEF264"/>
                </a:solidFill>
                <a:latin typeface="Cascadia Code"/>
              </a:rPr>
              <a:t>ADPILOT / OVERVIEW</a:t>
            </a:r>
          </a:p>
        </p:txBody>
      </p:sp>
      <p:sp>
        <p:nvSpPr>
          <p:cNvPr id="13" name="TextBox 12"/>
          <p:cNvSpPr txBox="1"/>
          <p:nvPr/>
        </p:nvSpPr>
        <p:spPr>
          <a:xfrm>
            <a:off x="3730752" y="2039112"/>
            <a:ext cx="530352" cy="164592"/>
          </a:xfrm>
          <a:prstGeom prst="rect">
            <a:avLst/>
          </a:prstGeom>
          <a:noFill/>
        </p:spPr>
        <p:txBody>
          <a:bodyPr wrap="square" lIns="36576" tIns="36576" rIns="36576" bIns="36576" anchor="t">
            <a:spAutoFit/>
          </a:bodyPr>
          <a:lstStyle/>
          <a:p>
            <a:pPr algn="r">
              <a:spcBef>
                <a:spcPts val="0"/>
              </a:spcBef>
              <a:spcAft>
                <a:spcPts val="0"/>
              </a:spcAft>
            </a:pPr>
            <a:r>
              <a:rPr sz="700" b="0" i="0">
                <a:solidFill>
                  <a:srgbClr val="A4B4C1"/>
                </a:solidFill>
                <a:latin typeface="Cascadia Code"/>
              </a:rPr>
              <a:t>● ● ●</a:t>
            </a:r>
          </a:p>
        </p:txBody>
      </p:sp>
      <p:sp>
        <p:nvSpPr>
          <p:cNvPr id="14" name="Rounded Rectangle 13"/>
          <p:cNvSpPr/>
          <p:nvPr/>
        </p:nvSpPr>
        <p:spPr>
          <a:xfrm>
            <a:off x="822960" y="2514600"/>
            <a:ext cx="1060704" cy="667512"/>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6112" y="2596896"/>
            <a:ext cx="914400" cy="146304"/>
          </a:xfrm>
          <a:prstGeom prst="rect">
            <a:avLst/>
          </a:prstGeom>
          <a:noFill/>
        </p:spPr>
        <p:txBody>
          <a:bodyPr wrap="square" lIns="36576" tIns="36576" rIns="36576" bIns="36576" anchor="t">
            <a:spAutoFit/>
          </a:bodyPr>
          <a:lstStyle/>
          <a:p>
            <a:pPr algn="l">
              <a:spcBef>
                <a:spcPts val="0"/>
              </a:spcBef>
              <a:spcAft>
                <a:spcPts val="0"/>
              </a:spcAft>
            </a:pPr>
            <a:r>
              <a:rPr sz="700" b="1" i="0">
                <a:solidFill>
                  <a:srgbClr val="A4B4C1"/>
                </a:solidFill>
                <a:latin typeface="Cascadia Code"/>
              </a:rPr>
              <a:t>SPEND</a:t>
            </a:r>
          </a:p>
        </p:txBody>
      </p:sp>
      <p:sp>
        <p:nvSpPr>
          <p:cNvPr id="16" name="TextBox 15"/>
          <p:cNvSpPr txBox="1"/>
          <p:nvPr/>
        </p:nvSpPr>
        <p:spPr>
          <a:xfrm>
            <a:off x="896112" y="2834640"/>
            <a:ext cx="914400" cy="201168"/>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4BDCBE"/>
                </a:solidFill>
                <a:latin typeface="Aptos"/>
              </a:rPr>
              <a:t>₹—</a:t>
            </a:r>
          </a:p>
        </p:txBody>
      </p:sp>
      <p:sp>
        <p:nvSpPr>
          <p:cNvPr id="17" name="Rounded Rectangle 16"/>
          <p:cNvSpPr/>
          <p:nvPr/>
        </p:nvSpPr>
        <p:spPr>
          <a:xfrm>
            <a:off x="2011680" y="2514600"/>
            <a:ext cx="1060704" cy="667512"/>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84832" y="2596896"/>
            <a:ext cx="914400" cy="146304"/>
          </a:xfrm>
          <a:prstGeom prst="rect">
            <a:avLst/>
          </a:prstGeom>
          <a:noFill/>
        </p:spPr>
        <p:txBody>
          <a:bodyPr wrap="square" lIns="36576" tIns="36576" rIns="36576" bIns="36576" anchor="t">
            <a:spAutoFit/>
          </a:bodyPr>
          <a:lstStyle/>
          <a:p>
            <a:pPr algn="l">
              <a:spcBef>
                <a:spcPts val="0"/>
              </a:spcBef>
              <a:spcAft>
                <a:spcPts val="0"/>
              </a:spcAft>
            </a:pPr>
            <a:r>
              <a:rPr sz="700" b="1" i="0">
                <a:solidFill>
                  <a:srgbClr val="A4B4C1"/>
                </a:solidFill>
                <a:latin typeface="Cascadia Code"/>
              </a:rPr>
              <a:t>ROAS</a:t>
            </a:r>
          </a:p>
        </p:txBody>
      </p:sp>
      <p:sp>
        <p:nvSpPr>
          <p:cNvPr id="19" name="TextBox 18"/>
          <p:cNvSpPr txBox="1"/>
          <p:nvPr/>
        </p:nvSpPr>
        <p:spPr>
          <a:xfrm>
            <a:off x="2084832" y="2834640"/>
            <a:ext cx="914400" cy="201168"/>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BEF264"/>
                </a:solidFill>
                <a:latin typeface="Aptos"/>
              </a:rPr>
              <a:t>—×</a:t>
            </a:r>
          </a:p>
        </p:txBody>
      </p:sp>
      <p:sp>
        <p:nvSpPr>
          <p:cNvPr id="20" name="Rounded Rectangle 19"/>
          <p:cNvSpPr/>
          <p:nvPr/>
        </p:nvSpPr>
        <p:spPr>
          <a:xfrm>
            <a:off x="3200400" y="2514600"/>
            <a:ext cx="1060704" cy="667512"/>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73552" y="2596896"/>
            <a:ext cx="914400" cy="146304"/>
          </a:xfrm>
          <a:prstGeom prst="rect">
            <a:avLst/>
          </a:prstGeom>
          <a:noFill/>
        </p:spPr>
        <p:txBody>
          <a:bodyPr wrap="square" lIns="36576" tIns="36576" rIns="36576" bIns="36576" anchor="t">
            <a:spAutoFit/>
          </a:bodyPr>
          <a:lstStyle/>
          <a:p>
            <a:pPr algn="l">
              <a:spcBef>
                <a:spcPts val="0"/>
              </a:spcBef>
              <a:spcAft>
                <a:spcPts val="0"/>
              </a:spcAft>
            </a:pPr>
            <a:r>
              <a:rPr sz="700" b="1" i="0">
                <a:solidFill>
                  <a:srgbClr val="A4B4C1"/>
                </a:solidFill>
                <a:latin typeface="Cascadia Code"/>
              </a:rPr>
              <a:t>CPA</a:t>
            </a:r>
          </a:p>
        </p:txBody>
      </p:sp>
      <p:sp>
        <p:nvSpPr>
          <p:cNvPr id="22" name="TextBox 21"/>
          <p:cNvSpPr txBox="1"/>
          <p:nvPr/>
        </p:nvSpPr>
        <p:spPr>
          <a:xfrm>
            <a:off x="3273552" y="2834640"/>
            <a:ext cx="914400" cy="201168"/>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6AAAFF"/>
                </a:solidFill>
                <a:latin typeface="Aptos"/>
              </a:rPr>
              <a:t>₹—</a:t>
            </a:r>
          </a:p>
        </p:txBody>
      </p:sp>
      <p:sp>
        <p:nvSpPr>
          <p:cNvPr id="23" name="Rounded Rectangle 22"/>
          <p:cNvSpPr/>
          <p:nvPr/>
        </p:nvSpPr>
        <p:spPr>
          <a:xfrm>
            <a:off x="822960" y="3401568"/>
            <a:ext cx="3602736" cy="914400"/>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69264" y="3520440"/>
            <a:ext cx="2011680" cy="164592"/>
          </a:xfrm>
          <a:prstGeom prst="rect">
            <a:avLst/>
          </a:prstGeom>
          <a:noFill/>
        </p:spPr>
        <p:txBody>
          <a:bodyPr wrap="square" lIns="36576" tIns="36576" rIns="36576" bIns="36576" anchor="t">
            <a:spAutoFit/>
          </a:bodyPr>
          <a:lstStyle/>
          <a:p>
            <a:pPr algn="l">
              <a:spcBef>
                <a:spcPts val="0"/>
              </a:spcBef>
              <a:spcAft>
                <a:spcPts val="0"/>
              </a:spcAft>
            </a:pPr>
            <a:r>
              <a:rPr sz="800" b="1" i="0">
                <a:solidFill>
                  <a:srgbClr val="4BDCBE"/>
                </a:solidFill>
                <a:latin typeface="Cascadia Code"/>
              </a:rPr>
              <a:t>CAMPAIGN PERFORMANCE</a:t>
            </a:r>
          </a:p>
        </p:txBody>
      </p:sp>
      <p:sp>
        <p:nvSpPr>
          <p:cNvPr id="25" name="Rectangle 24"/>
          <p:cNvSpPr/>
          <p:nvPr/>
        </p:nvSpPr>
        <p:spPr>
          <a:xfrm>
            <a:off x="1005840" y="3858768"/>
            <a:ext cx="182880" cy="228600"/>
          </a:xfrm>
          <a:prstGeom prst="rect">
            <a:avLst/>
          </a:prstGeom>
          <a:solidFill>
            <a:srgbClr val="6AAAFF"/>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371600" y="3858768"/>
            <a:ext cx="182880" cy="402336"/>
          </a:xfrm>
          <a:prstGeom prst="rect">
            <a:avLst/>
          </a:prstGeom>
          <a:solidFill>
            <a:srgbClr val="6AAAFF"/>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737360" y="3858768"/>
            <a:ext cx="182880" cy="320040"/>
          </a:xfrm>
          <a:prstGeom prst="rect">
            <a:avLst/>
          </a:prstGeom>
          <a:solidFill>
            <a:srgbClr val="6AAAFF"/>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103120" y="3858768"/>
            <a:ext cx="182880" cy="548640"/>
          </a:xfrm>
          <a:prstGeom prst="rect">
            <a:avLst/>
          </a:prstGeom>
          <a:solidFill>
            <a:srgbClr val="BEF264"/>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468880" y="3858768"/>
            <a:ext cx="182880" cy="438912"/>
          </a:xfrm>
          <a:prstGeom prst="rect">
            <a:avLst/>
          </a:prstGeom>
          <a:solidFill>
            <a:srgbClr val="6AAAFF"/>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834640" y="3858768"/>
            <a:ext cx="182880" cy="658368"/>
          </a:xfrm>
          <a:prstGeom prst="rect">
            <a:avLst/>
          </a:prstGeom>
          <a:solidFill>
            <a:srgbClr val="6AAAFF"/>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200400" y="3858768"/>
            <a:ext cx="182880" cy="502920"/>
          </a:xfrm>
          <a:prstGeom prst="rect">
            <a:avLst/>
          </a:prstGeom>
          <a:solidFill>
            <a:srgbClr val="BEF264"/>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566160" y="3858768"/>
            <a:ext cx="182880" cy="749808"/>
          </a:xfrm>
          <a:prstGeom prst="rect">
            <a:avLst/>
          </a:prstGeom>
          <a:solidFill>
            <a:srgbClr val="6AAAFF"/>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22960" y="4526280"/>
            <a:ext cx="3602736" cy="1097280"/>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69264" y="4645152"/>
            <a:ext cx="2194560" cy="164592"/>
          </a:xfrm>
          <a:prstGeom prst="rect">
            <a:avLst/>
          </a:prstGeom>
          <a:noFill/>
        </p:spPr>
        <p:txBody>
          <a:bodyPr wrap="square" lIns="36576" tIns="36576" rIns="36576" bIns="36576" anchor="t">
            <a:spAutoFit/>
          </a:bodyPr>
          <a:lstStyle/>
          <a:p>
            <a:pPr algn="l">
              <a:spcBef>
                <a:spcPts val="0"/>
              </a:spcBef>
              <a:spcAft>
                <a:spcPts val="0"/>
              </a:spcAft>
            </a:pPr>
            <a:r>
              <a:rPr sz="800" b="1" i="0">
                <a:solidFill>
                  <a:srgbClr val="FFC45C"/>
                </a:solidFill>
                <a:latin typeface="Cascadia Code"/>
              </a:rPr>
              <a:t>RECOMMENDATION QUEUE</a:t>
            </a:r>
          </a:p>
        </p:txBody>
      </p:sp>
      <p:sp>
        <p:nvSpPr>
          <p:cNvPr id="35" name="TextBox 34"/>
          <p:cNvSpPr txBox="1"/>
          <p:nvPr/>
        </p:nvSpPr>
        <p:spPr>
          <a:xfrm>
            <a:off x="969264" y="4956048"/>
            <a:ext cx="3154680" cy="457200"/>
          </a:xfrm>
          <a:prstGeom prst="rect">
            <a:avLst/>
          </a:prstGeom>
          <a:noFill/>
        </p:spPr>
        <p:txBody>
          <a:bodyPr wrap="square" lIns="36576" tIns="36576" rIns="36576" bIns="36576" anchor="t">
            <a:spAutoFit/>
          </a:bodyPr>
          <a:lstStyle/>
          <a:p>
            <a:pPr algn="l">
              <a:spcBef>
                <a:spcPts val="0"/>
              </a:spcBef>
              <a:spcAft>
                <a:spcPts val="0"/>
              </a:spcAft>
            </a:pPr>
            <a:r>
              <a:rPr sz="900" b="0" i="0">
                <a:solidFill>
                  <a:srgbClr val="A4B4C1"/>
                </a:solidFill>
                <a:latin typeface="Aptos"/>
              </a:rPr>
              <a:t>Negative adjusted-profit segments → inspect evidence → record review decision</a:t>
            </a:r>
          </a:p>
        </p:txBody>
      </p:sp>
      <p:sp>
        <p:nvSpPr>
          <p:cNvPr id="36" name="TextBox 35"/>
          <p:cNvSpPr txBox="1"/>
          <p:nvPr/>
        </p:nvSpPr>
        <p:spPr>
          <a:xfrm>
            <a:off x="4983480" y="1810512"/>
            <a:ext cx="6217920" cy="22860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BEF264"/>
                </a:solidFill>
                <a:latin typeface="Cascadia Code"/>
              </a:rPr>
              <a:t>HTTP CAPABILITY MAP</a:t>
            </a:r>
          </a:p>
        </p:txBody>
      </p:sp>
      <p:sp>
        <p:nvSpPr>
          <p:cNvPr id="37" name="Rectangle 36"/>
          <p:cNvSpPr/>
          <p:nvPr/>
        </p:nvSpPr>
        <p:spPr>
          <a:xfrm>
            <a:off x="4937760" y="2148840"/>
            <a:ext cx="6355080" cy="512064"/>
          </a:xfrm>
          <a:prstGeom prst="rect">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102352" y="2267712"/>
            <a:ext cx="2194560" cy="201168"/>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4BDCBE"/>
                </a:solidFill>
                <a:latin typeface="Cascadia Code"/>
              </a:rPr>
              <a:t>/api/overview</a:t>
            </a:r>
          </a:p>
        </p:txBody>
      </p:sp>
      <p:sp>
        <p:nvSpPr>
          <p:cNvPr id="39" name="TextBox 38"/>
          <p:cNvSpPr txBox="1"/>
          <p:nvPr/>
        </p:nvSpPr>
        <p:spPr>
          <a:xfrm>
            <a:off x="7406640" y="2258568"/>
            <a:ext cx="3657600" cy="21945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EEF4F7"/>
                </a:solidFill>
                <a:latin typeface="Aptos"/>
              </a:rPr>
              <a:t>KPI cards, trends, aggregated overview</a:t>
            </a:r>
          </a:p>
        </p:txBody>
      </p:sp>
      <p:sp>
        <p:nvSpPr>
          <p:cNvPr id="40" name="Rectangle 39"/>
          <p:cNvSpPr/>
          <p:nvPr/>
        </p:nvSpPr>
        <p:spPr>
          <a:xfrm>
            <a:off x="4937760" y="2788920"/>
            <a:ext cx="6355080" cy="512064"/>
          </a:xfrm>
          <a:prstGeom prst="rect">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102352" y="2907791"/>
            <a:ext cx="2194560" cy="201168"/>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6AAAFF"/>
                </a:solidFill>
                <a:latin typeface="Cascadia Code"/>
              </a:rPr>
              <a:t>/api/campaigns</a:t>
            </a:r>
          </a:p>
        </p:txBody>
      </p:sp>
      <p:sp>
        <p:nvSpPr>
          <p:cNvPr id="42" name="TextBox 41"/>
          <p:cNvSpPr txBox="1"/>
          <p:nvPr/>
        </p:nvSpPr>
        <p:spPr>
          <a:xfrm>
            <a:off x="7406640" y="2898648"/>
            <a:ext cx="3657600" cy="21945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EEF4F7"/>
                </a:solidFill>
                <a:latin typeface="Aptos"/>
              </a:rPr>
              <a:t>Filtered campaign rows, search / paging</a:t>
            </a:r>
          </a:p>
        </p:txBody>
      </p:sp>
      <p:sp>
        <p:nvSpPr>
          <p:cNvPr id="43" name="Rectangle 42"/>
          <p:cNvSpPr/>
          <p:nvPr/>
        </p:nvSpPr>
        <p:spPr>
          <a:xfrm>
            <a:off x="4937760" y="3429000"/>
            <a:ext cx="6355080" cy="512064"/>
          </a:xfrm>
          <a:prstGeom prst="rect">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102352" y="3547872"/>
            <a:ext cx="2194560" cy="201168"/>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FFC45C"/>
                </a:solidFill>
                <a:latin typeface="Cascadia Code"/>
              </a:rPr>
              <a:t>/api/recommendations</a:t>
            </a:r>
          </a:p>
        </p:txBody>
      </p:sp>
      <p:sp>
        <p:nvSpPr>
          <p:cNvPr id="45" name="TextBox 44"/>
          <p:cNvSpPr txBox="1"/>
          <p:nvPr/>
        </p:nvSpPr>
        <p:spPr>
          <a:xfrm>
            <a:off x="7406640" y="3538728"/>
            <a:ext cx="3657600" cy="21945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EEF4F7"/>
                </a:solidFill>
                <a:latin typeface="Aptos"/>
              </a:rPr>
              <a:t>Candidate queue and evidence payloads</a:t>
            </a:r>
          </a:p>
        </p:txBody>
      </p:sp>
      <p:sp>
        <p:nvSpPr>
          <p:cNvPr id="46" name="Rectangle 45"/>
          <p:cNvSpPr/>
          <p:nvPr/>
        </p:nvSpPr>
        <p:spPr>
          <a:xfrm>
            <a:off x="4937760" y="4069079"/>
            <a:ext cx="6355080" cy="512064"/>
          </a:xfrm>
          <a:prstGeom prst="rect">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102352" y="4187951"/>
            <a:ext cx="2194560" cy="201168"/>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BE9BFF"/>
                </a:solidFill>
                <a:latin typeface="Cascadia Code"/>
              </a:rPr>
              <a:t>/api/budget-scenarios</a:t>
            </a:r>
          </a:p>
        </p:txBody>
      </p:sp>
      <p:sp>
        <p:nvSpPr>
          <p:cNvPr id="48" name="TextBox 47"/>
          <p:cNvSpPr txBox="1"/>
          <p:nvPr/>
        </p:nvSpPr>
        <p:spPr>
          <a:xfrm>
            <a:off x="7406640" y="4178807"/>
            <a:ext cx="3657600" cy="21945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EEF4F7"/>
                </a:solidFill>
                <a:latin typeface="Aptos"/>
              </a:rPr>
              <a:t>Create / inspect simulation scenarios</a:t>
            </a:r>
          </a:p>
        </p:txBody>
      </p:sp>
      <p:sp>
        <p:nvSpPr>
          <p:cNvPr id="49" name="Rectangle 48"/>
          <p:cNvSpPr/>
          <p:nvPr/>
        </p:nvSpPr>
        <p:spPr>
          <a:xfrm>
            <a:off x="4937760" y="4709160"/>
            <a:ext cx="6355080" cy="512064"/>
          </a:xfrm>
          <a:prstGeom prst="rect">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102352" y="4828032"/>
            <a:ext cx="2194560" cy="201168"/>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BEF264"/>
                </a:solidFill>
                <a:latin typeface="Cascadia Code"/>
              </a:rPr>
              <a:t>/api/summary</a:t>
            </a:r>
          </a:p>
        </p:txBody>
      </p:sp>
      <p:sp>
        <p:nvSpPr>
          <p:cNvPr id="51" name="TextBox 50"/>
          <p:cNvSpPr txBox="1"/>
          <p:nvPr/>
        </p:nvSpPr>
        <p:spPr>
          <a:xfrm>
            <a:off x="7406640" y="4818888"/>
            <a:ext cx="3657600" cy="21945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EEF4F7"/>
                </a:solidFill>
                <a:latin typeface="Aptos"/>
              </a:rPr>
              <a:t>User-triggered AI or deterministic summary</a:t>
            </a:r>
          </a:p>
        </p:txBody>
      </p:sp>
      <p:sp>
        <p:nvSpPr>
          <p:cNvPr id="52" name="TextBox 51"/>
          <p:cNvSpPr txBox="1"/>
          <p:nvPr/>
        </p:nvSpPr>
        <p:spPr>
          <a:xfrm>
            <a:off x="5010912" y="5486400"/>
            <a:ext cx="6126480" cy="320040"/>
          </a:xfrm>
          <a:prstGeom prst="rect">
            <a:avLst/>
          </a:prstGeom>
          <a:noFill/>
        </p:spPr>
        <p:txBody>
          <a:bodyPr wrap="square" lIns="36576" tIns="36576" rIns="36576" bIns="36576" anchor="t">
            <a:spAutoFit/>
          </a:bodyPr>
          <a:lstStyle/>
          <a:p>
            <a:pPr algn="l">
              <a:spcBef>
                <a:spcPts val="0"/>
              </a:spcBef>
              <a:spcAft>
                <a:spcPts val="0"/>
              </a:spcAft>
            </a:pPr>
            <a:r>
              <a:rPr sz="850" b="0" i="0">
                <a:solidFill>
                  <a:srgbClr val="A4B4C1"/>
                </a:solidFill>
                <a:latin typeface="Cascadia Code"/>
              </a:rPr>
              <a:t>UI modules: app/page.tsx · app/BudgetOptimizer.tsx · app/SettingsPage.tsx · app/settings.ts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F18"/>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8961120" cy="219456"/>
          </a:xfrm>
          <a:prstGeom prst="rect">
            <a:avLst/>
          </a:prstGeom>
          <a:noFill/>
        </p:spPr>
        <p:txBody>
          <a:bodyPr wrap="square" lIns="36576" tIns="36576" rIns="36576" bIns="36576" anchor="t">
            <a:spAutoFit/>
          </a:bodyPr>
          <a:lstStyle/>
          <a:p>
            <a:pPr algn="l">
              <a:spcBef>
                <a:spcPts val="0"/>
              </a:spcBef>
              <a:spcAft>
                <a:spcPts val="0"/>
              </a:spcAft>
            </a:pPr>
            <a:r>
              <a:rPr lang="en-IN" sz="900" b="1" i="0" dirty="0">
                <a:solidFill>
                  <a:srgbClr val="BEF264"/>
                </a:solidFill>
                <a:latin typeface="Cascadia Code"/>
              </a:rPr>
              <a:t>11</a:t>
            </a:r>
            <a:r>
              <a:rPr sz="900" b="1" i="0" dirty="0">
                <a:solidFill>
                  <a:srgbClr val="BEF264"/>
                </a:solidFill>
                <a:latin typeface="Cascadia Code"/>
              </a:rPr>
              <a:t> / RUNTIME + SECURITY</a:t>
            </a:r>
          </a:p>
        </p:txBody>
      </p:sp>
      <p:sp>
        <p:nvSpPr>
          <p:cNvPr id="3" name="TextBox 2"/>
          <p:cNvSpPr txBox="1"/>
          <p:nvPr/>
        </p:nvSpPr>
        <p:spPr>
          <a:xfrm>
            <a:off x="502920" y="557784"/>
            <a:ext cx="11155680" cy="475488"/>
          </a:xfrm>
          <a:prstGeom prst="rect">
            <a:avLst/>
          </a:prstGeom>
          <a:noFill/>
        </p:spPr>
        <p:txBody>
          <a:bodyPr wrap="square" lIns="36576" tIns="36576" rIns="36576" bIns="36576" anchor="t">
            <a:spAutoFit/>
          </a:bodyPr>
          <a:lstStyle/>
          <a:p>
            <a:pPr algn="l">
              <a:spcBef>
                <a:spcPts val="0"/>
              </a:spcBef>
              <a:spcAft>
                <a:spcPts val="0"/>
              </a:spcAft>
            </a:pPr>
            <a:r>
              <a:rPr sz="2500" b="1" i="0">
                <a:solidFill>
                  <a:srgbClr val="EEF4F7"/>
                </a:solidFill>
                <a:latin typeface="Aptos"/>
              </a:rPr>
              <a:t>Environment-driven runtime: secrets, CORS and mode boundaries</a:t>
            </a:r>
          </a:p>
        </p:txBody>
      </p:sp>
      <p:sp>
        <p:nvSpPr>
          <p:cNvPr id="4" name="TextBox 3"/>
          <p:cNvSpPr txBox="1"/>
          <p:nvPr/>
        </p:nvSpPr>
        <p:spPr>
          <a:xfrm>
            <a:off x="530352" y="1078992"/>
            <a:ext cx="10972800" cy="38404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A4B4C1"/>
                </a:solidFill>
                <a:latin typeface="Aptos"/>
              </a:rPr>
              <a:t>Configuration separates source selection and service credentials from the application code.</a:t>
            </a:r>
          </a:p>
        </p:txBody>
      </p:sp>
      <p:cxnSp>
        <p:nvCxnSpPr>
          <p:cNvPr id="5" name="Connector 4"/>
          <p:cNvCxnSpPr/>
          <p:nvPr/>
        </p:nvCxnSpPr>
        <p:spPr>
          <a:xfrm>
            <a:off x="502920" y="1517904"/>
            <a:ext cx="11183112" cy="0"/>
          </a:xfrm>
          <a:prstGeom prst="line">
            <a:avLst/>
          </a:prstGeom>
          <a:ln w="10160">
            <a:solidFill>
              <a:srgbClr val="2B3A4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292840" y="283464"/>
            <a:ext cx="384048" cy="201168"/>
          </a:xfrm>
          <a:prstGeom prst="rect">
            <a:avLst/>
          </a:prstGeom>
          <a:noFill/>
        </p:spPr>
        <p:txBody>
          <a:bodyPr wrap="square" lIns="36576" tIns="36576" rIns="36576" bIns="36576" anchor="t">
            <a:spAutoFit/>
          </a:bodyPr>
          <a:lstStyle/>
          <a:p>
            <a:pPr algn="r">
              <a:spcBef>
                <a:spcPts val="0"/>
              </a:spcBef>
              <a:spcAft>
                <a:spcPts val="0"/>
              </a:spcAft>
            </a:pPr>
            <a:r>
              <a:rPr sz="900" b="1" i="0">
                <a:solidFill>
                  <a:srgbClr val="A4B4C1"/>
                </a:solidFill>
                <a:latin typeface="Cascadia Code"/>
              </a:rPr>
              <a:t>11</a:t>
            </a:r>
          </a:p>
        </p:txBody>
      </p:sp>
      <p:cxnSp>
        <p:nvCxnSpPr>
          <p:cNvPr id="7" name="Connector 6"/>
          <p:cNvCxnSpPr/>
          <p:nvPr/>
        </p:nvCxnSpPr>
        <p:spPr>
          <a:xfrm>
            <a:off x="502920" y="6510528"/>
            <a:ext cx="11183112" cy="0"/>
          </a:xfrm>
          <a:prstGeom prst="line">
            <a:avLst/>
          </a:prstGeom>
          <a:ln w="7620">
            <a:solidFill>
              <a:srgbClr val="2B3A4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56248"/>
            <a:ext cx="6858000" cy="146304"/>
          </a:xfrm>
          <a:prstGeom prst="rect">
            <a:avLst/>
          </a:prstGeom>
          <a:noFill/>
        </p:spPr>
        <p:txBody>
          <a:bodyPr wrap="square" lIns="36576" tIns="36576" rIns="36576" bIns="36576" anchor="t">
            <a:spAutoFit/>
          </a:bodyPr>
          <a:lstStyle/>
          <a:p>
            <a:pPr algn="l">
              <a:spcBef>
                <a:spcPts val="0"/>
              </a:spcBef>
              <a:spcAft>
                <a:spcPts val="0"/>
              </a:spcAft>
            </a:pPr>
            <a:r>
              <a:rPr sz="700" b="0" i="0">
                <a:solidFill>
                  <a:srgbClr val="A4B4C1"/>
                </a:solidFill>
                <a:latin typeface="Cascadia Code"/>
              </a:rPr>
              <a:t>ADPILOT D2C INTELLIGENCE  /  TECHNICAL ARCHITECTURE</a:t>
            </a:r>
          </a:p>
        </p:txBody>
      </p:sp>
      <p:sp>
        <p:nvSpPr>
          <p:cNvPr id="9" name="TextBox 8"/>
          <p:cNvSpPr txBox="1"/>
          <p:nvPr/>
        </p:nvSpPr>
        <p:spPr>
          <a:xfrm>
            <a:off x="11064240" y="6547104"/>
            <a:ext cx="594360" cy="181588"/>
          </a:xfrm>
          <a:prstGeom prst="rect">
            <a:avLst/>
          </a:prstGeom>
          <a:noFill/>
        </p:spPr>
        <p:txBody>
          <a:bodyPr wrap="square" lIns="36576" tIns="36576" rIns="36576" bIns="36576" anchor="t">
            <a:spAutoFit/>
          </a:bodyPr>
          <a:lstStyle/>
          <a:p>
            <a:pPr algn="r">
              <a:spcBef>
                <a:spcPts val="0"/>
              </a:spcBef>
              <a:spcAft>
                <a:spcPts val="0"/>
              </a:spcAft>
            </a:pPr>
            <a:r>
              <a:rPr lang="en-IN" sz="700" b="0" i="0" dirty="0">
                <a:solidFill>
                  <a:srgbClr val="A4B4C1"/>
                </a:solidFill>
                <a:latin typeface="Cascadia Code"/>
              </a:rPr>
              <a:t>12</a:t>
            </a:r>
            <a:r>
              <a:rPr sz="700" b="0" i="0" dirty="0">
                <a:solidFill>
                  <a:srgbClr val="A4B4C1"/>
                </a:solidFill>
                <a:latin typeface="Cascadia Code"/>
              </a:rPr>
              <a:t> / </a:t>
            </a:r>
            <a:r>
              <a:rPr lang="en-IN" sz="700" b="0" i="0" dirty="0">
                <a:solidFill>
                  <a:srgbClr val="A4B4C1"/>
                </a:solidFill>
                <a:latin typeface="Cascadia Code"/>
              </a:rPr>
              <a:t>16</a:t>
            </a:r>
            <a:endParaRPr sz="700" b="0" i="0" dirty="0">
              <a:solidFill>
                <a:srgbClr val="A4B4C1"/>
              </a:solidFill>
              <a:latin typeface="Cascadia Code"/>
            </a:endParaRPr>
          </a:p>
        </p:txBody>
      </p:sp>
      <p:sp>
        <p:nvSpPr>
          <p:cNvPr id="10" name="Rounded Rectangle 9"/>
          <p:cNvSpPr/>
          <p:nvPr/>
        </p:nvSpPr>
        <p:spPr>
          <a:xfrm>
            <a:off x="713232" y="1874519"/>
            <a:ext cx="3246120" cy="1051560"/>
          </a:xfrm>
          <a:prstGeom prst="roundRect">
            <a:avLst>
              <a:gd name="adj" fmla="val 12000"/>
            </a:avLst>
          </a:prstGeom>
          <a:solidFill>
            <a:srgbClr val="121B28"/>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13232" y="1874519"/>
            <a:ext cx="64008" cy="1051560"/>
          </a:xfrm>
          <a:prstGeom prst="rect">
            <a:avLst/>
          </a:prstGeom>
          <a:solidFill>
            <a:srgbClr val="BEF264"/>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7824" y="1965960"/>
            <a:ext cx="2990087"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BACKEND ENV</a:t>
            </a:r>
          </a:p>
        </p:txBody>
      </p:sp>
      <p:sp>
        <p:nvSpPr>
          <p:cNvPr id="13" name="TextBox 12"/>
          <p:cNvSpPr txBox="1"/>
          <p:nvPr/>
        </p:nvSpPr>
        <p:spPr>
          <a:xfrm>
            <a:off x="877824" y="2258568"/>
            <a:ext cx="2990087" cy="612647"/>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EXASOL_DSN · EXASOL_USER
EXASOL_PASSWORD · GEMINI_API_KEY</a:t>
            </a:r>
          </a:p>
        </p:txBody>
      </p:sp>
      <p:sp>
        <p:nvSpPr>
          <p:cNvPr id="14" name="Rounded Rectangle 13"/>
          <p:cNvSpPr/>
          <p:nvPr/>
        </p:nvSpPr>
        <p:spPr>
          <a:xfrm>
            <a:off x="4480560" y="1874519"/>
            <a:ext cx="3246120" cy="1051560"/>
          </a:xfrm>
          <a:prstGeom prst="roundRect">
            <a:avLst>
              <a:gd name="adj" fmla="val 12000"/>
            </a:avLst>
          </a:prstGeom>
          <a:solidFill>
            <a:srgbClr val="121B28"/>
          </a:solidFill>
          <a:ln w="10160">
            <a:solidFill>
              <a:srgbClr val="6A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480560" y="1874519"/>
            <a:ext cx="64008" cy="1051560"/>
          </a:xfrm>
          <a:prstGeom prst="rect">
            <a:avLst/>
          </a:prstGeom>
          <a:solidFill>
            <a:srgbClr val="6AAAFF"/>
          </a:solidFill>
          <a:ln w="10160">
            <a:solidFill>
              <a:srgbClr val="6A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45152" y="1965960"/>
            <a:ext cx="2990087"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FRONTEND ENV</a:t>
            </a:r>
          </a:p>
        </p:txBody>
      </p:sp>
      <p:sp>
        <p:nvSpPr>
          <p:cNvPr id="17" name="TextBox 16"/>
          <p:cNvSpPr txBox="1"/>
          <p:nvPr/>
        </p:nvSpPr>
        <p:spPr>
          <a:xfrm>
            <a:off x="4645152" y="2258568"/>
            <a:ext cx="2990087" cy="612647"/>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API base URL / client settings
No database or Gemini secrets</a:t>
            </a:r>
          </a:p>
        </p:txBody>
      </p:sp>
      <p:sp>
        <p:nvSpPr>
          <p:cNvPr id="18" name="Rounded Rectangle 17"/>
          <p:cNvSpPr/>
          <p:nvPr/>
        </p:nvSpPr>
        <p:spPr>
          <a:xfrm>
            <a:off x="8229600" y="1874519"/>
            <a:ext cx="3154680" cy="1051560"/>
          </a:xfrm>
          <a:prstGeom prst="roundRect">
            <a:avLst>
              <a:gd name="adj" fmla="val 12000"/>
            </a:avLst>
          </a:prstGeom>
          <a:solidFill>
            <a:srgbClr val="121B28"/>
          </a:solidFill>
          <a:ln w="10160">
            <a:solidFill>
              <a:srgbClr val="FFC4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229600" y="1874519"/>
            <a:ext cx="64008" cy="1051560"/>
          </a:xfrm>
          <a:prstGeom prst="rect">
            <a:avLst/>
          </a:prstGeom>
          <a:solidFill>
            <a:srgbClr val="FFC45C"/>
          </a:solidFill>
          <a:ln w="10160">
            <a:solidFill>
              <a:srgbClr val="FFC4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94192" y="1965960"/>
            <a:ext cx="2898648"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ACCESS CONTROL</a:t>
            </a:r>
          </a:p>
        </p:txBody>
      </p:sp>
      <p:sp>
        <p:nvSpPr>
          <p:cNvPr id="21" name="TextBox 20"/>
          <p:cNvSpPr txBox="1"/>
          <p:nvPr/>
        </p:nvSpPr>
        <p:spPr>
          <a:xfrm>
            <a:off x="8394192" y="2258568"/>
            <a:ext cx="2898648" cy="612647"/>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ADPILOT_CORS_ORIGINS
HELPER_TOKEN for helper flow</a:t>
            </a:r>
          </a:p>
        </p:txBody>
      </p:sp>
      <p:cxnSp>
        <p:nvCxnSpPr>
          <p:cNvPr id="22" name="Connector 21"/>
          <p:cNvCxnSpPr/>
          <p:nvPr/>
        </p:nvCxnSpPr>
        <p:spPr>
          <a:xfrm>
            <a:off x="3959352" y="2395728"/>
            <a:ext cx="521208" cy="0"/>
          </a:xfrm>
          <a:prstGeom prst="line">
            <a:avLst/>
          </a:prstGeom>
          <a:ln w="17780">
            <a:solidFill>
              <a:srgbClr val="2B3A4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726679" y="2395728"/>
            <a:ext cx="502921" cy="0"/>
          </a:xfrm>
          <a:prstGeom prst="line">
            <a:avLst/>
          </a:prstGeom>
          <a:ln w="17780">
            <a:solidFill>
              <a:srgbClr val="2B3A49"/>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31520" y="3401568"/>
            <a:ext cx="5166360" cy="1508760"/>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3547872"/>
            <a:ext cx="4754880" cy="237744"/>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4BDCBE"/>
                </a:solidFill>
                <a:latin typeface="Cascadia Code"/>
              </a:rPr>
              <a:t>DEMO MODE</a:t>
            </a:r>
          </a:p>
        </p:txBody>
      </p:sp>
      <p:sp>
        <p:nvSpPr>
          <p:cNvPr id="26" name="TextBox 25"/>
          <p:cNvSpPr txBox="1"/>
          <p:nvPr/>
        </p:nvSpPr>
        <p:spPr>
          <a:xfrm>
            <a:off x="914400" y="3913632"/>
            <a:ext cx="4663440" cy="786384"/>
          </a:xfrm>
          <a:prstGeom prst="rect">
            <a:avLst/>
          </a:prstGeom>
          <a:noFill/>
        </p:spPr>
        <p:txBody>
          <a:bodyPr wrap="square" lIns="36576" tIns="36576" rIns="36576" bIns="36576" anchor="t">
            <a:spAutoFit/>
          </a:bodyPr>
          <a:lstStyle/>
          <a:p>
            <a:pPr algn="l">
              <a:spcBef>
                <a:spcPts val="0"/>
              </a:spcBef>
              <a:spcAft>
                <a:spcPts val="0"/>
              </a:spcAft>
            </a:pPr>
            <a:r>
              <a:rPr sz="1100" b="0" i="0">
                <a:solidFill>
                  <a:srgbClr val="EEF4F7"/>
                </a:solidFill>
                <a:latin typeface="Aptos"/>
              </a:rPr>
              <a:t>ADPILOT_DEMO_MODE directs the app toward the bundled CSV path. It supports a repeatable evaluation without requiring database credentials or external connectivity.</a:t>
            </a:r>
          </a:p>
        </p:txBody>
      </p:sp>
      <p:sp>
        <p:nvSpPr>
          <p:cNvPr id="27" name="Rounded Rectangle 26"/>
          <p:cNvSpPr/>
          <p:nvPr/>
        </p:nvSpPr>
        <p:spPr>
          <a:xfrm>
            <a:off x="6199632" y="3401568"/>
            <a:ext cx="5166360" cy="1508760"/>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82512" y="3547872"/>
            <a:ext cx="4754880" cy="237744"/>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BEF264"/>
                </a:solidFill>
                <a:latin typeface="Cascadia Code"/>
              </a:rPr>
              <a:t>LIVE MODE</a:t>
            </a:r>
          </a:p>
        </p:txBody>
      </p:sp>
      <p:sp>
        <p:nvSpPr>
          <p:cNvPr id="29" name="TextBox 28"/>
          <p:cNvSpPr txBox="1"/>
          <p:nvPr/>
        </p:nvSpPr>
        <p:spPr>
          <a:xfrm>
            <a:off x="6382512" y="3913632"/>
            <a:ext cx="4663440" cy="786384"/>
          </a:xfrm>
          <a:prstGeom prst="rect">
            <a:avLst/>
          </a:prstGeom>
          <a:noFill/>
        </p:spPr>
        <p:txBody>
          <a:bodyPr wrap="square" lIns="36576" tIns="36576" rIns="36576" bIns="36576" anchor="t">
            <a:spAutoFit/>
          </a:bodyPr>
          <a:lstStyle/>
          <a:p>
            <a:pPr algn="l">
              <a:spcBef>
                <a:spcPts val="0"/>
              </a:spcBef>
              <a:spcAft>
                <a:spcPts val="0"/>
              </a:spcAft>
            </a:pPr>
            <a:r>
              <a:rPr sz="1100" b="0" i="0">
                <a:solidFill>
                  <a:srgbClr val="EEF4F7"/>
                </a:solidFill>
                <a:latin typeface="Aptos"/>
              </a:rPr>
              <a:t>Exasol credentials and DSN are supplied through the backend environment. CORS should be restricted to expected origins; helper endpoints should validate their token and request scope.</a:t>
            </a:r>
          </a:p>
        </p:txBody>
      </p:sp>
      <p:sp>
        <p:nvSpPr>
          <p:cNvPr id="30" name="TextBox 29"/>
          <p:cNvSpPr txBox="1"/>
          <p:nvPr/>
        </p:nvSpPr>
        <p:spPr>
          <a:xfrm>
            <a:off x="786384" y="5376672"/>
            <a:ext cx="10698480" cy="493776"/>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FFC45C"/>
                </a:solidFill>
                <a:latin typeface="Aptos"/>
              </a:rPr>
              <a:t>Deployment checklist: never commit real .env values · rotate exposed credentials · verify CORS allowlists · protect helper endpoints · use TLS for public traffic · separate demo and live configuration.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F18"/>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8961120" cy="219456"/>
          </a:xfrm>
          <a:prstGeom prst="rect">
            <a:avLst/>
          </a:prstGeom>
          <a:noFill/>
        </p:spPr>
        <p:txBody>
          <a:bodyPr wrap="square" lIns="36576" tIns="36576" rIns="36576" bIns="36576" anchor="t">
            <a:spAutoFit/>
          </a:bodyPr>
          <a:lstStyle/>
          <a:p>
            <a:pPr algn="l">
              <a:spcBef>
                <a:spcPts val="0"/>
              </a:spcBef>
              <a:spcAft>
                <a:spcPts val="0"/>
              </a:spcAft>
            </a:pPr>
            <a:r>
              <a:rPr lang="en-IN" sz="900" b="1" i="0" dirty="0">
                <a:solidFill>
                  <a:srgbClr val="BEF264"/>
                </a:solidFill>
                <a:latin typeface="Cascadia Code"/>
              </a:rPr>
              <a:t>12</a:t>
            </a:r>
            <a:r>
              <a:rPr sz="900" b="1" i="0" dirty="0">
                <a:solidFill>
                  <a:srgbClr val="BEF264"/>
                </a:solidFill>
                <a:latin typeface="Cascadia Code"/>
              </a:rPr>
              <a:t> / AUTOMATION</a:t>
            </a:r>
          </a:p>
        </p:txBody>
      </p:sp>
      <p:sp>
        <p:nvSpPr>
          <p:cNvPr id="3" name="TextBox 2"/>
          <p:cNvSpPr txBox="1"/>
          <p:nvPr/>
        </p:nvSpPr>
        <p:spPr>
          <a:xfrm>
            <a:off x="502920" y="557784"/>
            <a:ext cx="11155680" cy="475488"/>
          </a:xfrm>
          <a:prstGeom prst="rect">
            <a:avLst/>
          </a:prstGeom>
          <a:noFill/>
        </p:spPr>
        <p:txBody>
          <a:bodyPr wrap="square" lIns="36576" tIns="36576" rIns="36576" bIns="36576" anchor="t">
            <a:spAutoFit/>
          </a:bodyPr>
          <a:lstStyle/>
          <a:p>
            <a:pPr algn="l">
              <a:spcBef>
                <a:spcPts val="0"/>
              </a:spcBef>
              <a:spcAft>
                <a:spcPts val="0"/>
              </a:spcAft>
            </a:pPr>
            <a:r>
              <a:rPr sz="2500" b="1" i="0">
                <a:solidFill>
                  <a:srgbClr val="EEF4F7"/>
                </a:solidFill>
                <a:latin typeface="Aptos"/>
              </a:rPr>
              <a:t>Remote database startup: helper, tunnel and deployment sync</a:t>
            </a:r>
          </a:p>
        </p:txBody>
      </p:sp>
      <p:sp>
        <p:nvSpPr>
          <p:cNvPr id="4" name="TextBox 3"/>
          <p:cNvSpPr txBox="1"/>
          <p:nvPr/>
        </p:nvSpPr>
        <p:spPr>
          <a:xfrm>
            <a:off x="530352" y="1078992"/>
            <a:ext cx="10972800" cy="38404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A4B4C1"/>
                </a:solidFill>
                <a:latin typeface="Aptos"/>
              </a:rPr>
              <a:t>A supporting control path coordinates a database that may be started outside the hosted web process.</a:t>
            </a:r>
          </a:p>
        </p:txBody>
      </p:sp>
      <p:cxnSp>
        <p:nvCxnSpPr>
          <p:cNvPr id="5" name="Connector 4"/>
          <p:cNvCxnSpPr/>
          <p:nvPr/>
        </p:nvCxnSpPr>
        <p:spPr>
          <a:xfrm>
            <a:off x="502920" y="1517904"/>
            <a:ext cx="11183112" cy="0"/>
          </a:xfrm>
          <a:prstGeom prst="line">
            <a:avLst/>
          </a:prstGeom>
          <a:ln w="10160">
            <a:solidFill>
              <a:srgbClr val="2B3A4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292840" y="283464"/>
            <a:ext cx="384048" cy="201168"/>
          </a:xfrm>
          <a:prstGeom prst="rect">
            <a:avLst/>
          </a:prstGeom>
          <a:noFill/>
        </p:spPr>
        <p:txBody>
          <a:bodyPr wrap="square" lIns="36576" tIns="36576" rIns="36576" bIns="36576" anchor="t">
            <a:spAutoFit/>
          </a:bodyPr>
          <a:lstStyle/>
          <a:p>
            <a:pPr algn="r">
              <a:spcBef>
                <a:spcPts val="0"/>
              </a:spcBef>
              <a:spcAft>
                <a:spcPts val="0"/>
              </a:spcAft>
            </a:pPr>
            <a:r>
              <a:rPr sz="900" b="1" i="0">
                <a:solidFill>
                  <a:srgbClr val="A4B4C1"/>
                </a:solidFill>
                <a:latin typeface="Cascadia Code"/>
              </a:rPr>
              <a:t>12</a:t>
            </a:r>
          </a:p>
        </p:txBody>
      </p:sp>
      <p:cxnSp>
        <p:nvCxnSpPr>
          <p:cNvPr id="7" name="Connector 6"/>
          <p:cNvCxnSpPr/>
          <p:nvPr/>
        </p:nvCxnSpPr>
        <p:spPr>
          <a:xfrm>
            <a:off x="502920" y="6510528"/>
            <a:ext cx="11183112" cy="0"/>
          </a:xfrm>
          <a:prstGeom prst="line">
            <a:avLst/>
          </a:prstGeom>
          <a:ln w="7620">
            <a:solidFill>
              <a:srgbClr val="2B3A4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56248"/>
            <a:ext cx="6858000" cy="146304"/>
          </a:xfrm>
          <a:prstGeom prst="rect">
            <a:avLst/>
          </a:prstGeom>
          <a:noFill/>
        </p:spPr>
        <p:txBody>
          <a:bodyPr wrap="square" lIns="36576" tIns="36576" rIns="36576" bIns="36576" anchor="t">
            <a:spAutoFit/>
          </a:bodyPr>
          <a:lstStyle/>
          <a:p>
            <a:pPr algn="l">
              <a:spcBef>
                <a:spcPts val="0"/>
              </a:spcBef>
              <a:spcAft>
                <a:spcPts val="0"/>
              </a:spcAft>
            </a:pPr>
            <a:r>
              <a:rPr sz="700" b="0" i="0">
                <a:solidFill>
                  <a:srgbClr val="A4B4C1"/>
                </a:solidFill>
                <a:latin typeface="Cascadia Code"/>
              </a:rPr>
              <a:t>ADPILOT D2C INTELLIGENCE  /  TECHNICAL ARCHITECTURE</a:t>
            </a:r>
          </a:p>
        </p:txBody>
      </p:sp>
      <p:sp>
        <p:nvSpPr>
          <p:cNvPr id="9" name="TextBox 8"/>
          <p:cNvSpPr txBox="1"/>
          <p:nvPr/>
        </p:nvSpPr>
        <p:spPr>
          <a:xfrm>
            <a:off x="11064240" y="6547104"/>
            <a:ext cx="594360" cy="181588"/>
          </a:xfrm>
          <a:prstGeom prst="rect">
            <a:avLst/>
          </a:prstGeom>
          <a:noFill/>
        </p:spPr>
        <p:txBody>
          <a:bodyPr wrap="square" lIns="36576" tIns="36576" rIns="36576" bIns="36576" anchor="t">
            <a:spAutoFit/>
          </a:bodyPr>
          <a:lstStyle/>
          <a:p>
            <a:pPr algn="r">
              <a:spcBef>
                <a:spcPts val="0"/>
              </a:spcBef>
              <a:spcAft>
                <a:spcPts val="0"/>
              </a:spcAft>
            </a:pPr>
            <a:r>
              <a:rPr lang="en-IN" sz="700" b="0" i="0" dirty="0">
                <a:solidFill>
                  <a:srgbClr val="A4B4C1"/>
                </a:solidFill>
                <a:latin typeface="Cascadia Code"/>
              </a:rPr>
              <a:t>13</a:t>
            </a:r>
            <a:r>
              <a:rPr sz="700" b="0" i="0" dirty="0">
                <a:solidFill>
                  <a:srgbClr val="A4B4C1"/>
                </a:solidFill>
                <a:latin typeface="Cascadia Code"/>
              </a:rPr>
              <a:t> / </a:t>
            </a:r>
            <a:r>
              <a:rPr lang="en-IN" sz="700" b="0" i="0" dirty="0">
                <a:solidFill>
                  <a:srgbClr val="A4B4C1"/>
                </a:solidFill>
                <a:latin typeface="Cascadia Code"/>
              </a:rPr>
              <a:t>16</a:t>
            </a:r>
            <a:endParaRPr sz="700" b="0" i="0" dirty="0">
              <a:solidFill>
                <a:srgbClr val="A4B4C1"/>
              </a:solidFill>
              <a:latin typeface="Cascadia Code"/>
            </a:endParaRPr>
          </a:p>
        </p:txBody>
      </p:sp>
      <p:sp>
        <p:nvSpPr>
          <p:cNvPr id="10" name="Rounded Rectangle 9"/>
          <p:cNvSpPr/>
          <p:nvPr/>
        </p:nvSpPr>
        <p:spPr>
          <a:xfrm>
            <a:off x="658368" y="1874519"/>
            <a:ext cx="2057400" cy="960120"/>
          </a:xfrm>
          <a:prstGeom prst="roundRect">
            <a:avLst>
              <a:gd name="adj" fmla="val 12000"/>
            </a:avLst>
          </a:prstGeom>
          <a:solidFill>
            <a:srgbClr val="121B28"/>
          </a:solidFill>
          <a:ln w="10160">
            <a:solidFill>
              <a:srgbClr val="6A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8368" y="1874519"/>
            <a:ext cx="64008" cy="960120"/>
          </a:xfrm>
          <a:prstGeom prst="rect">
            <a:avLst/>
          </a:prstGeom>
          <a:solidFill>
            <a:srgbClr val="6AAAFF"/>
          </a:solidFill>
          <a:ln w="10160">
            <a:solidFill>
              <a:srgbClr val="6A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59" y="1965960"/>
            <a:ext cx="1801368"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OPERATOR</a:t>
            </a:r>
          </a:p>
        </p:txBody>
      </p:sp>
      <p:sp>
        <p:nvSpPr>
          <p:cNvPr id="13" name="TextBox 12"/>
          <p:cNvSpPr txBox="1"/>
          <p:nvPr/>
        </p:nvSpPr>
        <p:spPr>
          <a:xfrm>
            <a:off x="822959" y="2258568"/>
            <a:ext cx="1801368" cy="52120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Click start / request status</a:t>
            </a:r>
          </a:p>
        </p:txBody>
      </p:sp>
      <p:sp>
        <p:nvSpPr>
          <p:cNvPr id="14" name="Rounded Rectangle 13"/>
          <p:cNvSpPr/>
          <p:nvPr/>
        </p:nvSpPr>
        <p:spPr>
          <a:xfrm>
            <a:off x="3090672" y="1874519"/>
            <a:ext cx="2148840" cy="960120"/>
          </a:xfrm>
          <a:prstGeom prst="roundRect">
            <a:avLst>
              <a:gd name="adj" fmla="val 12000"/>
            </a:avLst>
          </a:prstGeom>
          <a:solidFill>
            <a:srgbClr val="121B28"/>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090672" y="1874519"/>
            <a:ext cx="64008" cy="960120"/>
          </a:xfrm>
          <a:prstGeom prst="rect">
            <a:avLst/>
          </a:prstGeom>
          <a:solidFill>
            <a:srgbClr val="BEF264"/>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55264" y="1965960"/>
            <a:ext cx="1892808"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BACKEND HELPER API</a:t>
            </a:r>
          </a:p>
        </p:txBody>
      </p:sp>
      <p:sp>
        <p:nvSpPr>
          <p:cNvPr id="17" name="TextBox 16"/>
          <p:cNvSpPr txBox="1"/>
          <p:nvPr/>
        </p:nvSpPr>
        <p:spPr>
          <a:xfrm>
            <a:off x="3255264" y="2258568"/>
            <a:ext cx="1892808" cy="52120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Start request + job state</a:t>
            </a:r>
          </a:p>
        </p:txBody>
      </p:sp>
      <p:sp>
        <p:nvSpPr>
          <p:cNvPr id="18" name="Rounded Rectangle 17"/>
          <p:cNvSpPr/>
          <p:nvPr/>
        </p:nvSpPr>
        <p:spPr>
          <a:xfrm>
            <a:off x="5623560" y="1874519"/>
            <a:ext cx="2148840" cy="960120"/>
          </a:xfrm>
          <a:prstGeom prst="roundRect">
            <a:avLst>
              <a:gd name="adj" fmla="val 12000"/>
            </a:avLst>
          </a:prstGeom>
          <a:solidFill>
            <a:srgbClr val="121B28"/>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23560" y="1874519"/>
            <a:ext cx="64008" cy="960120"/>
          </a:xfrm>
          <a:prstGeom prst="rect">
            <a:avLst/>
          </a:prstGeom>
          <a:solidFill>
            <a:srgbClr val="4BDCBE"/>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88152" y="1965960"/>
            <a:ext cx="1892808"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LOCAL HELPER</a:t>
            </a:r>
          </a:p>
        </p:txBody>
      </p:sp>
      <p:sp>
        <p:nvSpPr>
          <p:cNvPr id="21" name="TextBox 20"/>
          <p:cNvSpPr txBox="1"/>
          <p:nvPr/>
        </p:nvSpPr>
        <p:spPr>
          <a:xfrm>
            <a:off x="5788152" y="2258568"/>
            <a:ext cx="1892808" cy="52120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tools/db_helper/helper.py</a:t>
            </a:r>
          </a:p>
        </p:txBody>
      </p:sp>
      <p:sp>
        <p:nvSpPr>
          <p:cNvPr id="22" name="Rounded Rectangle 21"/>
          <p:cNvSpPr/>
          <p:nvPr/>
        </p:nvSpPr>
        <p:spPr>
          <a:xfrm>
            <a:off x="8156448" y="1874519"/>
            <a:ext cx="1417320" cy="960120"/>
          </a:xfrm>
          <a:prstGeom prst="roundRect">
            <a:avLst>
              <a:gd name="adj" fmla="val 12000"/>
            </a:avLst>
          </a:prstGeom>
          <a:solidFill>
            <a:srgbClr val="121B28"/>
          </a:solidFill>
          <a:ln w="10160">
            <a:solidFill>
              <a:srgbClr val="BE9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156448" y="1874519"/>
            <a:ext cx="64008" cy="960120"/>
          </a:xfrm>
          <a:prstGeom prst="rect">
            <a:avLst/>
          </a:prstGeom>
          <a:solidFill>
            <a:srgbClr val="BE9BFF"/>
          </a:solidFill>
          <a:ln w="10160">
            <a:solidFill>
              <a:srgbClr val="BE9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1965960"/>
            <a:ext cx="1161288"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NGROK</a:t>
            </a:r>
          </a:p>
        </p:txBody>
      </p:sp>
      <p:sp>
        <p:nvSpPr>
          <p:cNvPr id="25" name="TextBox 24"/>
          <p:cNvSpPr txBox="1"/>
          <p:nvPr/>
        </p:nvSpPr>
        <p:spPr>
          <a:xfrm>
            <a:off x="8321040" y="2258568"/>
            <a:ext cx="1161288" cy="52120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Secure tunnel</a:t>
            </a:r>
          </a:p>
        </p:txBody>
      </p:sp>
      <p:sp>
        <p:nvSpPr>
          <p:cNvPr id="26" name="Rounded Rectangle 25"/>
          <p:cNvSpPr/>
          <p:nvPr/>
        </p:nvSpPr>
        <p:spPr>
          <a:xfrm>
            <a:off x="9921240" y="1874519"/>
            <a:ext cx="1554480" cy="960120"/>
          </a:xfrm>
          <a:prstGeom prst="roundRect">
            <a:avLst>
              <a:gd name="adj" fmla="val 12000"/>
            </a:avLst>
          </a:prstGeom>
          <a:solidFill>
            <a:srgbClr val="121B28"/>
          </a:solidFill>
          <a:ln w="10160">
            <a:solidFill>
              <a:srgbClr val="FFC4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921240" y="1874519"/>
            <a:ext cx="64008" cy="960120"/>
          </a:xfrm>
          <a:prstGeom prst="rect">
            <a:avLst/>
          </a:prstGeom>
          <a:solidFill>
            <a:srgbClr val="FFC45C"/>
          </a:solidFill>
          <a:ln w="10160">
            <a:solidFill>
              <a:srgbClr val="FFC4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85832" y="1965960"/>
            <a:ext cx="1298448"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RENDER</a:t>
            </a:r>
          </a:p>
        </p:txBody>
      </p:sp>
      <p:sp>
        <p:nvSpPr>
          <p:cNvPr id="29" name="TextBox 28"/>
          <p:cNvSpPr txBox="1"/>
          <p:nvPr/>
        </p:nvSpPr>
        <p:spPr>
          <a:xfrm>
            <a:off x="10085832" y="2258568"/>
            <a:ext cx="1298448" cy="52120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DSN env sync</a:t>
            </a:r>
          </a:p>
        </p:txBody>
      </p:sp>
      <p:cxnSp>
        <p:nvCxnSpPr>
          <p:cNvPr id="30" name="Connector 29"/>
          <p:cNvCxnSpPr/>
          <p:nvPr/>
        </p:nvCxnSpPr>
        <p:spPr>
          <a:xfrm>
            <a:off x="2715768" y="2359152"/>
            <a:ext cx="374904" cy="0"/>
          </a:xfrm>
          <a:prstGeom prst="line">
            <a:avLst/>
          </a:prstGeom>
          <a:ln w="19050">
            <a:solidFill>
              <a:srgbClr val="6AAA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239512" y="2359152"/>
            <a:ext cx="384048" cy="0"/>
          </a:xfrm>
          <a:prstGeom prst="line">
            <a:avLst/>
          </a:prstGeom>
          <a:ln w="19050">
            <a:solidFill>
              <a:srgbClr val="BEF26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772400" y="2359152"/>
            <a:ext cx="384048" cy="0"/>
          </a:xfrm>
          <a:prstGeom prst="line">
            <a:avLst/>
          </a:prstGeom>
          <a:ln w="19050">
            <a:solidFill>
              <a:srgbClr val="4BDCB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573768" y="2359152"/>
            <a:ext cx="347472" cy="0"/>
          </a:xfrm>
          <a:prstGeom prst="line">
            <a:avLst/>
          </a:prstGeom>
          <a:ln w="19050">
            <a:solidFill>
              <a:srgbClr val="BE9BF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698480" y="2834640"/>
            <a:ext cx="0" cy="960120"/>
          </a:xfrm>
          <a:prstGeom prst="line">
            <a:avLst/>
          </a:prstGeom>
          <a:ln w="16510">
            <a:solidFill>
              <a:srgbClr val="FFC45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4160520" y="3794760"/>
            <a:ext cx="6537960" cy="0"/>
          </a:xfrm>
          <a:prstGeom prst="line">
            <a:avLst/>
          </a:prstGeom>
          <a:ln w="16510">
            <a:solidFill>
              <a:srgbClr val="FFC45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160520" y="2834640"/>
            <a:ext cx="0" cy="960120"/>
          </a:xfrm>
          <a:prstGeom prst="line">
            <a:avLst/>
          </a:prstGeom>
          <a:ln w="16510">
            <a:solidFill>
              <a:srgbClr val="FFC45C"/>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49808" y="3310128"/>
            <a:ext cx="2880360" cy="292608"/>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FFC45C"/>
                </a:solidFill>
                <a:latin typeface="Cascadia Code"/>
              </a:rPr>
              <a:t>STATUS / PROGRESS POLLING</a:t>
            </a:r>
          </a:p>
        </p:txBody>
      </p:sp>
      <p:sp>
        <p:nvSpPr>
          <p:cNvPr id="38" name="Rounded Rectangle 37"/>
          <p:cNvSpPr/>
          <p:nvPr/>
        </p:nvSpPr>
        <p:spPr>
          <a:xfrm>
            <a:off x="713232" y="4224528"/>
            <a:ext cx="5166360" cy="1097280"/>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96112" y="4370832"/>
            <a:ext cx="4754880" cy="22860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4BDCBE"/>
                </a:solidFill>
                <a:latin typeface="Cascadia Code"/>
              </a:rPr>
              <a:t>JOB STATE TRACKING</a:t>
            </a:r>
          </a:p>
        </p:txBody>
      </p:sp>
      <p:sp>
        <p:nvSpPr>
          <p:cNvPr id="40" name="TextBox 39"/>
          <p:cNvSpPr txBox="1"/>
          <p:nvPr/>
        </p:nvSpPr>
        <p:spPr>
          <a:xfrm>
            <a:off x="896112" y="4681728"/>
            <a:ext cx="4681728" cy="438912"/>
          </a:xfrm>
          <a:prstGeom prst="rect">
            <a:avLst/>
          </a:prstGeom>
          <a:noFill/>
        </p:spPr>
        <p:txBody>
          <a:bodyPr wrap="square" lIns="36576" tIns="36576" rIns="36576" bIns="36576" anchor="t">
            <a:spAutoFit/>
          </a:bodyPr>
          <a:lstStyle/>
          <a:p>
            <a:pPr algn="l">
              <a:spcBef>
                <a:spcPts val="0"/>
              </a:spcBef>
              <a:spcAft>
                <a:spcPts val="0"/>
              </a:spcAft>
            </a:pPr>
            <a:r>
              <a:rPr sz="1050" b="0" i="0">
                <a:solidFill>
                  <a:srgbClr val="EEF4F7"/>
                </a:solidFill>
                <a:latin typeface="Aptos"/>
              </a:rPr>
              <a:t>Expose progress and outcome instead of treating a long-running external action as an immediate synchronous request.</a:t>
            </a:r>
          </a:p>
        </p:txBody>
      </p:sp>
      <p:sp>
        <p:nvSpPr>
          <p:cNvPr id="41" name="Rounded Rectangle 40"/>
          <p:cNvSpPr/>
          <p:nvPr/>
        </p:nvSpPr>
        <p:spPr>
          <a:xfrm>
            <a:off x="6199632" y="4224528"/>
            <a:ext cx="5166360" cy="1097280"/>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382512" y="4370832"/>
            <a:ext cx="4754880" cy="22860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FFC45C"/>
                </a:solidFill>
                <a:latin typeface="Cascadia Code"/>
              </a:rPr>
              <a:t>OPERATIONS RISK</a:t>
            </a:r>
          </a:p>
        </p:txBody>
      </p:sp>
      <p:sp>
        <p:nvSpPr>
          <p:cNvPr id="43" name="TextBox 42"/>
          <p:cNvSpPr txBox="1"/>
          <p:nvPr/>
        </p:nvSpPr>
        <p:spPr>
          <a:xfrm>
            <a:off x="6382512" y="4681728"/>
            <a:ext cx="4681728" cy="438912"/>
          </a:xfrm>
          <a:prstGeom prst="rect">
            <a:avLst/>
          </a:prstGeom>
          <a:noFill/>
        </p:spPr>
        <p:txBody>
          <a:bodyPr wrap="square" lIns="36576" tIns="36576" rIns="36576" bIns="36576" anchor="t">
            <a:spAutoFit/>
          </a:bodyPr>
          <a:lstStyle/>
          <a:p>
            <a:pPr algn="l">
              <a:spcBef>
                <a:spcPts val="0"/>
              </a:spcBef>
              <a:spcAft>
                <a:spcPts val="0"/>
              </a:spcAft>
            </a:pPr>
            <a:r>
              <a:rPr sz="1050" b="0" i="0">
                <a:solidFill>
                  <a:srgbClr val="EEF4F7"/>
                </a:solidFill>
                <a:latin typeface="Aptos"/>
              </a:rPr>
              <a:t>Tunnel and DSN sync are environment-sensitive; token checks, timeouts, retries and clear failure states are essential.</a:t>
            </a:r>
          </a:p>
        </p:txBody>
      </p:sp>
      <p:sp>
        <p:nvSpPr>
          <p:cNvPr id="44" name="TextBox 43"/>
          <p:cNvSpPr txBox="1"/>
          <p:nvPr/>
        </p:nvSpPr>
        <p:spPr>
          <a:xfrm>
            <a:off x="749808" y="5623560"/>
            <a:ext cx="10698480" cy="274320"/>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Cascadia Code"/>
              </a:rPr>
              <a:t>Relevant project area: tools/ngrok_render_sync · tools/db_helper/helper.py · Exasol startup verification via helper polling/report endpoints.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F18"/>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8961120" cy="219456"/>
          </a:xfrm>
          <a:prstGeom prst="rect">
            <a:avLst/>
          </a:prstGeom>
          <a:noFill/>
        </p:spPr>
        <p:txBody>
          <a:bodyPr wrap="square" lIns="36576" tIns="36576" rIns="36576" bIns="36576" anchor="t">
            <a:spAutoFit/>
          </a:bodyPr>
          <a:lstStyle/>
          <a:p>
            <a:pPr algn="l">
              <a:spcBef>
                <a:spcPts val="0"/>
              </a:spcBef>
              <a:spcAft>
                <a:spcPts val="0"/>
              </a:spcAft>
            </a:pPr>
            <a:r>
              <a:rPr lang="en-IN" sz="900" b="1" i="0" dirty="0">
                <a:solidFill>
                  <a:srgbClr val="BEF264"/>
                </a:solidFill>
                <a:latin typeface="Cascadia Code"/>
              </a:rPr>
              <a:t>13</a:t>
            </a:r>
            <a:r>
              <a:rPr sz="900" b="1" i="0" dirty="0">
                <a:solidFill>
                  <a:srgbClr val="BEF264"/>
                </a:solidFill>
                <a:latin typeface="Cascadia Code"/>
              </a:rPr>
              <a:t> / CACHING + PERFORMANCE</a:t>
            </a:r>
          </a:p>
        </p:txBody>
      </p:sp>
      <p:sp>
        <p:nvSpPr>
          <p:cNvPr id="3" name="TextBox 2"/>
          <p:cNvSpPr txBox="1"/>
          <p:nvPr/>
        </p:nvSpPr>
        <p:spPr>
          <a:xfrm>
            <a:off x="502920" y="557784"/>
            <a:ext cx="11155680" cy="475488"/>
          </a:xfrm>
          <a:prstGeom prst="rect">
            <a:avLst/>
          </a:prstGeom>
          <a:noFill/>
        </p:spPr>
        <p:txBody>
          <a:bodyPr wrap="square" lIns="36576" tIns="36576" rIns="36576" bIns="36576" anchor="t">
            <a:spAutoFit/>
          </a:bodyPr>
          <a:lstStyle/>
          <a:p>
            <a:pPr algn="l">
              <a:spcBef>
                <a:spcPts val="0"/>
              </a:spcBef>
              <a:spcAft>
                <a:spcPts val="0"/>
              </a:spcAft>
            </a:pPr>
            <a:r>
              <a:rPr sz="2500" b="1" i="0">
                <a:solidFill>
                  <a:srgbClr val="EEF4F7"/>
                </a:solidFill>
                <a:latin typeface="Aptos"/>
              </a:rPr>
              <a:t>Performance strategy and current scalability boundaries</a:t>
            </a:r>
          </a:p>
        </p:txBody>
      </p:sp>
      <p:sp>
        <p:nvSpPr>
          <p:cNvPr id="4" name="TextBox 3"/>
          <p:cNvSpPr txBox="1"/>
          <p:nvPr/>
        </p:nvSpPr>
        <p:spPr>
          <a:xfrm>
            <a:off x="530352" y="1078992"/>
            <a:ext cx="10972800" cy="38404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A4B4C1"/>
                </a:solidFill>
                <a:latin typeface="Aptos"/>
              </a:rPr>
              <a:t>Optimize the expensive boundaries first: remote reads, repeated transformations and oversized response payloads.</a:t>
            </a:r>
          </a:p>
        </p:txBody>
      </p:sp>
      <p:cxnSp>
        <p:nvCxnSpPr>
          <p:cNvPr id="5" name="Connector 4"/>
          <p:cNvCxnSpPr/>
          <p:nvPr/>
        </p:nvCxnSpPr>
        <p:spPr>
          <a:xfrm>
            <a:off x="502920" y="1517904"/>
            <a:ext cx="11183112" cy="0"/>
          </a:xfrm>
          <a:prstGeom prst="line">
            <a:avLst/>
          </a:prstGeom>
          <a:ln w="10160">
            <a:solidFill>
              <a:srgbClr val="2B3A4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292840" y="283464"/>
            <a:ext cx="384048" cy="201168"/>
          </a:xfrm>
          <a:prstGeom prst="rect">
            <a:avLst/>
          </a:prstGeom>
          <a:noFill/>
        </p:spPr>
        <p:txBody>
          <a:bodyPr wrap="square" lIns="36576" tIns="36576" rIns="36576" bIns="36576" anchor="t">
            <a:spAutoFit/>
          </a:bodyPr>
          <a:lstStyle/>
          <a:p>
            <a:pPr algn="r">
              <a:spcBef>
                <a:spcPts val="0"/>
              </a:spcBef>
              <a:spcAft>
                <a:spcPts val="0"/>
              </a:spcAft>
            </a:pPr>
            <a:r>
              <a:rPr sz="900" b="1" i="0">
                <a:solidFill>
                  <a:srgbClr val="A4B4C1"/>
                </a:solidFill>
                <a:latin typeface="Cascadia Code"/>
              </a:rPr>
              <a:t>13</a:t>
            </a:r>
          </a:p>
        </p:txBody>
      </p:sp>
      <p:cxnSp>
        <p:nvCxnSpPr>
          <p:cNvPr id="7" name="Connector 6"/>
          <p:cNvCxnSpPr/>
          <p:nvPr/>
        </p:nvCxnSpPr>
        <p:spPr>
          <a:xfrm>
            <a:off x="502920" y="6510528"/>
            <a:ext cx="11183112" cy="0"/>
          </a:xfrm>
          <a:prstGeom prst="line">
            <a:avLst/>
          </a:prstGeom>
          <a:ln w="7620">
            <a:solidFill>
              <a:srgbClr val="2B3A4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56248"/>
            <a:ext cx="6858000" cy="146304"/>
          </a:xfrm>
          <a:prstGeom prst="rect">
            <a:avLst/>
          </a:prstGeom>
          <a:noFill/>
        </p:spPr>
        <p:txBody>
          <a:bodyPr wrap="square" lIns="36576" tIns="36576" rIns="36576" bIns="36576" anchor="t">
            <a:spAutoFit/>
          </a:bodyPr>
          <a:lstStyle/>
          <a:p>
            <a:pPr algn="l">
              <a:spcBef>
                <a:spcPts val="0"/>
              </a:spcBef>
              <a:spcAft>
                <a:spcPts val="0"/>
              </a:spcAft>
            </a:pPr>
            <a:r>
              <a:rPr sz="700" b="0" i="0">
                <a:solidFill>
                  <a:srgbClr val="A4B4C1"/>
                </a:solidFill>
                <a:latin typeface="Cascadia Code"/>
              </a:rPr>
              <a:t>ADPILOT D2C INTELLIGENCE  /  TECHNICAL ARCHITECTURE</a:t>
            </a:r>
          </a:p>
        </p:txBody>
      </p:sp>
      <p:sp>
        <p:nvSpPr>
          <p:cNvPr id="9" name="TextBox 8"/>
          <p:cNvSpPr txBox="1"/>
          <p:nvPr/>
        </p:nvSpPr>
        <p:spPr>
          <a:xfrm>
            <a:off x="11064240" y="6547104"/>
            <a:ext cx="594360" cy="181588"/>
          </a:xfrm>
          <a:prstGeom prst="rect">
            <a:avLst/>
          </a:prstGeom>
          <a:noFill/>
        </p:spPr>
        <p:txBody>
          <a:bodyPr wrap="square" lIns="36576" tIns="36576" rIns="36576" bIns="36576" anchor="t">
            <a:spAutoFit/>
          </a:bodyPr>
          <a:lstStyle/>
          <a:p>
            <a:pPr algn="r">
              <a:spcBef>
                <a:spcPts val="0"/>
              </a:spcBef>
              <a:spcAft>
                <a:spcPts val="0"/>
              </a:spcAft>
            </a:pPr>
            <a:r>
              <a:rPr lang="en-IN" sz="700" b="0" i="0" dirty="0">
                <a:solidFill>
                  <a:srgbClr val="A4B4C1"/>
                </a:solidFill>
                <a:latin typeface="Cascadia Code"/>
              </a:rPr>
              <a:t>14</a:t>
            </a:r>
            <a:r>
              <a:rPr sz="700" b="0" i="0" dirty="0">
                <a:solidFill>
                  <a:srgbClr val="A4B4C1"/>
                </a:solidFill>
                <a:latin typeface="Cascadia Code"/>
              </a:rPr>
              <a:t> / </a:t>
            </a:r>
            <a:r>
              <a:rPr lang="en-IN" sz="700" b="0" i="0" dirty="0">
                <a:solidFill>
                  <a:srgbClr val="A4B4C1"/>
                </a:solidFill>
                <a:latin typeface="Cascadia Code"/>
              </a:rPr>
              <a:t>16</a:t>
            </a:r>
            <a:endParaRPr sz="700" b="0" i="0" dirty="0">
              <a:solidFill>
                <a:srgbClr val="A4B4C1"/>
              </a:solidFill>
              <a:latin typeface="Cascadia Code"/>
            </a:endParaRPr>
          </a:p>
        </p:txBody>
      </p:sp>
      <p:sp>
        <p:nvSpPr>
          <p:cNvPr id="10" name="Rounded Rectangle 9"/>
          <p:cNvSpPr/>
          <p:nvPr/>
        </p:nvSpPr>
        <p:spPr>
          <a:xfrm>
            <a:off x="731520" y="1920240"/>
            <a:ext cx="2103120" cy="868680"/>
          </a:xfrm>
          <a:prstGeom prst="roundRect">
            <a:avLst>
              <a:gd name="adj" fmla="val 12000"/>
            </a:avLst>
          </a:prstGeom>
          <a:solidFill>
            <a:srgbClr val="121B28"/>
          </a:solidFill>
          <a:ln w="10160">
            <a:solidFill>
              <a:srgbClr val="6A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1920240"/>
            <a:ext cx="64008" cy="868680"/>
          </a:xfrm>
          <a:prstGeom prst="rect">
            <a:avLst/>
          </a:prstGeom>
          <a:solidFill>
            <a:srgbClr val="6AAAFF"/>
          </a:solidFill>
          <a:ln w="10160">
            <a:solidFill>
              <a:srgbClr val="6A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2011680"/>
            <a:ext cx="1847087"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API REQUEST</a:t>
            </a:r>
          </a:p>
        </p:txBody>
      </p:sp>
      <p:sp>
        <p:nvSpPr>
          <p:cNvPr id="13" name="TextBox 12"/>
          <p:cNvSpPr txBox="1"/>
          <p:nvPr/>
        </p:nvSpPr>
        <p:spPr>
          <a:xfrm>
            <a:off x="896112" y="2304288"/>
            <a:ext cx="1847087" cy="42976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Overview / campaigns</a:t>
            </a:r>
          </a:p>
        </p:txBody>
      </p:sp>
      <p:sp>
        <p:nvSpPr>
          <p:cNvPr id="14" name="Rounded Rectangle 13"/>
          <p:cNvSpPr/>
          <p:nvPr/>
        </p:nvSpPr>
        <p:spPr>
          <a:xfrm>
            <a:off x="3246120" y="1920240"/>
            <a:ext cx="2057400" cy="868680"/>
          </a:xfrm>
          <a:prstGeom prst="roundRect">
            <a:avLst>
              <a:gd name="adj" fmla="val 12000"/>
            </a:avLst>
          </a:prstGeom>
          <a:solidFill>
            <a:srgbClr val="121B28"/>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46120" y="1920240"/>
            <a:ext cx="64008" cy="868680"/>
          </a:xfrm>
          <a:prstGeom prst="rect">
            <a:avLst/>
          </a:prstGeom>
          <a:solidFill>
            <a:srgbClr val="BEF264"/>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10712" y="2011680"/>
            <a:ext cx="1801368"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CACHE LOOKUP</a:t>
            </a:r>
          </a:p>
        </p:txBody>
      </p:sp>
      <p:sp>
        <p:nvSpPr>
          <p:cNvPr id="17" name="TextBox 16"/>
          <p:cNvSpPr txBox="1"/>
          <p:nvPr/>
        </p:nvSpPr>
        <p:spPr>
          <a:xfrm>
            <a:off x="3410712" y="2304288"/>
            <a:ext cx="1801368" cy="42976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In-memory frame + TTL</a:t>
            </a:r>
          </a:p>
        </p:txBody>
      </p:sp>
      <p:sp>
        <p:nvSpPr>
          <p:cNvPr id="18" name="Rounded Rectangle 17"/>
          <p:cNvSpPr/>
          <p:nvPr/>
        </p:nvSpPr>
        <p:spPr>
          <a:xfrm>
            <a:off x="5715000" y="1627632"/>
            <a:ext cx="2011680" cy="868680"/>
          </a:xfrm>
          <a:prstGeom prst="roundRect">
            <a:avLst>
              <a:gd name="adj" fmla="val 12000"/>
            </a:avLst>
          </a:prstGeom>
          <a:solidFill>
            <a:srgbClr val="121B28"/>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715000" y="1627632"/>
            <a:ext cx="64008" cy="868680"/>
          </a:xfrm>
          <a:prstGeom prst="rect">
            <a:avLst/>
          </a:prstGeom>
          <a:solidFill>
            <a:srgbClr val="4BDCBE"/>
          </a:solidFill>
          <a:ln w="10160">
            <a:solidFill>
              <a:srgbClr val="4BD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879592" y="1719072"/>
            <a:ext cx="1755648"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CACHE HIT?</a:t>
            </a:r>
          </a:p>
        </p:txBody>
      </p:sp>
      <p:sp>
        <p:nvSpPr>
          <p:cNvPr id="21" name="TextBox 20"/>
          <p:cNvSpPr txBox="1"/>
          <p:nvPr/>
        </p:nvSpPr>
        <p:spPr>
          <a:xfrm>
            <a:off x="5879592" y="2011680"/>
            <a:ext cx="1755648" cy="42976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Fresh within TTL</a:t>
            </a:r>
          </a:p>
        </p:txBody>
      </p:sp>
      <p:sp>
        <p:nvSpPr>
          <p:cNvPr id="22" name="Rounded Rectangle 21"/>
          <p:cNvSpPr/>
          <p:nvPr/>
        </p:nvSpPr>
        <p:spPr>
          <a:xfrm>
            <a:off x="8275320" y="1417320"/>
            <a:ext cx="2468880" cy="777240"/>
          </a:xfrm>
          <a:prstGeom prst="roundRect">
            <a:avLst>
              <a:gd name="adj" fmla="val 12000"/>
            </a:avLst>
          </a:prstGeom>
          <a:solidFill>
            <a:srgbClr val="121B28"/>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275320" y="1417320"/>
            <a:ext cx="64008" cy="777240"/>
          </a:xfrm>
          <a:prstGeom prst="rect">
            <a:avLst/>
          </a:prstGeom>
          <a:solidFill>
            <a:srgbClr val="BEF264"/>
          </a:solidFill>
          <a:ln w="10160">
            <a:solidFill>
              <a:srgbClr val="BEF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39912" y="1508760"/>
            <a:ext cx="2212848"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RETURN FRAME</a:t>
            </a:r>
          </a:p>
        </p:txBody>
      </p:sp>
      <p:sp>
        <p:nvSpPr>
          <p:cNvPr id="25" name="TextBox 24"/>
          <p:cNvSpPr txBox="1"/>
          <p:nvPr/>
        </p:nvSpPr>
        <p:spPr>
          <a:xfrm>
            <a:off x="8439912" y="1801368"/>
            <a:ext cx="2212848" cy="33832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Reuse loaded data</a:t>
            </a:r>
          </a:p>
        </p:txBody>
      </p:sp>
      <p:sp>
        <p:nvSpPr>
          <p:cNvPr id="26" name="Rounded Rectangle 25"/>
          <p:cNvSpPr/>
          <p:nvPr/>
        </p:nvSpPr>
        <p:spPr>
          <a:xfrm>
            <a:off x="8275320" y="2743200"/>
            <a:ext cx="2468880" cy="777240"/>
          </a:xfrm>
          <a:prstGeom prst="roundRect">
            <a:avLst>
              <a:gd name="adj" fmla="val 12000"/>
            </a:avLst>
          </a:prstGeom>
          <a:solidFill>
            <a:srgbClr val="121B28"/>
          </a:solidFill>
          <a:ln w="10160">
            <a:solidFill>
              <a:srgbClr val="FFC4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75320" y="2743200"/>
            <a:ext cx="64008" cy="777240"/>
          </a:xfrm>
          <a:prstGeom prst="rect">
            <a:avLst/>
          </a:prstGeom>
          <a:solidFill>
            <a:srgbClr val="FFC45C"/>
          </a:solidFill>
          <a:ln w="10160">
            <a:solidFill>
              <a:srgbClr val="FFC4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39912" y="2834640"/>
            <a:ext cx="2212848" cy="256032"/>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EEF4F7"/>
                </a:solidFill>
                <a:latin typeface="Aptos"/>
              </a:rPr>
              <a:t>RELOAD SOURCE</a:t>
            </a:r>
          </a:p>
        </p:txBody>
      </p:sp>
      <p:sp>
        <p:nvSpPr>
          <p:cNvPr id="29" name="TextBox 28"/>
          <p:cNvSpPr txBox="1"/>
          <p:nvPr/>
        </p:nvSpPr>
        <p:spPr>
          <a:xfrm>
            <a:off x="8439912" y="3127248"/>
            <a:ext cx="2212848" cy="338328"/>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A4B4C1"/>
                </a:solidFill>
                <a:latin typeface="Aptos"/>
              </a:rPr>
              <a:t>Exasol or CSV → validate</a:t>
            </a:r>
          </a:p>
        </p:txBody>
      </p:sp>
      <p:cxnSp>
        <p:nvCxnSpPr>
          <p:cNvPr id="30" name="Connector 29"/>
          <p:cNvCxnSpPr/>
          <p:nvPr/>
        </p:nvCxnSpPr>
        <p:spPr>
          <a:xfrm>
            <a:off x="2834640" y="2350008"/>
            <a:ext cx="411480" cy="0"/>
          </a:xfrm>
          <a:prstGeom prst="line">
            <a:avLst/>
          </a:prstGeom>
          <a:ln w="17780">
            <a:solidFill>
              <a:srgbClr val="6AAA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5303520" y="2057400"/>
            <a:ext cx="411480" cy="292608"/>
          </a:xfrm>
          <a:prstGeom prst="line">
            <a:avLst/>
          </a:prstGeom>
          <a:ln w="17780">
            <a:solidFill>
              <a:srgbClr val="BEF26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726679" y="1810512"/>
            <a:ext cx="548641" cy="109728"/>
          </a:xfrm>
          <a:prstGeom prst="line">
            <a:avLst/>
          </a:prstGeom>
          <a:ln w="17780">
            <a:solidFill>
              <a:srgbClr val="4BDCB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726679" y="2377440"/>
            <a:ext cx="548641" cy="731520"/>
          </a:xfrm>
          <a:prstGeom prst="line">
            <a:avLst/>
          </a:prstGeom>
          <a:ln w="17780">
            <a:solidFill>
              <a:srgbClr val="FFC45C"/>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49808" y="3931920"/>
            <a:ext cx="5166360" cy="1234440"/>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32688" y="4087368"/>
            <a:ext cx="4754880" cy="219456"/>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BEF264"/>
                </a:solidFill>
                <a:latin typeface="Cascadia Code"/>
              </a:rPr>
              <a:t>CURRENT DESIGN BENEFITS</a:t>
            </a:r>
          </a:p>
        </p:txBody>
      </p:sp>
      <p:sp>
        <p:nvSpPr>
          <p:cNvPr id="36" name="TextBox 35"/>
          <p:cNvSpPr txBox="1"/>
          <p:nvPr/>
        </p:nvSpPr>
        <p:spPr>
          <a:xfrm>
            <a:off x="932688" y="4425696"/>
            <a:ext cx="4681728" cy="594360"/>
          </a:xfrm>
          <a:prstGeom prst="rect">
            <a:avLst/>
          </a:prstGeom>
          <a:noFill/>
        </p:spPr>
        <p:txBody>
          <a:bodyPr wrap="square" lIns="36576" tIns="36576" rIns="36576" bIns="36576" anchor="t">
            <a:spAutoFit/>
          </a:bodyPr>
          <a:lstStyle/>
          <a:p>
            <a:pPr algn="l">
              <a:spcBef>
                <a:spcPts val="0"/>
              </a:spcBef>
              <a:spcAft>
                <a:spcPts val="0"/>
              </a:spcAft>
            </a:pPr>
            <a:r>
              <a:rPr sz="1050" b="0" i="0">
                <a:solidFill>
                  <a:srgbClr val="EEF4F7"/>
                </a:solidFill>
                <a:latin typeface="Aptos"/>
              </a:rPr>
              <a:t>A simple TTL cache limits repeated source reads during dashboard browsing. Deterministic calculations are reproducible for a fixed frame and avoid unnecessary model calls.</a:t>
            </a:r>
          </a:p>
        </p:txBody>
      </p:sp>
      <p:sp>
        <p:nvSpPr>
          <p:cNvPr id="37" name="Rounded Rectangle 36"/>
          <p:cNvSpPr/>
          <p:nvPr/>
        </p:nvSpPr>
        <p:spPr>
          <a:xfrm>
            <a:off x="6199632" y="3931920"/>
            <a:ext cx="5166360" cy="1234440"/>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82512" y="4087368"/>
            <a:ext cx="4754880" cy="219456"/>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4BDCBE"/>
                </a:solidFill>
                <a:latin typeface="Cascadia Code"/>
              </a:rPr>
              <a:t>SCALE-UP PATH</a:t>
            </a:r>
          </a:p>
        </p:txBody>
      </p:sp>
      <p:sp>
        <p:nvSpPr>
          <p:cNvPr id="39" name="TextBox 38"/>
          <p:cNvSpPr txBox="1"/>
          <p:nvPr/>
        </p:nvSpPr>
        <p:spPr>
          <a:xfrm>
            <a:off x="6382512" y="4425696"/>
            <a:ext cx="4681728" cy="594360"/>
          </a:xfrm>
          <a:prstGeom prst="rect">
            <a:avLst/>
          </a:prstGeom>
          <a:noFill/>
        </p:spPr>
        <p:txBody>
          <a:bodyPr wrap="square" lIns="36576" tIns="36576" rIns="36576" bIns="36576" anchor="t">
            <a:spAutoFit/>
          </a:bodyPr>
          <a:lstStyle/>
          <a:p>
            <a:pPr algn="l">
              <a:spcBef>
                <a:spcPts val="0"/>
              </a:spcBef>
              <a:spcAft>
                <a:spcPts val="0"/>
              </a:spcAft>
            </a:pPr>
            <a:r>
              <a:rPr sz="1050" b="0" i="0">
                <a:solidFill>
                  <a:srgbClr val="EEF4F7"/>
                </a:solidFill>
                <a:latin typeface="Aptos"/>
              </a:rPr>
              <a:t>Add explicit invalidation, query pushdown, indexed aggregates, bounded pagination, background jobs, cache metrics and load tests before increasing data volume or concurrent users.</a:t>
            </a:r>
          </a:p>
        </p:txBody>
      </p:sp>
      <p:sp>
        <p:nvSpPr>
          <p:cNvPr id="40" name="TextBox 39"/>
          <p:cNvSpPr txBox="1"/>
          <p:nvPr/>
        </p:nvSpPr>
        <p:spPr>
          <a:xfrm>
            <a:off x="777240" y="5468112"/>
            <a:ext cx="10698480" cy="41148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FFC45C"/>
                </a:solidFill>
                <a:latin typeface="Aptos"/>
              </a:rPr>
              <a:t>Cache trade-off: lower latency and database load in exchange for a bounded freshness window; document the TTL and expose refresh behavior.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F18"/>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8961120" cy="219456"/>
          </a:xfrm>
          <a:prstGeom prst="rect">
            <a:avLst/>
          </a:prstGeom>
          <a:noFill/>
        </p:spPr>
        <p:txBody>
          <a:bodyPr wrap="square" lIns="36576" tIns="36576" rIns="36576" bIns="36576" anchor="t">
            <a:spAutoFit/>
          </a:bodyPr>
          <a:lstStyle/>
          <a:p>
            <a:pPr algn="l">
              <a:spcBef>
                <a:spcPts val="0"/>
              </a:spcBef>
              <a:spcAft>
                <a:spcPts val="0"/>
              </a:spcAft>
            </a:pPr>
            <a:r>
              <a:rPr lang="en-IN" sz="900" b="1" i="0" dirty="0">
                <a:solidFill>
                  <a:srgbClr val="BEF264"/>
                </a:solidFill>
                <a:latin typeface="Cascadia Code"/>
              </a:rPr>
              <a:t>14</a:t>
            </a:r>
            <a:r>
              <a:rPr sz="900" b="1" i="0" dirty="0">
                <a:solidFill>
                  <a:srgbClr val="BEF264"/>
                </a:solidFill>
                <a:latin typeface="Cascadia Code"/>
              </a:rPr>
              <a:t> / EVALUATION</a:t>
            </a:r>
          </a:p>
        </p:txBody>
      </p:sp>
      <p:sp>
        <p:nvSpPr>
          <p:cNvPr id="3" name="TextBox 2"/>
          <p:cNvSpPr txBox="1"/>
          <p:nvPr/>
        </p:nvSpPr>
        <p:spPr>
          <a:xfrm>
            <a:off x="502920" y="557784"/>
            <a:ext cx="11155680" cy="475488"/>
          </a:xfrm>
          <a:prstGeom prst="rect">
            <a:avLst/>
          </a:prstGeom>
          <a:noFill/>
        </p:spPr>
        <p:txBody>
          <a:bodyPr wrap="square" lIns="36576" tIns="36576" rIns="36576" bIns="36576" anchor="t">
            <a:spAutoFit/>
          </a:bodyPr>
          <a:lstStyle/>
          <a:p>
            <a:pPr algn="l">
              <a:spcBef>
                <a:spcPts val="0"/>
              </a:spcBef>
              <a:spcAft>
                <a:spcPts val="0"/>
              </a:spcAft>
            </a:pPr>
            <a:r>
              <a:rPr sz="2500" b="1" i="0">
                <a:solidFill>
                  <a:srgbClr val="EEF4F7"/>
                </a:solidFill>
                <a:latin typeface="Aptos"/>
              </a:rPr>
              <a:t>Evaluation plan: test invariants, failure paths and explainability</a:t>
            </a:r>
          </a:p>
        </p:txBody>
      </p:sp>
      <p:sp>
        <p:nvSpPr>
          <p:cNvPr id="4" name="TextBox 3"/>
          <p:cNvSpPr txBox="1"/>
          <p:nvPr/>
        </p:nvSpPr>
        <p:spPr>
          <a:xfrm>
            <a:off x="530352" y="1078992"/>
            <a:ext cx="10972800" cy="38404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A4B4C1"/>
                </a:solidFill>
                <a:latin typeface="Aptos"/>
              </a:rPr>
              <a:t>The deck distinguishes implemented mechanisms from measured quality; benchmark claims require repeatable tests.</a:t>
            </a:r>
          </a:p>
        </p:txBody>
      </p:sp>
      <p:cxnSp>
        <p:nvCxnSpPr>
          <p:cNvPr id="5" name="Connector 4"/>
          <p:cNvCxnSpPr/>
          <p:nvPr/>
        </p:nvCxnSpPr>
        <p:spPr>
          <a:xfrm>
            <a:off x="502920" y="1517904"/>
            <a:ext cx="11183112" cy="0"/>
          </a:xfrm>
          <a:prstGeom prst="line">
            <a:avLst/>
          </a:prstGeom>
          <a:ln w="10160">
            <a:solidFill>
              <a:srgbClr val="2B3A4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292840" y="283464"/>
            <a:ext cx="384048" cy="201168"/>
          </a:xfrm>
          <a:prstGeom prst="rect">
            <a:avLst/>
          </a:prstGeom>
          <a:noFill/>
        </p:spPr>
        <p:txBody>
          <a:bodyPr wrap="square" lIns="36576" tIns="36576" rIns="36576" bIns="36576" anchor="t">
            <a:spAutoFit/>
          </a:bodyPr>
          <a:lstStyle/>
          <a:p>
            <a:pPr algn="r">
              <a:spcBef>
                <a:spcPts val="0"/>
              </a:spcBef>
              <a:spcAft>
                <a:spcPts val="0"/>
              </a:spcAft>
            </a:pPr>
            <a:r>
              <a:rPr sz="900" b="1" i="0">
                <a:solidFill>
                  <a:srgbClr val="A4B4C1"/>
                </a:solidFill>
                <a:latin typeface="Cascadia Code"/>
              </a:rPr>
              <a:t>14</a:t>
            </a:r>
          </a:p>
        </p:txBody>
      </p:sp>
      <p:cxnSp>
        <p:nvCxnSpPr>
          <p:cNvPr id="7" name="Connector 6"/>
          <p:cNvCxnSpPr/>
          <p:nvPr/>
        </p:nvCxnSpPr>
        <p:spPr>
          <a:xfrm>
            <a:off x="502920" y="6510528"/>
            <a:ext cx="11183112" cy="0"/>
          </a:xfrm>
          <a:prstGeom prst="line">
            <a:avLst/>
          </a:prstGeom>
          <a:ln w="7620">
            <a:solidFill>
              <a:srgbClr val="2B3A4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56248"/>
            <a:ext cx="6858000" cy="146304"/>
          </a:xfrm>
          <a:prstGeom prst="rect">
            <a:avLst/>
          </a:prstGeom>
          <a:noFill/>
        </p:spPr>
        <p:txBody>
          <a:bodyPr wrap="square" lIns="36576" tIns="36576" rIns="36576" bIns="36576" anchor="t">
            <a:spAutoFit/>
          </a:bodyPr>
          <a:lstStyle/>
          <a:p>
            <a:pPr algn="l">
              <a:spcBef>
                <a:spcPts val="0"/>
              </a:spcBef>
              <a:spcAft>
                <a:spcPts val="0"/>
              </a:spcAft>
            </a:pPr>
            <a:r>
              <a:rPr sz="700" b="0" i="0">
                <a:solidFill>
                  <a:srgbClr val="A4B4C1"/>
                </a:solidFill>
                <a:latin typeface="Cascadia Code"/>
              </a:rPr>
              <a:t>ADPILOT D2C INTELLIGENCE  /  TECHNICAL ARCHITECTURE</a:t>
            </a:r>
          </a:p>
        </p:txBody>
      </p:sp>
      <p:sp>
        <p:nvSpPr>
          <p:cNvPr id="9" name="TextBox 8"/>
          <p:cNvSpPr txBox="1"/>
          <p:nvPr/>
        </p:nvSpPr>
        <p:spPr>
          <a:xfrm>
            <a:off x="11064240" y="6547104"/>
            <a:ext cx="594360" cy="181588"/>
          </a:xfrm>
          <a:prstGeom prst="rect">
            <a:avLst/>
          </a:prstGeom>
          <a:noFill/>
        </p:spPr>
        <p:txBody>
          <a:bodyPr wrap="square" lIns="36576" tIns="36576" rIns="36576" bIns="36576" anchor="t">
            <a:spAutoFit/>
          </a:bodyPr>
          <a:lstStyle/>
          <a:p>
            <a:pPr algn="r">
              <a:spcBef>
                <a:spcPts val="0"/>
              </a:spcBef>
              <a:spcAft>
                <a:spcPts val="0"/>
              </a:spcAft>
            </a:pPr>
            <a:r>
              <a:rPr lang="en-IN" sz="700" b="0" i="0" dirty="0">
                <a:solidFill>
                  <a:srgbClr val="A4B4C1"/>
                </a:solidFill>
                <a:latin typeface="Cascadia Code"/>
              </a:rPr>
              <a:t>15</a:t>
            </a:r>
            <a:r>
              <a:rPr sz="700" b="0" i="0" dirty="0">
                <a:solidFill>
                  <a:srgbClr val="A4B4C1"/>
                </a:solidFill>
                <a:latin typeface="Cascadia Code"/>
              </a:rPr>
              <a:t> / </a:t>
            </a:r>
            <a:r>
              <a:rPr lang="en-IN" sz="700" b="0" i="0" dirty="0">
                <a:solidFill>
                  <a:srgbClr val="A4B4C1"/>
                </a:solidFill>
                <a:latin typeface="Cascadia Code"/>
              </a:rPr>
              <a:t>16</a:t>
            </a:r>
            <a:endParaRPr sz="700" b="0" i="0" dirty="0">
              <a:solidFill>
                <a:srgbClr val="A4B4C1"/>
              </a:solidFill>
              <a:latin typeface="Cascadia Code"/>
            </a:endParaRPr>
          </a:p>
        </p:txBody>
      </p:sp>
      <p:sp>
        <p:nvSpPr>
          <p:cNvPr id="10" name="Rectangle 9"/>
          <p:cNvSpPr/>
          <p:nvPr/>
        </p:nvSpPr>
        <p:spPr>
          <a:xfrm>
            <a:off x="694944" y="1783080"/>
            <a:ext cx="10808208" cy="512064"/>
          </a:xfrm>
          <a:prstGeom prst="rect">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8" y="1892807"/>
            <a:ext cx="1938528" cy="201168"/>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4BDCBE"/>
                </a:solidFill>
                <a:latin typeface="Aptos"/>
              </a:rPr>
              <a:t>Metric invariants</a:t>
            </a:r>
          </a:p>
        </p:txBody>
      </p:sp>
      <p:sp>
        <p:nvSpPr>
          <p:cNvPr id="12" name="TextBox 11"/>
          <p:cNvSpPr txBox="1"/>
          <p:nvPr/>
        </p:nvSpPr>
        <p:spPr>
          <a:xfrm>
            <a:off x="2834640" y="1874519"/>
            <a:ext cx="3886200" cy="274320"/>
          </a:xfrm>
          <a:prstGeom prst="rect">
            <a:avLst/>
          </a:prstGeom>
          <a:noFill/>
        </p:spPr>
        <p:txBody>
          <a:bodyPr wrap="square" lIns="36576" tIns="36576" rIns="36576" bIns="36576" anchor="t">
            <a:spAutoFit/>
          </a:bodyPr>
          <a:lstStyle/>
          <a:p>
            <a:pPr algn="l">
              <a:spcBef>
                <a:spcPts val="0"/>
              </a:spcBef>
              <a:spcAft>
                <a:spcPts val="0"/>
              </a:spcAft>
            </a:pPr>
            <a:r>
              <a:rPr sz="910" b="0" i="0">
                <a:solidFill>
                  <a:srgbClr val="EEF4F7"/>
                </a:solidFill>
                <a:latin typeface="Aptos"/>
              </a:rPr>
              <a:t>Known input totals → expected CTR/CPC/CPM/CVR/CPA/ROAS</a:t>
            </a:r>
          </a:p>
        </p:txBody>
      </p:sp>
      <p:sp>
        <p:nvSpPr>
          <p:cNvPr id="13" name="TextBox 12"/>
          <p:cNvSpPr txBox="1"/>
          <p:nvPr/>
        </p:nvSpPr>
        <p:spPr>
          <a:xfrm>
            <a:off x="6903720" y="1874519"/>
            <a:ext cx="4343400" cy="274320"/>
          </a:xfrm>
          <a:prstGeom prst="rect">
            <a:avLst/>
          </a:prstGeom>
          <a:noFill/>
        </p:spPr>
        <p:txBody>
          <a:bodyPr wrap="square" lIns="36576" tIns="36576" rIns="36576" bIns="36576" anchor="t">
            <a:spAutoFit/>
          </a:bodyPr>
          <a:lstStyle/>
          <a:p>
            <a:pPr algn="l">
              <a:spcBef>
                <a:spcPts val="0"/>
              </a:spcBef>
              <a:spcAft>
                <a:spcPts val="0"/>
              </a:spcAft>
            </a:pPr>
            <a:r>
              <a:rPr sz="910" b="0" i="0">
                <a:solidFill>
                  <a:srgbClr val="A4B4C1"/>
                </a:solidFill>
                <a:latin typeface="Aptos"/>
              </a:rPr>
              <a:t>Formula unit tests; zero-denominator cases</a:t>
            </a:r>
          </a:p>
        </p:txBody>
      </p:sp>
      <p:sp>
        <p:nvSpPr>
          <p:cNvPr id="14" name="Rectangle 13"/>
          <p:cNvSpPr/>
          <p:nvPr/>
        </p:nvSpPr>
        <p:spPr>
          <a:xfrm>
            <a:off x="694944" y="2404872"/>
            <a:ext cx="10808208" cy="512064"/>
          </a:xfrm>
          <a:prstGeom prst="rect">
            <a:avLst/>
          </a:prstGeom>
          <a:solidFill>
            <a:srgbClr val="172331"/>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 y="2514600"/>
            <a:ext cx="1938528" cy="201168"/>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6AAAFF"/>
                </a:solidFill>
                <a:latin typeface="Aptos"/>
              </a:rPr>
              <a:t>Schema robustness</a:t>
            </a:r>
          </a:p>
        </p:txBody>
      </p:sp>
      <p:sp>
        <p:nvSpPr>
          <p:cNvPr id="16" name="TextBox 15"/>
          <p:cNvSpPr txBox="1"/>
          <p:nvPr/>
        </p:nvSpPr>
        <p:spPr>
          <a:xfrm>
            <a:off x="2834640" y="2496312"/>
            <a:ext cx="3886200" cy="274320"/>
          </a:xfrm>
          <a:prstGeom prst="rect">
            <a:avLst/>
          </a:prstGeom>
          <a:noFill/>
        </p:spPr>
        <p:txBody>
          <a:bodyPr wrap="square" lIns="36576" tIns="36576" rIns="36576" bIns="36576" anchor="t">
            <a:spAutoFit/>
          </a:bodyPr>
          <a:lstStyle/>
          <a:p>
            <a:pPr algn="l">
              <a:spcBef>
                <a:spcPts val="0"/>
              </a:spcBef>
              <a:spcAft>
                <a:spcPts val="0"/>
              </a:spcAft>
            </a:pPr>
            <a:r>
              <a:rPr sz="910" b="0" i="0">
                <a:solidFill>
                  <a:srgbClr val="EEF4F7"/>
                </a:solidFill>
                <a:latin typeface="Aptos"/>
              </a:rPr>
              <a:t>Missing columns, strings in numeric fields, malformed dates</a:t>
            </a:r>
          </a:p>
        </p:txBody>
      </p:sp>
      <p:sp>
        <p:nvSpPr>
          <p:cNvPr id="17" name="TextBox 16"/>
          <p:cNvSpPr txBox="1"/>
          <p:nvPr/>
        </p:nvSpPr>
        <p:spPr>
          <a:xfrm>
            <a:off x="6903720" y="2496312"/>
            <a:ext cx="4343400" cy="274320"/>
          </a:xfrm>
          <a:prstGeom prst="rect">
            <a:avLst/>
          </a:prstGeom>
          <a:noFill/>
        </p:spPr>
        <p:txBody>
          <a:bodyPr wrap="square" lIns="36576" tIns="36576" rIns="36576" bIns="36576" anchor="t">
            <a:spAutoFit/>
          </a:bodyPr>
          <a:lstStyle/>
          <a:p>
            <a:pPr algn="l">
              <a:spcBef>
                <a:spcPts val="0"/>
              </a:spcBef>
              <a:spcAft>
                <a:spcPts val="0"/>
              </a:spcAft>
            </a:pPr>
            <a:r>
              <a:rPr sz="910" b="0" i="0">
                <a:solidFill>
                  <a:srgbClr val="A4B4C1"/>
                </a:solidFill>
                <a:latin typeface="Aptos"/>
              </a:rPr>
              <a:t>Validation tests; explicit warning/error expectations</a:t>
            </a:r>
          </a:p>
        </p:txBody>
      </p:sp>
      <p:sp>
        <p:nvSpPr>
          <p:cNvPr id="18" name="Rectangle 17"/>
          <p:cNvSpPr/>
          <p:nvPr/>
        </p:nvSpPr>
        <p:spPr>
          <a:xfrm>
            <a:off x="694944" y="3026664"/>
            <a:ext cx="10808208" cy="512064"/>
          </a:xfrm>
          <a:prstGeom prst="rect">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 y="3136392"/>
            <a:ext cx="1938528" cy="201168"/>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FFC45C"/>
                </a:solidFill>
                <a:latin typeface="Aptos"/>
              </a:rPr>
              <a:t>Source resilience</a:t>
            </a:r>
          </a:p>
        </p:txBody>
      </p:sp>
      <p:sp>
        <p:nvSpPr>
          <p:cNvPr id="20" name="TextBox 19"/>
          <p:cNvSpPr txBox="1"/>
          <p:nvPr/>
        </p:nvSpPr>
        <p:spPr>
          <a:xfrm>
            <a:off x="2834640" y="3118104"/>
            <a:ext cx="3886200" cy="274320"/>
          </a:xfrm>
          <a:prstGeom prst="rect">
            <a:avLst/>
          </a:prstGeom>
          <a:noFill/>
        </p:spPr>
        <p:txBody>
          <a:bodyPr wrap="square" lIns="36576" tIns="36576" rIns="36576" bIns="36576" anchor="t">
            <a:spAutoFit/>
          </a:bodyPr>
          <a:lstStyle/>
          <a:p>
            <a:pPr algn="l">
              <a:spcBef>
                <a:spcPts val="0"/>
              </a:spcBef>
              <a:spcAft>
                <a:spcPts val="0"/>
              </a:spcAft>
            </a:pPr>
            <a:r>
              <a:rPr sz="910" b="0" i="0">
                <a:solidFill>
                  <a:srgbClr val="EEF4F7"/>
                </a:solidFill>
                <a:latin typeface="Aptos"/>
              </a:rPr>
              <a:t>CSV mode, live Exasol success, connection/query failure</a:t>
            </a:r>
          </a:p>
        </p:txBody>
      </p:sp>
      <p:sp>
        <p:nvSpPr>
          <p:cNvPr id="21" name="TextBox 20"/>
          <p:cNvSpPr txBox="1"/>
          <p:nvPr/>
        </p:nvSpPr>
        <p:spPr>
          <a:xfrm>
            <a:off x="6903720" y="3118104"/>
            <a:ext cx="4343400" cy="274320"/>
          </a:xfrm>
          <a:prstGeom prst="rect">
            <a:avLst/>
          </a:prstGeom>
          <a:noFill/>
        </p:spPr>
        <p:txBody>
          <a:bodyPr wrap="square" lIns="36576" tIns="36576" rIns="36576" bIns="36576" anchor="t">
            <a:spAutoFit/>
          </a:bodyPr>
          <a:lstStyle/>
          <a:p>
            <a:pPr algn="l">
              <a:spcBef>
                <a:spcPts val="0"/>
              </a:spcBef>
              <a:spcAft>
                <a:spcPts val="0"/>
              </a:spcAft>
            </a:pPr>
            <a:r>
              <a:rPr sz="910" b="0" i="0">
                <a:solidFill>
                  <a:srgbClr val="A4B4C1"/>
                </a:solidFill>
                <a:latin typeface="Aptos"/>
              </a:rPr>
              <a:t>Integration tests; fallback and cache behavior</a:t>
            </a:r>
          </a:p>
        </p:txBody>
      </p:sp>
      <p:sp>
        <p:nvSpPr>
          <p:cNvPr id="22" name="Rectangle 21"/>
          <p:cNvSpPr/>
          <p:nvPr/>
        </p:nvSpPr>
        <p:spPr>
          <a:xfrm>
            <a:off x="694944" y="3648456"/>
            <a:ext cx="10808208" cy="512064"/>
          </a:xfrm>
          <a:prstGeom prst="rect">
            <a:avLst/>
          </a:prstGeom>
          <a:solidFill>
            <a:srgbClr val="172331"/>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1248" y="3758184"/>
            <a:ext cx="1938528" cy="201168"/>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BE9BFF"/>
                </a:solidFill>
                <a:latin typeface="Aptos"/>
              </a:rPr>
              <a:t>Rule explainability</a:t>
            </a:r>
          </a:p>
        </p:txBody>
      </p:sp>
      <p:sp>
        <p:nvSpPr>
          <p:cNvPr id="24" name="TextBox 23"/>
          <p:cNvSpPr txBox="1"/>
          <p:nvPr/>
        </p:nvSpPr>
        <p:spPr>
          <a:xfrm>
            <a:off x="2834640" y="3739896"/>
            <a:ext cx="3886200" cy="274320"/>
          </a:xfrm>
          <a:prstGeom prst="rect">
            <a:avLst/>
          </a:prstGeom>
          <a:noFill/>
        </p:spPr>
        <p:txBody>
          <a:bodyPr wrap="square" lIns="36576" tIns="36576" rIns="36576" bIns="36576" anchor="t">
            <a:spAutoFit/>
          </a:bodyPr>
          <a:lstStyle/>
          <a:p>
            <a:pPr algn="l">
              <a:spcBef>
                <a:spcPts val="0"/>
              </a:spcBef>
              <a:spcAft>
                <a:spcPts val="0"/>
              </a:spcAft>
            </a:pPr>
            <a:r>
              <a:rPr sz="910" b="0" i="0">
                <a:solidFill>
                  <a:srgbClr val="EEF4F7"/>
                </a:solidFill>
                <a:latin typeface="Aptos"/>
              </a:rPr>
              <a:t>Group counts around threshold; positive vs negative profit</a:t>
            </a:r>
          </a:p>
        </p:txBody>
      </p:sp>
      <p:sp>
        <p:nvSpPr>
          <p:cNvPr id="25" name="TextBox 24"/>
          <p:cNvSpPr txBox="1"/>
          <p:nvPr/>
        </p:nvSpPr>
        <p:spPr>
          <a:xfrm>
            <a:off x="6903720" y="3739896"/>
            <a:ext cx="4343400" cy="274320"/>
          </a:xfrm>
          <a:prstGeom prst="rect">
            <a:avLst/>
          </a:prstGeom>
          <a:noFill/>
        </p:spPr>
        <p:txBody>
          <a:bodyPr wrap="square" lIns="36576" tIns="36576" rIns="36576" bIns="36576" anchor="t">
            <a:spAutoFit/>
          </a:bodyPr>
          <a:lstStyle/>
          <a:p>
            <a:pPr algn="l">
              <a:spcBef>
                <a:spcPts val="0"/>
              </a:spcBef>
              <a:spcAft>
                <a:spcPts val="0"/>
              </a:spcAft>
            </a:pPr>
            <a:r>
              <a:rPr sz="910" b="0" i="0">
                <a:solidFill>
                  <a:srgbClr val="A4B4C1"/>
                </a:solidFill>
                <a:latin typeface="Aptos"/>
              </a:rPr>
              <a:t>Boundary tests for record_count ≥ 5 and profit &lt; 0</a:t>
            </a:r>
          </a:p>
        </p:txBody>
      </p:sp>
      <p:sp>
        <p:nvSpPr>
          <p:cNvPr id="26" name="Rectangle 25"/>
          <p:cNvSpPr/>
          <p:nvPr/>
        </p:nvSpPr>
        <p:spPr>
          <a:xfrm>
            <a:off x="694944" y="4270248"/>
            <a:ext cx="10808208" cy="512064"/>
          </a:xfrm>
          <a:prstGeom prst="rect">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1248" y="4379976"/>
            <a:ext cx="1938528" cy="201168"/>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BEF264"/>
                </a:solidFill>
                <a:latin typeface="Aptos"/>
              </a:rPr>
              <a:t>State integrity</a:t>
            </a:r>
          </a:p>
        </p:txBody>
      </p:sp>
      <p:sp>
        <p:nvSpPr>
          <p:cNvPr id="28" name="TextBox 27"/>
          <p:cNvSpPr txBox="1"/>
          <p:nvPr/>
        </p:nvSpPr>
        <p:spPr>
          <a:xfrm>
            <a:off x="2834640" y="4361688"/>
            <a:ext cx="3886200" cy="274320"/>
          </a:xfrm>
          <a:prstGeom prst="rect">
            <a:avLst/>
          </a:prstGeom>
          <a:noFill/>
        </p:spPr>
        <p:txBody>
          <a:bodyPr wrap="square" lIns="36576" tIns="36576" rIns="36576" bIns="36576" anchor="t">
            <a:spAutoFit/>
          </a:bodyPr>
          <a:lstStyle/>
          <a:p>
            <a:pPr algn="l">
              <a:spcBef>
                <a:spcPts val="0"/>
              </a:spcBef>
              <a:spcAft>
                <a:spcPts val="0"/>
              </a:spcAft>
            </a:pPr>
            <a:r>
              <a:rPr sz="910" b="0" i="0">
                <a:solidFill>
                  <a:srgbClr val="EEF4F7"/>
                </a:solidFill>
                <a:latin typeface="Aptos"/>
              </a:rPr>
              <a:t>Approve, reject, simulate, rollback</a:t>
            </a:r>
          </a:p>
        </p:txBody>
      </p:sp>
      <p:sp>
        <p:nvSpPr>
          <p:cNvPr id="29" name="TextBox 28"/>
          <p:cNvSpPr txBox="1"/>
          <p:nvPr/>
        </p:nvSpPr>
        <p:spPr>
          <a:xfrm>
            <a:off x="6903720" y="4361688"/>
            <a:ext cx="4343400" cy="274320"/>
          </a:xfrm>
          <a:prstGeom prst="rect">
            <a:avLst/>
          </a:prstGeom>
          <a:noFill/>
        </p:spPr>
        <p:txBody>
          <a:bodyPr wrap="square" lIns="36576" tIns="36576" rIns="36576" bIns="36576" anchor="t">
            <a:spAutoFit/>
          </a:bodyPr>
          <a:lstStyle/>
          <a:p>
            <a:pPr algn="l">
              <a:spcBef>
                <a:spcPts val="0"/>
              </a:spcBef>
              <a:spcAft>
                <a:spcPts val="0"/>
              </a:spcAft>
            </a:pPr>
            <a:r>
              <a:rPr sz="910" b="0" i="0">
                <a:solidFill>
                  <a:srgbClr val="A4B4C1"/>
                </a:solidFill>
                <a:latin typeface="Aptos"/>
              </a:rPr>
              <a:t>Persistence tests; event sequence and rollback audit</a:t>
            </a:r>
          </a:p>
        </p:txBody>
      </p:sp>
      <p:sp>
        <p:nvSpPr>
          <p:cNvPr id="30" name="Rectangle 29"/>
          <p:cNvSpPr/>
          <p:nvPr/>
        </p:nvSpPr>
        <p:spPr>
          <a:xfrm>
            <a:off x="694944" y="4892040"/>
            <a:ext cx="10808208" cy="512064"/>
          </a:xfrm>
          <a:prstGeom prst="rect">
            <a:avLst/>
          </a:prstGeom>
          <a:solidFill>
            <a:srgbClr val="172331"/>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1248" y="5001768"/>
            <a:ext cx="1938528" cy="201168"/>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FF7070"/>
                </a:solidFill>
                <a:latin typeface="Aptos"/>
              </a:rPr>
              <a:t>AI resilience</a:t>
            </a:r>
          </a:p>
        </p:txBody>
      </p:sp>
      <p:sp>
        <p:nvSpPr>
          <p:cNvPr id="32" name="TextBox 31"/>
          <p:cNvSpPr txBox="1"/>
          <p:nvPr/>
        </p:nvSpPr>
        <p:spPr>
          <a:xfrm>
            <a:off x="2834640" y="4983480"/>
            <a:ext cx="3886200" cy="274320"/>
          </a:xfrm>
          <a:prstGeom prst="rect">
            <a:avLst/>
          </a:prstGeom>
          <a:noFill/>
        </p:spPr>
        <p:txBody>
          <a:bodyPr wrap="square" lIns="36576" tIns="36576" rIns="36576" bIns="36576" anchor="t">
            <a:spAutoFit/>
          </a:bodyPr>
          <a:lstStyle/>
          <a:p>
            <a:pPr algn="l">
              <a:spcBef>
                <a:spcPts val="0"/>
              </a:spcBef>
              <a:spcAft>
                <a:spcPts val="0"/>
              </a:spcAft>
            </a:pPr>
            <a:r>
              <a:rPr sz="910" b="0" i="0">
                <a:solidFill>
                  <a:srgbClr val="EEF4F7"/>
                </a:solidFill>
                <a:latin typeface="Aptos"/>
              </a:rPr>
              <a:t>Gemini key present/absent; provider error; long dataset</a:t>
            </a:r>
          </a:p>
        </p:txBody>
      </p:sp>
      <p:sp>
        <p:nvSpPr>
          <p:cNvPr id="33" name="TextBox 32"/>
          <p:cNvSpPr txBox="1"/>
          <p:nvPr/>
        </p:nvSpPr>
        <p:spPr>
          <a:xfrm>
            <a:off x="6903720" y="4983480"/>
            <a:ext cx="4343400" cy="274320"/>
          </a:xfrm>
          <a:prstGeom prst="rect">
            <a:avLst/>
          </a:prstGeom>
          <a:noFill/>
        </p:spPr>
        <p:txBody>
          <a:bodyPr wrap="square" lIns="36576" tIns="36576" rIns="36576" bIns="36576" anchor="t">
            <a:spAutoFit/>
          </a:bodyPr>
          <a:lstStyle/>
          <a:p>
            <a:pPr algn="l">
              <a:spcBef>
                <a:spcPts val="0"/>
              </a:spcBef>
              <a:spcAft>
                <a:spcPts val="0"/>
              </a:spcAft>
            </a:pPr>
            <a:r>
              <a:rPr sz="910" b="0" i="0">
                <a:solidFill>
                  <a:srgbClr val="A4B4C1"/>
                </a:solidFill>
                <a:latin typeface="Aptos"/>
              </a:rPr>
              <a:t>Fallback tests; batching and safe error handling</a:t>
            </a:r>
          </a:p>
        </p:txBody>
      </p:sp>
      <p:sp>
        <p:nvSpPr>
          <p:cNvPr id="34" name="TextBox 33"/>
          <p:cNvSpPr txBox="1"/>
          <p:nvPr/>
        </p:nvSpPr>
        <p:spPr>
          <a:xfrm>
            <a:off x="758952" y="5669280"/>
            <a:ext cx="10607040" cy="347472"/>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BEF264"/>
                </a:solidFill>
                <a:latin typeface="Aptos"/>
              </a:rPr>
              <a:t>Recommended evidence for judges: test output, sample API responses, a real UI capture, and reproducible run instructions—rather than unsupported speed or ROI claims.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F18"/>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8961120" cy="219456"/>
          </a:xfrm>
          <a:prstGeom prst="rect">
            <a:avLst/>
          </a:prstGeom>
          <a:noFill/>
        </p:spPr>
        <p:txBody>
          <a:bodyPr wrap="square" lIns="36576" tIns="36576" rIns="36576" bIns="36576" anchor="t">
            <a:spAutoFit/>
          </a:bodyPr>
          <a:lstStyle/>
          <a:p>
            <a:pPr algn="l">
              <a:spcBef>
                <a:spcPts val="0"/>
              </a:spcBef>
              <a:spcAft>
                <a:spcPts val="0"/>
              </a:spcAft>
            </a:pPr>
            <a:r>
              <a:rPr lang="en-IN" sz="900" b="1" i="0" dirty="0">
                <a:solidFill>
                  <a:srgbClr val="BEF264"/>
                </a:solidFill>
                <a:latin typeface="Cascadia Code"/>
              </a:rPr>
              <a:t>15</a:t>
            </a:r>
            <a:r>
              <a:rPr sz="900" b="1" i="0" dirty="0">
                <a:solidFill>
                  <a:srgbClr val="BEF264"/>
                </a:solidFill>
                <a:latin typeface="Cascadia Code"/>
              </a:rPr>
              <a:t> / TRADEOFFS + ROADMAP</a:t>
            </a:r>
          </a:p>
        </p:txBody>
      </p:sp>
      <p:sp>
        <p:nvSpPr>
          <p:cNvPr id="3" name="TextBox 2"/>
          <p:cNvSpPr txBox="1"/>
          <p:nvPr/>
        </p:nvSpPr>
        <p:spPr>
          <a:xfrm>
            <a:off x="502920" y="557784"/>
            <a:ext cx="11155680" cy="475488"/>
          </a:xfrm>
          <a:prstGeom prst="rect">
            <a:avLst/>
          </a:prstGeom>
          <a:noFill/>
        </p:spPr>
        <p:txBody>
          <a:bodyPr wrap="square" lIns="36576" tIns="36576" rIns="36576" bIns="36576" anchor="t">
            <a:spAutoFit/>
          </a:bodyPr>
          <a:lstStyle/>
          <a:p>
            <a:pPr algn="l">
              <a:spcBef>
                <a:spcPts val="0"/>
              </a:spcBef>
              <a:spcAft>
                <a:spcPts val="0"/>
              </a:spcAft>
            </a:pPr>
            <a:r>
              <a:rPr sz="2500" b="1" i="0">
                <a:solidFill>
                  <a:srgbClr val="EEF4F7"/>
                </a:solidFill>
                <a:latin typeface="Aptos"/>
              </a:rPr>
              <a:t>Known limitations, engineering tradeoffs and next steps</a:t>
            </a:r>
          </a:p>
        </p:txBody>
      </p:sp>
      <p:sp>
        <p:nvSpPr>
          <p:cNvPr id="4" name="TextBox 3"/>
          <p:cNvSpPr txBox="1"/>
          <p:nvPr/>
        </p:nvSpPr>
        <p:spPr>
          <a:xfrm>
            <a:off x="530352" y="1078992"/>
            <a:ext cx="10972800" cy="38404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A4B4C1"/>
                </a:solidFill>
                <a:latin typeface="Aptos"/>
              </a:rPr>
              <a:t>A credible system states where its guarantees stop and which controls would be needed for broader production use.</a:t>
            </a:r>
          </a:p>
        </p:txBody>
      </p:sp>
      <p:cxnSp>
        <p:nvCxnSpPr>
          <p:cNvPr id="5" name="Connector 4"/>
          <p:cNvCxnSpPr/>
          <p:nvPr/>
        </p:nvCxnSpPr>
        <p:spPr>
          <a:xfrm>
            <a:off x="502920" y="1517904"/>
            <a:ext cx="11183112" cy="0"/>
          </a:xfrm>
          <a:prstGeom prst="line">
            <a:avLst/>
          </a:prstGeom>
          <a:ln w="10160">
            <a:solidFill>
              <a:srgbClr val="2B3A4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292840" y="283464"/>
            <a:ext cx="384048" cy="201168"/>
          </a:xfrm>
          <a:prstGeom prst="rect">
            <a:avLst/>
          </a:prstGeom>
          <a:noFill/>
        </p:spPr>
        <p:txBody>
          <a:bodyPr wrap="square" lIns="36576" tIns="36576" rIns="36576" bIns="36576" anchor="t">
            <a:spAutoFit/>
          </a:bodyPr>
          <a:lstStyle/>
          <a:p>
            <a:pPr algn="r">
              <a:spcBef>
                <a:spcPts val="0"/>
              </a:spcBef>
              <a:spcAft>
                <a:spcPts val="0"/>
              </a:spcAft>
            </a:pPr>
            <a:r>
              <a:rPr sz="900" b="1" i="0">
                <a:solidFill>
                  <a:srgbClr val="A4B4C1"/>
                </a:solidFill>
                <a:latin typeface="Cascadia Code"/>
              </a:rPr>
              <a:t>15</a:t>
            </a:r>
          </a:p>
        </p:txBody>
      </p:sp>
      <p:cxnSp>
        <p:nvCxnSpPr>
          <p:cNvPr id="7" name="Connector 6"/>
          <p:cNvCxnSpPr/>
          <p:nvPr/>
        </p:nvCxnSpPr>
        <p:spPr>
          <a:xfrm>
            <a:off x="502920" y="6510528"/>
            <a:ext cx="11183112" cy="0"/>
          </a:xfrm>
          <a:prstGeom prst="line">
            <a:avLst/>
          </a:prstGeom>
          <a:ln w="7620">
            <a:solidFill>
              <a:srgbClr val="2B3A4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56248"/>
            <a:ext cx="6858000" cy="146304"/>
          </a:xfrm>
          <a:prstGeom prst="rect">
            <a:avLst/>
          </a:prstGeom>
          <a:noFill/>
        </p:spPr>
        <p:txBody>
          <a:bodyPr wrap="square" lIns="36576" tIns="36576" rIns="36576" bIns="36576" anchor="t">
            <a:spAutoFit/>
          </a:bodyPr>
          <a:lstStyle/>
          <a:p>
            <a:pPr algn="l">
              <a:spcBef>
                <a:spcPts val="0"/>
              </a:spcBef>
              <a:spcAft>
                <a:spcPts val="0"/>
              </a:spcAft>
            </a:pPr>
            <a:r>
              <a:rPr sz="700" b="0" i="0">
                <a:solidFill>
                  <a:srgbClr val="A4B4C1"/>
                </a:solidFill>
                <a:latin typeface="Cascadia Code"/>
              </a:rPr>
              <a:t>ADPILOT D2C INTELLIGENCE  /  TECHNICAL ARCHITECTURE</a:t>
            </a:r>
          </a:p>
        </p:txBody>
      </p:sp>
      <p:sp>
        <p:nvSpPr>
          <p:cNvPr id="9" name="TextBox 8"/>
          <p:cNvSpPr txBox="1"/>
          <p:nvPr/>
        </p:nvSpPr>
        <p:spPr>
          <a:xfrm>
            <a:off x="11064240" y="6547104"/>
            <a:ext cx="594360" cy="181588"/>
          </a:xfrm>
          <a:prstGeom prst="rect">
            <a:avLst/>
          </a:prstGeom>
          <a:noFill/>
        </p:spPr>
        <p:txBody>
          <a:bodyPr wrap="square" lIns="36576" tIns="36576" rIns="36576" bIns="36576" anchor="t">
            <a:spAutoFit/>
          </a:bodyPr>
          <a:lstStyle/>
          <a:p>
            <a:pPr algn="r">
              <a:spcBef>
                <a:spcPts val="0"/>
              </a:spcBef>
              <a:spcAft>
                <a:spcPts val="0"/>
              </a:spcAft>
            </a:pPr>
            <a:r>
              <a:rPr lang="en-IN" sz="700" b="0" i="0" dirty="0">
                <a:solidFill>
                  <a:srgbClr val="A4B4C1"/>
                </a:solidFill>
                <a:latin typeface="Cascadia Code"/>
              </a:rPr>
              <a:t>16</a:t>
            </a:r>
            <a:r>
              <a:rPr sz="700" b="0" i="0" dirty="0">
                <a:solidFill>
                  <a:srgbClr val="A4B4C1"/>
                </a:solidFill>
                <a:latin typeface="Cascadia Code"/>
              </a:rPr>
              <a:t> / </a:t>
            </a:r>
            <a:r>
              <a:rPr lang="en-IN" sz="700" b="0" i="0" dirty="0">
                <a:solidFill>
                  <a:srgbClr val="A4B4C1"/>
                </a:solidFill>
                <a:latin typeface="Cascadia Code"/>
              </a:rPr>
              <a:t>16</a:t>
            </a:r>
            <a:endParaRPr sz="700" b="0" i="0" dirty="0">
              <a:solidFill>
                <a:srgbClr val="A4B4C1"/>
              </a:solidFill>
              <a:latin typeface="Cascadia Code"/>
            </a:endParaRPr>
          </a:p>
        </p:txBody>
      </p:sp>
      <p:sp>
        <p:nvSpPr>
          <p:cNvPr id="10" name="Rounded Rectangle 9"/>
          <p:cNvSpPr/>
          <p:nvPr/>
        </p:nvSpPr>
        <p:spPr>
          <a:xfrm>
            <a:off x="658368" y="1783080"/>
            <a:ext cx="5349240" cy="3520440"/>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7824" y="1947672"/>
            <a:ext cx="4800600" cy="256032"/>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FFC45C"/>
                </a:solidFill>
                <a:latin typeface="Cascadia Code"/>
              </a:rPr>
              <a:t>CURRENT LIMITS / ASSUMPTIONS</a:t>
            </a:r>
          </a:p>
        </p:txBody>
      </p:sp>
      <p:sp>
        <p:nvSpPr>
          <p:cNvPr id="12" name="TextBox 11"/>
          <p:cNvSpPr txBox="1"/>
          <p:nvPr/>
        </p:nvSpPr>
        <p:spPr>
          <a:xfrm>
            <a:off x="877824" y="2359152"/>
            <a:ext cx="4800600" cy="2697480"/>
          </a:xfrm>
          <a:prstGeom prst="rect">
            <a:avLst/>
          </a:prstGeom>
          <a:noFill/>
        </p:spPr>
        <p:txBody>
          <a:bodyPr wrap="square" lIns="109728" tIns="73152" rIns="109728" bIns="54864">
            <a:spAutoFit/>
          </a:bodyPr>
          <a:lstStyle/>
          <a:p>
            <a:pPr>
              <a:spcBef>
                <a:spcPts val="0"/>
              </a:spcBef>
              <a:spcAft>
                <a:spcPts val="800"/>
              </a:spcAft>
            </a:pPr>
            <a:r>
              <a:rPr sz="1050" b="0">
                <a:solidFill>
                  <a:srgbClr val="EEF4F7"/>
                </a:solidFill>
                <a:latin typeface="Aptos"/>
              </a:rPr>
              <a:t>• No general authentication / enterprise role management is established in the current project context.</a:t>
            </a:r>
          </a:p>
          <a:p>
            <a:pPr>
              <a:spcBef>
                <a:spcPts val="0"/>
              </a:spcBef>
              <a:spcAft>
                <a:spcPts val="800"/>
              </a:spcAft>
            </a:pPr>
            <a:r>
              <a:rPr sz="1050" b="0">
                <a:solidFill>
                  <a:srgbClr val="EEF4F7"/>
                </a:solidFill>
                <a:latin typeface="Aptos"/>
              </a:rPr>
              <a:t>• A one-click database-start flow increases the importance of helper-token validation and route exposure review.</a:t>
            </a:r>
          </a:p>
          <a:p>
            <a:pPr>
              <a:spcBef>
                <a:spcPts val="0"/>
              </a:spcBef>
              <a:spcAft>
                <a:spcPts val="800"/>
              </a:spcAft>
            </a:pPr>
            <a:r>
              <a:rPr sz="1050" b="0">
                <a:solidFill>
                  <a:srgbClr val="EEF4F7"/>
                </a:solidFill>
                <a:latin typeface="Aptos"/>
              </a:rPr>
              <a:t>• AI summaries describe aggregate patterns; they do not infer causality, predict outcomes or replace the deterministic engine.</a:t>
            </a:r>
          </a:p>
          <a:p>
            <a:pPr>
              <a:spcBef>
                <a:spcPts val="0"/>
              </a:spcBef>
              <a:spcAft>
                <a:spcPts val="800"/>
              </a:spcAft>
            </a:pPr>
            <a:r>
              <a:rPr sz="1050" b="0">
                <a:solidFill>
                  <a:srgbClr val="EEF4F7"/>
                </a:solidFill>
                <a:latin typeface="Aptos"/>
              </a:rPr>
              <a:t>• Attributed revenue and return-adjusted profit depend on source semantics; validation cannot prove business correctness.</a:t>
            </a:r>
          </a:p>
          <a:p>
            <a:pPr>
              <a:spcBef>
                <a:spcPts val="0"/>
              </a:spcBef>
              <a:spcAft>
                <a:spcPts val="800"/>
              </a:spcAft>
            </a:pPr>
            <a:r>
              <a:rPr sz="1050" b="0">
                <a:solidFill>
                  <a:srgbClr val="EEF4F7"/>
                </a:solidFill>
                <a:latin typeface="Aptos"/>
              </a:rPr>
              <a:t>• SQLite and in-memory caching are pragmatic for local/demo use, not a complete multi-tenant platform.</a:t>
            </a:r>
          </a:p>
        </p:txBody>
      </p:sp>
      <p:sp>
        <p:nvSpPr>
          <p:cNvPr id="13" name="Rounded Rectangle 12"/>
          <p:cNvSpPr/>
          <p:nvPr/>
        </p:nvSpPr>
        <p:spPr>
          <a:xfrm>
            <a:off x="6217920" y="1783080"/>
            <a:ext cx="5285232" cy="3520440"/>
          </a:xfrm>
          <a:prstGeom prst="roundRect">
            <a:avLst>
              <a:gd name="adj" fmla="val 12000"/>
            </a:avLst>
          </a:prstGeom>
          <a:solidFill>
            <a:srgbClr val="121B28"/>
          </a:solidFill>
          <a:ln w="10160">
            <a:solidFill>
              <a:srgbClr val="2B3A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28232" y="1947672"/>
            <a:ext cx="4754880" cy="256032"/>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BEF264"/>
                </a:solidFill>
                <a:latin typeface="Cascadia Code"/>
              </a:rPr>
              <a:t>ROADMAP BY ENGINEERING LAYER</a:t>
            </a:r>
          </a:p>
        </p:txBody>
      </p:sp>
      <p:sp>
        <p:nvSpPr>
          <p:cNvPr id="15" name="TextBox 14"/>
          <p:cNvSpPr txBox="1"/>
          <p:nvPr/>
        </p:nvSpPr>
        <p:spPr>
          <a:xfrm>
            <a:off x="6446520" y="2377440"/>
            <a:ext cx="4526280" cy="201168"/>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4BDCBE"/>
                </a:solidFill>
                <a:latin typeface="Cascadia Code"/>
              </a:rPr>
              <a:t>PHASE 1 · HARDEN</a:t>
            </a:r>
          </a:p>
        </p:txBody>
      </p:sp>
      <p:sp>
        <p:nvSpPr>
          <p:cNvPr id="16" name="TextBox 15"/>
          <p:cNvSpPr txBox="1"/>
          <p:nvPr/>
        </p:nvSpPr>
        <p:spPr>
          <a:xfrm>
            <a:off x="6446520" y="2651760"/>
            <a:ext cx="4526280" cy="438912"/>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EEF4F7"/>
                </a:solidFill>
                <a:latin typeface="Aptos"/>
              </a:rPr>
              <a:t>Authentication, role-based access, audit-safe secrets, explicit cache invalidation, CI tests.</a:t>
            </a:r>
          </a:p>
        </p:txBody>
      </p:sp>
      <p:sp>
        <p:nvSpPr>
          <p:cNvPr id="17" name="TextBox 16"/>
          <p:cNvSpPr txBox="1"/>
          <p:nvPr/>
        </p:nvSpPr>
        <p:spPr>
          <a:xfrm>
            <a:off x="6446520" y="3227832"/>
            <a:ext cx="4526280" cy="201168"/>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6AAAFF"/>
                </a:solidFill>
                <a:latin typeface="Cascadia Code"/>
              </a:rPr>
              <a:t>PHASE 2 · DATA</a:t>
            </a:r>
          </a:p>
        </p:txBody>
      </p:sp>
      <p:sp>
        <p:nvSpPr>
          <p:cNvPr id="18" name="TextBox 17"/>
          <p:cNvSpPr txBox="1"/>
          <p:nvPr/>
        </p:nvSpPr>
        <p:spPr>
          <a:xfrm>
            <a:off x="6446520" y="3502152"/>
            <a:ext cx="4526280" cy="438912"/>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EEF4F7"/>
                </a:solidFill>
                <a:latin typeface="Aptos"/>
              </a:rPr>
              <a:t>Query pushdown, lineage metadata, data contracts, anomaly detection, scheduled refresh.</a:t>
            </a:r>
          </a:p>
        </p:txBody>
      </p:sp>
      <p:sp>
        <p:nvSpPr>
          <p:cNvPr id="19" name="TextBox 18"/>
          <p:cNvSpPr txBox="1"/>
          <p:nvPr/>
        </p:nvSpPr>
        <p:spPr>
          <a:xfrm>
            <a:off x="6446520" y="4078224"/>
            <a:ext cx="4526280" cy="201168"/>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BE9BFF"/>
                </a:solidFill>
                <a:latin typeface="Cascadia Code"/>
              </a:rPr>
              <a:t>PHASE 3 · PLATFORM</a:t>
            </a:r>
          </a:p>
        </p:txBody>
      </p:sp>
      <p:sp>
        <p:nvSpPr>
          <p:cNvPr id="20" name="TextBox 19"/>
          <p:cNvSpPr txBox="1"/>
          <p:nvPr/>
        </p:nvSpPr>
        <p:spPr>
          <a:xfrm>
            <a:off x="6446520" y="4352544"/>
            <a:ext cx="4526280" cy="438912"/>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EEF4F7"/>
                </a:solidFill>
                <a:latin typeface="Aptos"/>
              </a:rPr>
              <a:t>Multi-brand isolation, shared cache / queue, observability, deployment automation and governance.</a:t>
            </a:r>
          </a:p>
        </p:txBody>
      </p:sp>
      <p:sp>
        <p:nvSpPr>
          <p:cNvPr id="21" name="TextBox 20"/>
          <p:cNvSpPr txBox="1"/>
          <p:nvPr/>
        </p:nvSpPr>
        <p:spPr>
          <a:xfrm>
            <a:off x="768096" y="5596128"/>
            <a:ext cx="10698480" cy="365760"/>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BEF264"/>
                </a:solidFill>
                <a:latin typeface="Aptos"/>
              </a:rPr>
              <a:t>Engineering position: useful local-first decision support today; production expansion should prioritize security, test coverage, observability and data governance before model complexity.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3968</Words>
  <Application>Microsoft Office PowerPoint</Application>
  <PresentationFormat>Widescreen</PresentationFormat>
  <Paragraphs>346</Paragraphs>
  <Slides>16</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Cascadia Code</vt: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Rahulshankar G</cp:lastModifiedBy>
  <cp:revision>2</cp:revision>
  <dcterms:created xsi:type="dcterms:W3CDTF">2013-01-27T09:14:16Z</dcterms:created>
  <dcterms:modified xsi:type="dcterms:W3CDTF">2026-10-21T20:23:00Z</dcterms:modified>
  <cp:category/>
</cp:coreProperties>
</file>